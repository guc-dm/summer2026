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jpg" ContentType="image/jp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2"/>
  </p:notesMasterIdLst>
  <p:sldIdLst>
    <p:sldId id="256" r:id="rId2"/>
    <p:sldId id="257" r:id="rId3"/>
    <p:sldId id="301" r:id="rId4"/>
    <p:sldId id="259" r:id="rId5"/>
    <p:sldId id="265" r:id="rId6"/>
    <p:sldId id="266" r:id="rId7"/>
    <p:sldId id="267" r:id="rId8"/>
    <p:sldId id="268" r:id="rId9"/>
    <p:sldId id="269" r:id="rId10"/>
    <p:sldId id="300" r:id="rId11"/>
    <p:sldId id="302" r:id="rId12"/>
    <p:sldId id="277" r:id="rId13"/>
    <p:sldId id="278" r:id="rId14"/>
    <p:sldId id="280" r:id="rId15"/>
    <p:sldId id="288" r:id="rId16"/>
    <p:sldId id="289" r:id="rId17"/>
    <p:sldId id="290" r:id="rId18"/>
    <p:sldId id="295" r:id="rId19"/>
    <p:sldId id="296" r:id="rId20"/>
    <p:sldId id="297" r:id="rId21"/>
  </p:sldIdLst>
  <p:sldSz cx="4610100" cy="3460750"/>
  <p:notesSz cx="4610100" cy="346075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1452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FAA5129-91B2-5814-A9B5-21E198B91C95}" v="327" dt="2024-09-13T18:41:26.817"/>
    <p1510:client id="{CEE78159-CFD3-99DB-07A4-CFFF8A9E67CC}" v="156" dt="2024-09-14T18:09:09.744"/>
  </p1510:revLst>
</p1510:revInfo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364"/>
    <p:restoredTop sz="94659"/>
  </p:normalViewPr>
  <p:slideViewPr>
    <p:cSldViewPr>
      <p:cViewPr varScale="1">
        <p:scale>
          <a:sx n="201" d="100"/>
          <a:sy n="201" d="100"/>
        </p:scale>
        <p:origin x="1302" y="54"/>
      </p:cViewPr>
      <p:guideLst>
        <p:guide orient="horz" pos="2880"/>
        <p:guide pos="1452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Relationship Id="rId27" Type="http://schemas.microsoft.com/office/2015/10/relationships/revisionInfo" Target="revisionInfo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1997075" cy="17303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2611438" y="0"/>
            <a:ext cx="1997075" cy="17303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625B73A-AD1C-46F8-8E9D-607293466F82}" type="datetimeFigureOut">
              <a:rPr lang="en-US" smtClean="0"/>
              <a:t>6/28/2026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527175" y="433388"/>
            <a:ext cx="1555750" cy="1166812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460375" y="1665288"/>
            <a:ext cx="3689350" cy="1363662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3287713"/>
            <a:ext cx="1997075" cy="17303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2611438" y="3287713"/>
            <a:ext cx="1997075" cy="17303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C72FCDD-D729-4471-8D61-86ABB5553C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10113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C72FCDD-D729-4471-8D61-86ABB5553CF7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063778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C72FCDD-D729-4471-8D61-86ABB5553CF7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578635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C72FCDD-D729-4471-8D61-86ABB5553CF7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92004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C72FCDD-D729-4471-8D61-86ABB5553CF7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760439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C72FCDD-D729-4471-8D61-86ABB5553CF7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262118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C72FCDD-D729-4471-8D61-86ABB5553CF7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236216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C72FCDD-D729-4471-8D61-86ABB5553CF7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307389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C72FCDD-D729-4471-8D61-86ABB5553CF7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347016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C72FCDD-D729-4471-8D61-86ABB5553CF7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99079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345757" y="1072832"/>
            <a:ext cx="3918585" cy="72675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691515" y="1938020"/>
            <a:ext cx="3227070" cy="86518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600" b="0" i="0">
                <a:solidFill>
                  <a:schemeClr val="bg1"/>
                </a:solidFill>
                <a:latin typeface="Microsoft Sans Serif"/>
                <a:cs typeface="Microsoft Sans Serif"/>
              </a:defRPr>
            </a:lvl1pPr>
          </a:lstStyle>
          <a:p>
            <a:pPr marL="12700">
              <a:lnSpc>
                <a:spcPts val="675"/>
              </a:lnSpc>
            </a:pPr>
            <a:r>
              <a:rPr lang="en-US" spc="-20"/>
              <a:t>By Hazem Nabil</a:t>
            </a:r>
            <a:endParaRPr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>
              <a:defRPr sz="600" b="0" i="0">
                <a:solidFill>
                  <a:schemeClr val="bg1"/>
                </a:solidFill>
                <a:latin typeface="Microsoft Sans Serif"/>
                <a:cs typeface="Microsoft Sans Serif"/>
              </a:defRPr>
            </a:lvl1pPr>
          </a:lstStyle>
          <a:p>
            <a:pPr marL="12700">
              <a:lnSpc>
                <a:spcPts val="675"/>
              </a:lnSpc>
            </a:pPr>
            <a:r>
              <a:rPr lang="en-US" spc="10" dirty="0"/>
              <a:t>Summer 2026</a:t>
            </a:r>
            <a:endParaRPr spc="-20" dirty="0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600" b="0" i="0">
                <a:solidFill>
                  <a:schemeClr val="bg1"/>
                </a:solidFill>
                <a:latin typeface="Microsoft Sans Serif"/>
                <a:cs typeface="Microsoft Sans Serif"/>
              </a:defRPr>
            </a:lvl1pPr>
          </a:lstStyle>
          <a:p>
            <a:pPr marL="38100">
              <a:lnSpc>
                <a:spcPts val="675"/>
              </a:lnSpc>
            </a:pPr>
            <a:fld id="{81D60167-4931-47E6-BA6A-407CBD079E47}" type="slidenum">
              <a:rPr spc="-20" dirty="0"/>
              <a:t>‹#›</a:t>
            </a:fld>
            <a:r>
              <a:rPr spc="20" dirty="0"/>
              <a:t> </a:t>
            </a:r>
            <a:r>
              <a:rPr spc="150" dirty="0"/>
              <a:t>/</a:t>
            </a:r>
            <a:r>
              <a:rPr spc="20" dirty="0"/>
              <a:t> </a:t>
            </a:r>
            <a:r>
              <a:rPr spc="-20" dirty="0"/>
              <a:t>19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900" b="1" i="0">
                <a:solidFill>
                  <a:schemeClr val="bg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600" b="0" i="0">
                <a:solidFill>
                  <a:schemeClr val="bg1"/>
                </a:solidFill>
                <a:latin typeface="Microsoft Sans Serif"/>
                <a:cs typeface="Microsoft Sans Serif"/>
              </a:defRPr>
            </a:lvl1pPr>
          </a:lstStyle>
          <a:p>
            <a:pPr marL="12700">
              <a:lnSpc>
                <a:spcPts val="675"/>
              </a:lnSpc>
            </a:pPr>
            <a:r>
              <a:rPr lang="en-US" spc="-20"/>
              <a:t>By Hazem Nabil</a:t>
            </a:r>
            <a:endParaRPr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>
              <a:defRPr sz="600" b="0" i="0">
                <a:solidFill>
                  <a:schemeClr val="bg1"/>
                </a:solidFill>
                <a:latin typeface="Microsoft Sans Serif"/>
                <a:cs typeface="Microsoft Sans Serif"/>
              </a:defRPr>
            </a:lvl1pPr>
          </a:lstStyle>
          <a:p>
            <a:pPr marL="12700">
              <a:lnSpc>
                <a:spcPts val="675"/>
              </a:lnSpc>
            </a:pPr>
            <a:r>
              <a:rPr lang="en-US" spc="10" dirty="0"/>
              <a:t>Summer 2026</a:t>
            </a:r>
            <a:endParaRPr spc="-20" dirty="0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600" b="0" i="0">
                <a:solidFill>
                  <a:schemeClr val="bg1"/>
                </a:solidFill>
                <a:latin typeface="Microsoft Sans Serif"/>
                <a:cs typeface="Microsoft Sans Serif"/>
              </a:defRPr>
            </a:lvl1pPr>
          </a:lstStyle>
          <a:p>
            <a:pPr marL="38100">
              <a:lnSpc>
                <a:spcPts val="675"/>
              </a:lnSpc>
            </a:pPr>
            <a:fld id="{81D60167-4931-47E6-BA6A-407CBD079E47}" type="slidenum">
              <a:rPr spc="-20" dirty="0"/>
              <a:t>‹#›</a:t>
            </a:fld>
            <a:r>
              <a:rPr spc="20" dirty="0"/>
              <a:t> </a:t>
            </a:r>
            <a:r>
              <a:rPr spc="150" dirty="0"/>
              <a:t>/</a:t>
            </a:r>
            <a:r>
              <a:rPr spc="20" dirty="0"/>
              <a:t> </a:t>
            </a:r>
            <a:r>
              <a:rPr spc="-20" dirty="0"/>
              <a:t>19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900" b="1" i="0">
                <a:solidFill>
                  <a:schemeClr val="bg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230505" y="795972"/>
            <a:ext cx="2005393" cy="228409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2374201" y="795972"/>
            <a:ext cx="2005393" cy="228409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600" b="0" i="0">
                <a:solidFill>
                  <a:schemeClr val="bg1"/>
                </a:solidFill>
                <a:latin typeface="Microsoft Sans Serif"/>
                <a:cs typeface="Microsoft Sans Serif"/>
              </a:defRPr>
            </a:lvl1pPr>
          </a:lstStyle>
          <a:p>
            <a:pPr marL="12700">
              <a:lnSpc>
                <a:spcPts val="675"/>
              </a:lnSpc>
            </a:pPr>
            <a:r>
              <a:rPr lang="en-US" spc="-20"/>
              <a:t>By Hazem Nabil</a:t>
            </a:r>
            <a:endParaRPr dirty="0"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>
              <a:defRPr sz="600" b="0" i="0">
                <a:solidFill>
                  <a:schemeClr val="bg1"/>
                </a:solidFill>
                <a:latin typeface="Microsoft Sans Serif"/>
                <a:cs typeface="Microsoft Sans Serif"/>
              </a:defRPr>
            </a:lvl1pPr>
          </a:lstStyle>
          <a:p>
            <a:pPr marL="12700">
              <a:lnSpc>
                <a:spcPts val="675"/>
              </a:lnSpc>
            </a:pPr>
            <a:r>
              <a:rPr lang="en-US" spc="10" dirty="0"/>
              <a:t>Summer 2026</a:t>
            </a:r>
            <a:endParaRPr spc="-20" dirty="0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600" b="0" i="0">
                <a:solidFill>
                  <a:schemeClr val="bg1"/>
                </a:solidFill>
                <a:latin typeface="Microsoft Sans Serif"/>
                <a:cs typeface="Microsoft Sans Serif"/>
              </a:defRPr>
            </a:lvl1pPr>
          </a:lstStyle>
          <a:p>
            <a:pPr marL="38100">
              <a:lnSpc>
                <a:spcPts val="675"/>
              </a:lnSpc>
            </a:pPr>
            <a:fld id="{81D60167-4931-47E6-BA6A-407CBD079E47}" type="slidenum">
              <a:rPr spc="-20" dirty="0"/>
              <a:t>‹#›</a:t>
            </a:fld>
            <a:r>
              <a:rPr spc="20" dirty="0"/>
              <a:t> </a:t>
            </a:r>
            <a:r>
              <a:rPr spc="150" dirty="0"/>
              <a:t>/</a:t>
            </a:r>
            <a:r>
              <a:rPr spc="20" dirty="0"/>
              <a:t> </a:t>
            </a:r>
            <a:r>
              <a:rPr spc="-20" dirty="0"/>
              <a:t>19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900" b="1" i="0">
                <a:solidFill>
                  <a:schemeClr val="bg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600" b="0" i="0">
                <a:solidFill>
                  <a:schemeClr val="bg1"/>
                </a:solidFill>
                <a:latin typeface="Microsoft Sans Serif"/>
                <a:cs typeface="Microsoft Sans Serif"/>
              </a:defRPr>
            </a:lvl1pPr>
          </a:lstStyle>
          <a:p>
            <a:pPr marL="12700">
              <a:lnSpc>
                <a:spcPts val="675"/>
              </a:lnSpc>
            </a:pPr>
            <a:r>
              <a:rPr lang="en-US" spc="-20"/>
              <a:t>By Hazem Nabil</a:t>
            </a:r>
            <a:endParaRPr dirty="0"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>
              <a:defRPr sz="600" b="0" i="0">
                <a:solidFill>
                  <a:schemeClr val="bg1"/>
                </a:solidFill>
                <a:latin typeface="Microsoft Sans Serif"/>
                <a:cs typeface="Microsoft Sans Serif"/>
              </a:defRPr>
            </a:lvl1pPr>
          </a:lstStyle>
          <a:p>
            <a:pPr marL="12700">
              <a:lnSpc>
                <a:spcPts val="675"/>
              </a:lnSpc>
            </a:pPr>
            <a:r>
              <a:rPr lang="en-US" spc="10" dirty="0"/>
              <a:t>Summer 2026</a:t>
            </a:r>
            <a:endParaRPr spc="-20" dirty="0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600" b="0" i="0">
                <a:solidFill>
                  <a:schemeClr val="bg1"/>
                </a:solidFill>
                <a:latin typeface="Microsoft Sans Serif"/>
                <a:cs typeface="Microsoft Sans Serif"/>
              </a:defRPr>
            </a:lvl1pPr>
          </a:lstStyle>
          <a:p>
            <a:pPr marL="38100">
              <a:lnSpc>
                <a:spcPts val="675"/>
              </a:lnSpc>
            </a:pPr>
            <a:fld id="{81D60167-4931-47E6-BA6A-407CBD079E47}" type="slidenum">
              <a:rPr spc="-20" dirty="0"/>
              <a:t>‹#›</a:t>
            </a:fld>
            <a:r>
              <a:rPr spc="20" dirty="0"/>
              <a:t> </a:t>
            </a:r>
            <a:r>
              <a:rPr spc="150" dirty="0"/>
              <a:t>/</a:t>
            </a:r>
            <a:r>
              <a:rPr spc="20" dirty="0"/>
              <a:t> </a:t>
            </a:r>
            <a:r>
              <a:rPr spc="-20" dirty="0"/>
              <a:t>19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600" b="0" i="0">
                <a:solidFill>
                  <a:schemeClr val="bg1"/>
                </a:solidFill>
                <a:latin typeface="Microsoft Sans Serif"/>
                <a:cs typeface="Microsoft Sans Serif"/>
              </a:defRPr>
            </a:lvl1pPr>
          </a:lstStyle>
          <a:p>
            <a:pPr marL="12700">
              <a:lnSpc>
                <a:spcPts val="675"/>
              </a:lnSpc>
            </a:pPr>
            <a:r>
              <a:rPr lang="en-US" spc="-20"/>
              <a:t>By Hazem Nabil</a:t>
            </a:r>
            <a:endParaRPr dirty="0"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>
              <a:defRPr sz="600" b="0" i="0">
                <a:solidFill>
                  <a:schemeClr val="bg1"/>
                </a:solidFill>
                <a:latin typeface="Microsoft Sans Serif"/>
                <a:cs typeface="Microsoft Sans Serif"/>
              </a:defRPr>
            </a:lvl1pPr>
          </a:lstStyle>
          <a:p>
            <a:pPr marL="12700">
              <a:lnSpc>
                <a:spcPts val="675"/>
              </a:lnSpc>
            </a:pPr>
            <a:r>
              <a:rPr lang="en-US" spc="10" dirty="0"/>
              <a:t>Summer 2026</a:t>
            </a:r>
            <a:endParaRPr spc="-20" dirty="0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600" b="0" i="0">
                <a:solidFill>
                  <a:schemeClr val="bg1"/>
                </a:solidFill>
                <a:latin typeface="Microsoft Sans Serif"/>
                <a:cs typeface="Microsoft Sans Serif"/>
              </a:defRPr>
            </a:lvl1pPr>
          </a:lstStyle>
          <a:p>
            <a:pPr marL="38100">
              <a:lnSpc>
                <a:spcPts val="675"/>
              </a:lnSpc>
            </a:pPr>
            <a:fld id="{81D60167-4931-47E6-BA6A-407CBD079E47}" type="slidenum">
              <a:rPr spc="-20" dirty="0"/>
              <a:t>‹#›</a:t>
            </a:fld>
            <a:r>
              <a:rPr spc="20" dirty="0"/>
              <a:t> </a:t>
            </a:r>
            <a:r>
              <a:rPr spc="150" dirty="0"/>
              <a:t>/</a:t>
            </a:r>
            <a:r>
              <a:rPr spc="20" dirty="0"/>
              <a:t> </a:t>
            </a:r>
            <a:r>
              <a:rPr spc="-20" dirty="0"/>
              <a:t>19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2553383" y="1391983"/>
            <a:ext cx="2054611" cy="2057400"/>
          </a:xfrm>
          <a:prstGeom prst="rect">
            <a:avLst/>
          </a:prstGeom>
        </p:spPr>
      </p:pic>
      <p:sp>
        <p:nvSpPr>
          <p:cNvPr id="17" name="bg object 17"/>
          <p:cNvSpPr/>
          <p:nvPr/>
        </p:nvSpPr>
        <p:spPr>
          <a:xfrm>
            <a:off x="0" y="0"/>
            <a:ext cx="2304415" cy="367030"/>
          </a:xfrm>
          <a:custGeom>
            <a:avLst/>
            <a:gdLst/>
            <a:ahLst/>
            <a:cxnLst/>
            <a:rect l="l" t="t" r="r" b="b"/>
            <a:pathLst>
              <a:path w="2304415" h="367030">
                <a:moveTo>
                  <a:pt x="2303995" y="0"/>
                </a:moveTo>
                <a:lnTo>
                  <a:pt x="0" y="0"/>
                </a:lnTo>
                <a:lnTo>
                  <a:pt x="0" y="366928"/>
                </a:lnTo>
                <a:lnTo>
                  <a:pt x="2303995" y="366928"/>
                </a:lnTo>
                <a:lnTo>
                  <a:pt x="2303995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491223" y="129636"/>
            <a:ext cx="3627653" cy="16256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900" b="1" i="0">
                <a:solidFill>
                  <a:schemeClr val="bg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359994" y="1282611"/>
            <a:ext cx="3345815" cy="11080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346621" y="3351784"/>
            <a:ext cx="458470" cy="10223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600" b="0" i="0">
                <a:solidFill>
                  <a:schemeClr val="bg1"/>
                </a:solidFill>
                <a:latin typeface="Microsoft Sans Serif"/>
                <a:cs typeface="Microsoft Sans Serif"/>
              </a:defRPr>
            </a:lvl1pPr>
          </a:lstStyle>
          <a:p>
            <a:pPr marL="12700">
              <a:lnSpc>
                <a:spcPts val="675"/>
              </a:lnSpc>
            </a:pPr>
            <a:r>
              <a:rPr lang="en-US" spc="-20"/>
              <a:t>By Hazem Nabil</a:t>
            </a:r>
            <a:endParaRPr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1506397" y="3351784"/>
            <a:ext cx="443230" cy="179536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600" b="0" i="0">
                <a:solidFill>
                  <a:schemeClr val="bg1"/>
                </a:solidFill>
                <a:latin typeface="Microsoft Sans Serif"/>
                <a:cs typeface="Microsoft Sans Serif"/>
              </a:defRPr>
            </a:lvl1pPr>
          </a:lstStyle>
          <a:p>
            <a:pPr marL="12700">
              <a:lnSpc>
                <a:spcPts val="675"/>
              </a:lnSpc>
            </a:pPr>
            <a:r>
              <a:rPr lang="en-US" spc="10" dirty="0"/>
              <a:t>Summer 2026</a:t>
            </a:r>
            <a:endParaRPr spc="-20" dirty="0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4246994" y="3351784"/>
            <a:ext cx="344804" cy="10223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600" b="0" i="0">
                <a:solidFill>
                  <a:schemeClr val="bg1"/>
                </a:solidFill>
                <a:latin typeface="Microsoft Sans Serif"/>
                <a:cs typeface="Microsoft Sans Serif"/>
              </a:defRPr>
            </a:lvl1pPr>
          </a:lstStyle>
          <a:p>
            <a:pPr marL="38100">
              <a:lnSpc>
                <a:spcPts val="675"/>
              </a:lnSpc>
            </a:pPr>
            <a:fld id="{81D60167-4931-47E6-BA6A-407CBD079E47}" type="slidenum">
              <a:rPr spc="-20" dirty="0"/>
              <a:t>‹#›</a:t>
            </a:fld>
            <a:r>
              <a:rPr spc="20" dirty="0"/>
              <a:t> </a:t>
            </a:r>
            <a:r>
              <a:rPr spc="150" dirty="0"/>
              <a:t>/</a:t>
            </a:r>
            <a:r>
              <a:rPr spc="20" dirty="0"/>
              <a:t> </a:t>
            </a:r>
            <a:r>
              <a:rPr spc="-20" dirty="0"/>
              <a:t>19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hf hdr="0"/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Relationship Id="rId4" Type="http://schemas.openxmlformats.org/officeDocument/2006/relationships/hyperlink" Target="mailto:ayman.alserafi@guc.edu.eg" TargetMode="Externa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5.xml"/><Relationship Id="rId6" Type="http://schemas.openxmlformats.org/officeDocument/2006/relationships/hyperlink" Target="mailto:farah.bashir@guc.edu.eg" TargetMode="External"/><Relationship Id="rId5" Type="http://schemas.openxmlformats.org/officeDocument/2006/relationships/hyperlink" Target="mailto:Abdullah.farag@guc.edu.eg" TargetMode="Externa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jpg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jpg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jpg"/><Relationship Id="rId4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15.jp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13.png"/><Relationship Id="rId5" Type="http://schemas.openxmlformats.org/officeDocument/2006/relationships/image" Target="../media/image14.jpg"/><Relationship Id="rId4" Type="http://schemas.openxmlformats.org/officeDocument/2006/relationships/image" Target="../media/image1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4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4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Relationship Id="rId6" Type="http://schemas.openxmlformats.org/officeDocument/2006/relationships/hyperlink" Target="https://github.com/GUC-DM/W2024" TargetMode="Externa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2.pn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18.png"/><Relationship Id="rId11" Type="http://schemas.openxmlformats.org/officeDocument/2006/relationships/image" Target="../media/image23.png"/><Relationship Id="rId5" Type="http://schemas.openxmlformats.org/officeDocument/2006/relationships/image" Target="../media/image17.png"/><Relationship Id="rId10" Type="http://schemas.openxmlformats.org/officeDocument/2006/relationships/image" Target="../media/image22.jpg"/><Relationship Id="rId4" Type="http://schemas.openxmlformats.org/officeDocument/2006/relationships/image" Target="../media/image3.png"/><Relationship Id="rId9" Type="http://schemas.openxmlformats.org/officeDocument/2006/relationships/image" Target="../media/image21.pn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hyperlink" Target="https://learnxinyminutes.com/docs/python/" TargetMode="External"/><Relationship Id="rId3" Type="http://schemas.openxmlformats.org/officeDocument/2006/relationships/image" Target="../media/image2.png"/><Relationship Id="rId7" Type="http://schemas.openxmlformats.org/officeDocument/2006/relationships/hyperlink" Target="https://overapi.com/python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5.xml"/><Relationship Id="rId6" Type="http://schemas.openxmlformats.org/officeDocument/2006/relationships/hyperlink" Target="https://gto76.github.io/python-cheatsheet/" TargetMode="External"/><Relationship Id="rId5" Type="http://schemas.openxmlformats.org/officeDocument/2006/relationships/hyperlink" Target="https://ehmatthes.github.io/pcc_2e/cheat_sheets/cheat_sheets/" TargetMode="External"/><Relationship Id="rId4" Type="http://schemas.openxmlformats.org/officeDocument/2006/relationships/image" Target="../media/image3.png"/><Relationship Id="rId9" Type="http://schemas.openxmlformats.org/officeDocument/2006/relationships/hyperlink" Target="https://github.com/jakevdp/PythonDataScienceHandbook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552450" y="-17588"/>
            <a:ext cx="1676400" cy="386644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441325" marR="5080" indent="73025" algn="r"/>
            <a:r>
              <a:rPr sz="600" spc="10" dirty="0">
                <a:solidFill>
                  <a:srgbClr val="7F7F7F"/>
                </a:solidFill>
                <a:latin typeface="Microsoft Sans Serif"/>
                <a:cs typeface="Microsoft Sans Serif"/>
              </a:rPr>
              <a:t>Intr</a:t>
            </a:r>
            <a:r>
              <a:rPr sz="600" spc="30" dirty="0">
                <a:solidFill>
                  <a:srgbClr val="7F7F7F"/>
                </a:solidFill>
                <a:latin typeface="Microsoft Sans Serif"/>
                <a:cs typeface="Microsoft Sans Serif"/>
              </a:rPr>
              <a:t>o</a:t>
            </a:r>
            <a:r>
              <a:rPr sz="600" dirty="0">
                <a:solidFill>
                  <a:srgbClr val="7F7F7F"/>
                </a:solidFill>
                <a:latin typeface="Microsoft Sans Serif"/>
                <a:cs typeface="Microsoft Sans Serif"/>
              </a:rPr>
              <a:t>duction  </a:t>
            </a:r>
            <a:endParaRPr lang="en-US" sz="600" dirty="0">
              <a:solidFill>
                <a:srgbClr val="7F7F7F"/>
              </a:solidFill>
              <a:latin typeface="Microsoft Sans Serif"/>
              <a:cs typeface="Microsoft Sans Serif"/>
            </a:endParaRPr>
          </a:p>
          <a:p>
            <a:pPr marL="441325" marR="5080" indent="73025" algn="r"/>
            <a:r>
              <a:rPr sz="600" spc="-30" dirty="0">
                <a:solidFill>
                  <a:srgbClr val="7F7F7F"/>
                </a:solidFill>
                <a:latin typeface="Microsoft Sans Serif"/>
                <a:cs typeface="Microsoft Sans Serif"/>
              </a:rPr>
              <a:t>Cours</a:t>
            </a:r>
            <a:r>
              <a:rPr sz="600" spc="-25" dirty="0">
                <a:solidFill>
                  <a:srgbClr val="7F7F7F"/>
                </a:solidFill>
                <a:latin typeface="Microsoft Sans Serif"/>
                <a:cs typeface="Microsoft Sans Serif"/>
              </a:rPr>
              <a:t>e</a:t>
            </a:r>
            <a:r>
              <a:rPr sz="600" spc="50" dirty="0">
                <a:solidFill>
                  <a:srgbClr val="7F7F7F"/>
                </a:solidFill>
                <a:latin typeface="Microsoft Sans Serif"/>
                <a:cs typeface="Microsoft Sans Serif"/>
              </a:rPr>
              <a:t> </a:t>
            </a:r>
            <a:r>
              <a:rPr sz="600" spc="-5" dirty="0">
                <a:solidFill>
                  <a:srgbClr val="7F7F7F"/>
                </a:solidFill>
                <a:latin typeface="Microsoft Sans Serif"/>
                <a:cs typeface="Microsoft Sans Serif"/>
              </a:rPr>
              <a:t>Details </a:t>
            </a:r>
            <a:endParaRPr lang="en-US" sz="600" spc="-5" dirty="0">
              <a:solidFill>
                <a:srgbClr val="7F7F7F"/>
              </a:solidFill>
              <a:latin typeface="Microsoft Sans Serif"/>
              <a:cs typeface="Microsoft Sans Serif"/>
            </a:endParaRPr>
          </a:p>
          <a:p>
            <a:pPr marL="441325" marR="5080" indent="73025" algn="r"/>
            <a:r>
              <a:rPr sz="600" spc="-5" dirty="0">
                <a:solidFill>
                  <a:srgbClr val="7F7F7F"/>
                </a:solidFill>
                <a:latin typeface="Microsoft Sans Serif"/>
                <a:cs typeface="Microsoft Sans Serif"/>
              </a:rPr>
              <a:t> </a:t>
            </a:r>
            <a:r>
              <a:rPr sz="600" spc="10" dirty="0">
                <a:solidFill>
                  <a:srgbClr val="7F7F7F"/>
                </a:solidFill>
                <a:latin typeface="Microsoft Sans Serif"/>
                <a:cs typeface="Microsoft Sans Serif"/>
              </a:rPr>
              <a:t>Motivation</a:t>
            </a:r>
            <a:endParaRPr sz="600" dirty="0">
              <a:latin typeface="Microsoft Sans Serif"/>
              <a:cs typeface="Microsoft Sans Serif"/>
            </a:endParaRPr>
          </a:p>
          <a:p>
            <a:pPr marR="5080" algn="r"/>
            <a:r>
              <a:rPr sz="600" spc="-25" dirty="0">
                <a:solidFill>
                  <a:srgbClr val="7F7F7F"/>
                </a:solidFill>
                <a:latin typeface="Microsoft Sans Serif"/>
                <a:cs typeface="Microsoft Sans Serif"/>
              </a:rPr>
              <a:t>Accessing</a:t>
            </a:r>
            <a:r>
              <a:rPr sz="600" spc="35" dirty="0">
                <a:solidFill>
                  <a:srgbClr val="7F7F7F"/>
                </a:solidFill>
                <a:latin typeface="Microsoft Sans Serif"/>
                <a:cs typeface="Microsoft Sans Serif"/>
              </a:rPr>
              <a:t> </a:t>
            </a:r>
            <a:r>
              <a:rPr sz="600" dirty="0">
                <a:solidFill>
                  <a:srgbClr val="7F7F7F"/>
                </a:solidFill>
                <a:latin typeface="Microsoft Sans Serif"/>
                <a:cs typeface="Microsoft Sans Serif"/>
              </a:rPr>
              <a:t>the</a:t>
            </a:r>
            <a:r>
              <a:rPr sz="600" spc="40" dirty="0">
                <a:solidFill>
                  <a:srgbClr val="7F7F7F"/>
                </a:solidFill>
                <a:latin typeface="Microsoft Sans Serif"/>
                <a:cs typeface="Microsoft Sans Serif"/>
              </a:rPr>
              <a:t> </a:t>
            </a:r>
            <a:r>
              <a:rPr sz="600" spc="-10" dirty="0">
                <a:solidFill>
                  <a:srgbClr val="7F7F7F"/>
                </a:solidFill>
                <a:latin typeface="Microsoft Sans Serif"/>
                <a:cs typeface="Microsoft Sans Serif"/>
              </a:rPr>
              <a:t>Lab</a:t>
            </a:r>
            <a:r>
              <a:rPr sz="600" spc="35" dirty="0">
                <a:solidFill>
                  <a:srgbClr val="7F7F7F"/>
                </a:solidFill>
                <a:latin typeface="Microsoft Sans Serif"/>
                <a:cs typeface="Microsoft Sans Serif"/>
              </a:rPr>
              <a:t> </a:t>
            </a:r>
            <a:r>
              <a:rPr sz="600" spc="5" dirty="0">
                <a:solidFill>
                  <a:srgbClr val="7F7F7F"/>
                </a:solidFill>
                <a:latin typeface="Microsoft Sans Serif"/>
                <a:cs typeface="Microsoft Sans Serif"/>
              </a:rPr>
              <a:t>Material</a:t>
            </a:r>
            <a:endParaRPr sz="600" dirty="0">
              <a:latin typeface="Microsoft Sans Serif"/>
              <a:cs typeface="Microsoft Sans Serif"/>
            </a:endParaRPr>
          </a:p>
        </p:txBody>
      </p:sp>
      <p:pic>
        <p:nvPicPr>
          <p:cNvPr id="3" name="object 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2303995" y="0"/>
            <a:ext cx="2304008" cy="366928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2679966" y="129636"/>
            <a:ext cx="1438910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900" b="1" spc="-20" dirty="0">
                <a:solidFill>
                  <a:srgbClr val="FFFFFF"/>
                </a:solidFill>
                <a:latin typeface="Trebuchet MS"/>
                <a:cs typeface="Trebuchet MS"/>
              </a:rPr>
              <a:t>German</a:t>
            </a:r>
            <a:r>
              <a:rPr sz="900" b="1" spc="40" dirty="0">
                <a:solidFill>
                  <a:srgbClr val="FFFFFF"/>
                </a:solidFill>
                <a:latin typeface="Trebuchet MS"/>
                <a:cs typeface="Trebuchet MS"/>
              </a:rPr>
              <a:t> </a:t>
            </a:r>
            <a:r>
              <a:rPr sz="900" b="1" spc="-25" dirty="0">
                <a:solidFill>
                  <a:srgbClr val="FFFFFF"/>
                </a:solidFill>
                <a:latin typeface="Trebuchet MS"/>
                <a:cs typeface="Trebuchet MS"/>
              </a:rPr>
              <a:t>University</a:t>
            </a:r>
            <a:r>
              <a:rPr sz="900" b="1" spc="45" dirty="0">
                <a:solidFill>
                  <a:srgbClr val="FFFFFF"/>
                </a:solidFill>
                <a:latin typeface="Trebuchet MS"/>
                <a:cs typeface="Trebuchet MS"/>
              </a:rPr>
              <a:t> </a:t>
            </a:r>
            <a:r>
              <a:rPr sz="900" b="1" spc="-35" dirty="0">
                <a:solidFill>
                  <a:srgbClr val="FFFFFF"/>
                </a:solidFill>
                <a:latin typeface="Trebuchet MS"/>
                <a:cs typeface="Trebuchet MS"/>
              </a:rPr>
              <a:t>in</a:t>
            </a:r>
            <a:r>
              <a:rPr sz="900" b="1" spc="40" dirty="0">
                <a:solidFill>
                  <a:srgbClr val="FFFFFF"/>
                </a:solidFill>
                <a:latin typeface="Trebuchet MS"/>
                <a:cs typeface="Trebuchet MS"/>
              </a:rPr>
              <a:t> </a:t>
            </a:r>
            <a:r>
              <a:rPr sz="900" b="1" spc="-15" dirty="0">
                <a:solidFill>
                  <a:srgbClr val="FFFFFF"/>
                </a:solidFill>
                <a:latin typeface="Trebuchet MS"/>
                <a:cs typeface="Trebuchet MS"/>
              </a:rPr>
              <a:t>Cairo</a:t>
            </a:r>
            <a:endParaRPr sz="900">
              <a:latin typeface="Trebuchet MS"/>
              <a:cs typeface="Trebuchet MS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309181" y="760971"/>
            <a:ext cx="3989704" cy="670560"/>
          </a:xfrm>
          <a:custGeom>
            <a:avLst/>
            <a:gdLst/>
            <a:ahLst/>
            <a:cxnLst/>
            <a:rect l="l" t="t" r="r" b="b"/>
            <a:pathLst>
              <a:path w="3989704" h="670560">
                <a:moveTo>
                  <a:pt x="3989654" y="44424"/>
                </a:moveTo>
                <a:lnTo>
                  <a:pt x="3988358" y="44424"/>
                </a:lnTo>
                <a:lnTo>
                  <a:pt x="3985653" y="31076"/>
                </a:lnTo>
                <a:lnTo>
                  <a:pt x="3974731" y="14922"/>
                </a:lnTo>
                <a:lnTo>
                  <a:pt x="3958577" y="4013"/>
                </a:lnTo>
                <a:lnTo>
                  <a:pt x="3938854" y="0"/>
                </a:lnTo>
                <a:lnTo>
                  <a:pt x="50812" y="0"/>
                </a:lnTo>
                <a:lnTo>
                  <a:pt x="31076" y="4013"/>
                </a:lnTo>
                <a:lnTo>
                  <a:pt x="14922" y="14922"/>
                </a:lnTo>
                <a:lnTo>
                  <a:pt x="4013" y="31076"/>
                </a:lnTo>
                <a:lnTo>
                  <a:pt x="1295" y="44424"/>
                </a:lnTo>
                <a:lnTo>
                  <a:pt x="0" y="44424"/>
                </a:lnTo>
                <a:lnTo>
                  <a:pt x="0" y="50800"/>
                </a:lnTo>
                <a:lnTo>
                  <a:pt x="0" y="82384"/>
                </a:lnTo>
                <a:lnTo>
                  <a:pt x="0" y="619125"/>
                </a:lnTo>
                <a:lnTo>
                  <a:pt x="4013" y="638860"/>
                </a:lnTo>
                <a:lnTo>
                  <a:pt x="14922" y="655015"/>
                </a:lnTo>
                <a:lnTo>
                  <a:pt x="31076" y="665924"/>
                </a:lnTo>
                <a:lnTo>
                  <a:pt x="50812" y="669937"/>
                </a:lnTo>
                <a:lnTo>
                  <a:pt x="3938854" y="669937"/>
                </a:lnTo>
                <a:lnTo>
                  <a:pt x="3958577" y="665924"/>
                </a:lnTo>
                <a:lnTo>
                  <a:pt x="3974731" y="655015"/>
                </a:lnTo>
                <a:lnTo>
                  <a:pt x="3985653" y="638860"/>
                </a:lnTo>
                <a:lnTo>
                  <a:pt x="3989654" y="619125"/>
                </a:lnTo>
                <a:lnTo>
                  <a:pt x="3989654" y="82384"/>
                </a:lnTo>
                <a:lnTo>
                  <a:pt x="3989654" y="50800"/>
                </a:lnTo>
                <a:lnTo>
                  <a:pt x="3989654" y="44424"/>
                </a:lnTo>
                <a:close/>
              </a:path>
            </a:pathLst>
          </a:custGeom>
          <a:solidFill>
            <a:srgbClr val="8C2054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 txBox="1"/>
          <p:nvPr/>
        </p:nvSpPr>
        <p:spPr>
          <a:xfrm>
            <a:off x="1387017" y="818856"/>
            <a:ext cx="1894205" cy="507365"/>
          </a:xfrm>
          <a:prstGeom prst="rect">
            <a:avLst/>
          </a:prstGeom>
        </p:spPr>
        <p:txBody>
          <a:bodyPr vert="horz" wrap="square" lIns="0" tIns="71755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565"/>
              </a:spcBef>
            </a:pPr>
            <a:r>
              <a:rPr sz="1400" spc="45" dirty="0">
                <a:solidFill>
                  <a:srgbClr val="FFFFFF"/>
                </a:solidFill>
                <a:latin typeface="Trebuchet MS"/>
                <a:cs typeface="Trebuchet MS"/>
              </a:rPr>
              <a:t>[CSEN</a:t>
            </a:r>
            <a:r>
              <a:rPr sz="1400" spc="30" dirty="0">
                <a:solidFill>
                  <a:srgbClr val="FFFFFF"/>
                </a:solidFill>
                <a:latin typeface="Trebuchet MS"/>
                <a:cs typeface="Trebuchet MS"/>
              </a:rPr>
              <a:t> </a:t>
            </a:r>
            <a:r>
              <a:rPr sz="1400" spc="-55" dirty="0">
                <a:solidFill>
                  <a:srgbClr val="FFFFFF"/>
                </a:solidFill>
                <a:latin typeface="Trebuchet MS"/>
                <a:cs typeface="Trebuchet MS"/>
              </a:rPr>
              <a:t>911]</a:t>
            </a:r>
            <a:r>
              <a:rPr sz="1400" spc="35" dirty="0">
                <a:solidFill>
                  <a:srgbClr val="FFFFFF"/>
                </a:solidFill>
                <a:latin typeface="Trebuchet MS"/>
                <a:cs typeface="Trebuchet MS"/>
              </a:rPr>
              <a:t> </a:t>
            </a:r>
            <a:r>
              <a:rPr sz="1400" spc="-10" dirty="0">
                <a:solidFill>
                  <a:srgbClr val="FFFFFF"/>
                </a:solidFill>
                <a:latin typeface="Trebuchet MS"/>
                <a:cs typeface="Trebuchet MS"/>
              </a:rPr>
              <a:t>Data</a:t>
            </a:r>
            <a:r>
              <a:rPr sz="1400" spc="35" dirty="0">
                <a:solidFill>
                  <a:srgbClr val="FFFFFF"/>
                </a:solidFill>
                <a:latin typeface="Trebuchet MS"/>
                <a:cs typeface="Trebuchet MS"/>
              </a:rPr>
              <a:t> </a:t>
            </a:r>
            <a:r>
              <a:rPr sz="1400" spc="-5" dirty="0">
                <a:solidFill>
                  <a:srgbClr val="FFFFFF"/>
                </a:solidFill>
                <a:latin typeface="Trebuchet MS"/>
                <a:cs typeface="Trebuchet MS"/>
              </a:rPr>
              <a:t>Mining</a:t>
            </a:r>
            <a:endParaRPr sz="1400" dirty="0">
              <a:latin typeface="Trebuchet MS"/>
              <a:cs typeface="Trebuchet MS"/>
            </a:endParaRPr>
          </a:p>
          <a:p>
            <a:pPr marR="51435" algn="ctr">
              <a:lnSpc>
                <a:spcPct val="100000"/>
              </a:lnSpc>
              <a:spcBef>
                <a:spcPts val="325"/>
              </a:spcBef>
            </a:pPr>
            <a:r>
              <a:rPr sz="1100" spc="-20" dirty="0">
                <a:solidFill>
                  <a:srgbClr val="FFFFFF"/>
                </a:solidFill>
                <a:latin typeface="Microsoft Sans Serif"/>
                <a:cs typeface="Microsoft Sans Serif"/>
              </a:rPr>
              <a:t>Tutorial</a:t>
            </a:r>
            <a:r>
              <a:rPr sz="1100" spc="30" dirty="0">
                <a:solidFill>
                  <a:srgbClr val="FFFFFF"/>
                </a:solidFill>
                <a:latin typeface="Microsoft Sans Serif"/>
                <a:cs typeface="Microsoft Sans Serif"/>
              </a:rPr>
              <a:t> </a:t>
            </a:r>
            <a:r>
              <a:rPr sz="1100" spc="-70" dirty="0">
                <a:solidFill>
                  <a:srgbClr val="FFFFFF"/>
                </a:solidFill>
                <a:latin typeface="Microsoft Sans Serif"/>
                <a:cs typeface="Microsoft Sans Serif"/>
              </a:rPr>
              <a:t>1</a:t>
            </a:r>
            <a:endParaRPr sz="1100" dirty="0">
              <a:latin typeface="Microsoft Sans Serif"/>
              <a:cs typeface="Microsoft Sans Serif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859612" y="1535079"/>
            <a:ext cx="2888615" cy="1406154"/>
          </a:xfrm>
          <a:prstGeom prst="rect">
            <a:avLst/>
          </a:prstGeom>
        </p:spPr>
        <p:txBody>
          <a:bodyPr vert="horz" wrap="square" lIns="0" tIns="92075" rIns="0" bIns="0" rtlCol="0" anchor="t">
            <a:spAutoFit/>
          </a:bodyPr>
          <a:lstStyle/>
          <a:p>
            <a:pPr marL="46990" algn="ctr">
              <a:lnSpc>
                <a:spcPct val="100000"/>
              </a:lnSpc>
              <a:spcBef>
                <a:spcPts val="725"/>
              </a:spcBef>
            </a:pPr>
            <a:r>
              <a:rPr sz="1100" spc="-85" dirty="0">
                <a:latin typeface="Microsoft Sans Serif"/>
                <a:cs typeface="Microsoft Sans Serif"/>
              </a:rPr>
              <a:t>Course</a:t>
            </a:r>
            <a:r>
              <a:rPr sz="1100" spc="55" dirty="0">
                <a:latin typeface="Microsoft Sans Serif"/>
                <a:cs typeface="Microsoft Sans Serif"/>
              </a:rPr>
              <a:t> </a:t>
            </a:r>
            <a:r>
              <a:rPr sz="1100" spc="-20" dirty="0">
                <a:latin typeface="Microsoft Sans Serif"/>
                <a:cs typeface="Microsoft Sans Serif"/>
              </a:rPr>
              <a:t>Instructor:</a:t>
            </a:r>
            <a:r>
              <a:rPr sz="1100" spc="170" dirty="0">
                <a:latin typeface="Microsoft Sans Serif"/>
                <a:cs typeface="Microsoft Sans Serif"/>
              </a:rPr>
              <a:t> </a:t>
            </a:r>
            <a:r>
              <a:rPr lang="en-US" sz="1100" spc="170" dirty="0" err="1">
                <a:latin typeface="Microsoft Sans Serif"/>
                <a:cs typeface="Kufi Extended Outline" panose="04010401010101010101" pitchFamily="82" charset="-78"/>
              </a:rPr>
              <a:t>Dr.</a:t>
            </a:r>
            <a:r>
              <a:rPr sz="1100" spc="-50" dirty="0" err="1">
                <a:latin typeface="Microsoft Sans Serif"/>
                <a:cs typeface="Kufi Extended Outline" panose="04010401010101010101" pitchFamily="82" charset="-78"/>
              </a:rPr>
              <a:t>Ayman</a:t>
            </a:r>
            <a:r>
              <a:rPr sz="1100" spc="60" dirty="0">
                <a:latin typeface="Microsoft Sans Serif"/>
                <a:cs typeface="Kufi Extended Outline" panose="04010401010101010101" pitchFamily="82" charset="-78"/>
              </a:rPr>
              <a:t> </a:t>
            </a:r>
            <a:r>
              <a:rPr sz="1100" spc="-40" dirty="0" err="1">
                <a:latin typeface="Microsoft Sans Serif"/>
                <a:cs typeface="Kufi Extended Outline" panose="04010401010101010101" pitchFamily="82" charset="-78"/>
              </a:rPr>
              <a:t>Alserafi</a:t>
            </a:r>
            <a:endParaRPr sz="1100" dirty="0" err="1">
              <a:latin typeface="Microsoft Sans Serif"/>
              <a:cs typeface="Kufi Extended Outline" panose="04010401010101010101" pitchFamily="82" charset="-78"/>
            </a:endParaRPr>
          </a:p>
          <a:p>
            <a:pPr algn="ctr">
              <a:lnSpc>
                <a:spcPct val="100000"/>
              </a:lnSpc>
              <a:spcBef>
                <a:spcPts val="570"/>
              </a:spcBef>
            </a:pPr>
            <a:r>
              <a:rPr sz="1000" spc="20" dirty="0">
                <a:latin typeface="SimSun"/>
                <a:cs typeface="SimSun"/>
                <a:hlinkClick r:id="rId4"/>
              </a:rPr>
              <a:t>ayman.alserafi@guc.edu.eg</a:t>
            </a:r>
            <a:endParaRPr sz="1000" dirty="0">
              <a:latin typeface="SimSun"/>
              <a:cs typeface="SimSun"/>
            </a:endParaRPr>
          </a:p>
          <a:p>
            <a:pPr>
              <a:lnSpc>
                <a:spcPct val="100000"/>
              </a:lnSpc>
              <a:spcBef>
                <a:spcPts val="60"/>
              </a:spcBef>
            </a:pPr>
            <a:endParaRPr sz="1100" dirty="0">
              <a:latin typeface="SimSun"/>
              <a:cs typeface="SimSun"/>
            </a:endParaRPr>
          </a:p>
          <a:p>
            <a:pPr marL="35560" algn="ctr">
              <a:lnSpc>
                <a:spcPts val="955"/>
              </a:lnSpc>
            </a:pPr>
            <a:r>
              <a:rPr sz="800" spc="-5" dirty="0">
                <a:latin typeface="Microsoft Sans Serif"/>
                <a:cs typeface="Microsoft Sans Serif"/>
              </a:rPr>
              <a:t>Faculty</a:t>
            </a:r>
            <a:r>
              <a:rPr sz="800" spc="40" dirty="0">
                <a:latin typeface="Microsoft Sans Serif"/>
                <a:cs typeface="Microsoft Sans Serif"/>
              </a:rPr>
              <a:t> </a:t>
            </a:r>
            <a:r>
              <a:rPr sz="800" spc="5" dirty="0">
                <a:latin typeface="Microsoft Sans Serif"/>
                <a:cs typeface="Microsoft Sans Serif"/>
              </a:rPr>
              <a:t>of</a:t>
            </a:r>
            <a:r>
              <a:rPr sz="800" spc="40" dirty="0">
                <a:latin typeface="Microsoft Sans Serif"/>
                <a:cs typeface="Microsoft Sans Serif"/>
              </a:rPr>
              <a:t> </a:t>
            </a:r>
            <a:r>
              <a:rPr sz="800" spc="-10" dirty="0">
                <a:latin typeface="Microsoft Sans Serif"/>
                <a:cs typeface="Microsoft Sans Serif"/>
              </a:rPr>
              <a:t>Management</a:t>
            </a:r>
            <a:r>
              <a:rPr sz="800" spc="35" dirty="0">
                <a:latin typeface="Microsoft Sans Serif"/>
                <a:cs typeface="Microsoft Sans Serif"/>
              </a:rPr>
              <a:t> </a:t>
            </a:r>
            <a:r>
              <a:rPr sz="800" spc="-15" dirty="0">
                <a:latin typeface="Microsoft Sans Serif"/>
                <a:cs typeface="Microsoft Sans Serif"/>
              </a:rPr>
              <a:t>Technology</a:t>
            </a:r>
            <a:endParaRPr sz="800" dirty="0">
              <a:latin typeface="Microsoft Sans Serif"/>
              <a:cs typeface="Microsoft Sans Serif"/>
            </a:endParaRPr>
          </a:p>
          <a:p>
            <a:pPr marL="12065" marR="5080" algn="ctr">
              <a:lnSpc>
                <a:spcPts val="950"/>
              </a:lnSpc>
              <a:spcBef>
                <a:spcPts val="35"/>
              </a:spcBef>
            </a:pPr>
            <a:r>
              <a:rPr sz="800" dirty="0">
                <a:latin typeface="Microsoft Sans Serif"/>
                <a:cs typeface="Microsoft Sans Serif"/>
              </a:rPr>
              <a:t>Department </a:t>
            </a:r>
            <a:r>
              <a:rPr sz="800" spc="5" dirty="0">
                <a:latin typeface="Microsoft Sans Serif"/>
                <a:cs typeface="Microsoft Sans Serif"/>
              </a:rPr>
              <a:t>of </a:t>
            </a:r>
            <a:r>
              <a:rPr sz="800" spc="-35" dirty="0">
                <a:latin typeface="Microsoft Sans Serif"/>
                <a:cs typeface="Microsoft Sans Serif"/>
              </a:rPr>
              <a:t>Business</a:t>
            </a:r>
            <a:r>
              <a:rPr sz="800" spc="-30" dirty="0">
                <a:latin typeface="Microsoft Sans Serif"/>
                <a:cs typeface="Microsoft Sans Serif"/>
              </a:rPr>
              <a:t> </a:t>
            </a:r>
            <a:r>
              <a:rPr sz="800" spc="-5" dirty="0">
                <a:latin typeface="Microsoft Sans Serif"/>
                <a:cs typeface="Microsoft Sans Serif"/>
              </a:rPr>
              <a:t>Informatics </a:t>
            </a:r>
            <a:r>
              <a:rPr sz="800" spc="105" dirty="0">
                <a:latin typeface="Microsoft Sans Serif"/>
                <a:cs typeface="Microsoft Sans Serif"/>
              </a:rPr>
              <a:t>&amp; </a:t>
            </a:r>
            <a:r>
              <a:rPr sz="800" spc="-10" dirty="0">
                <a:latin typeface="Microsoft Sans Serif"/>
                <a:cs typeface="Microsoft Sans Serif"/>
              </a:rPr>
              <a:t>Operations</a:t>
            </a:r>
            <a:r>
              <a:rPr sz="800" spc="-5" dirty="0">
                <a:latin typeface="Microsoft Sans Serif"/>
                <a:cs typeface="Microsoft Sans Serif"/>
              </a:rPr>
              <a:t> </a:t>
            </a:r>
            <a:r>
              <a:rPr sz="800" spc="-10" dirty="0">
                <a:latin typeface="Microsoft Sans Serif"/>
                <a:cs typeface="Microsoft Sans Serif"/>
              </a:rPr>
              <a:t>Management </a:t>
            </a:r>
            <a:r>
              <a:rPr sz="800" spc="-200" dirty="0">
                <a:latin typeface="Microsoft Sans Serif"/>
                <a:cs typeface="Microsoft Sans Serif"/>
              </a:rPr>
              <a:t> </a:t>
            </a:r>
            <a:r>
              <a:rPr sz="800" spc="-25" dirty="0">
                <a:latin typeface="Microsoft Sans Serif"/>
                <a:cs typeface="Microsoft Sans Serif"/>
              </a:rPr>
              <a:t>German</a:t>
            </a:r>
            <a:r>
              <a:rPr sz="800" spc="60" dirty="0">
                <a:latin typeface="Microsoft Sans Serif"/>
                <a:cs typeface="Microsoft Sans Serif"/>
              </a:rPr>
              <a:t> </a:t>
            </a:r>
            <a:r>
              <a:rPr sz="800" spc="-10" dirty="0">
                <a:latin typeface="Microsoft Sans Serif"/>
                <a:cs typeface="Microsoft Sans Serif"/>
              </a:rPr>
              <a:t>University</a:t>
            </a:r>
            <a:r>
              <a:rPr sz="800" spc="70" dirty="0">
                <a:latin typeface="Microsoft Sans Serif"/>
                <a:cs typeface="Microsoft Sans Serif"/>
              </a:rPr>
              <a:t> </a:t>
            </a:r>
            <a:r>
              <a:rPr sz="800" spc="5" dirty="0">
                <a:latin typeface="Microsoft Sans Serif"/>
                <a:cs typeface="Microsoft Sans Serif"/>
              </a:rPr>
              <a:t>in</a:t>
            </a:r>
            <a:r>
              <a:rPr sz="800" spc="70" dirty="0">
                <a:latin typeface="Microsoft Sans Serif"/>
                <a:cs typeface="Microsoft Sans Serif"/>
              </a:rPr>
              <a:t> </a:t>
            </a:r>
            <a:r>
              <a:rPr sz="800" spc="-20" dirty="0">
                <a:latin typeface="Microsoft Sans Serif"/>
                <a:cs typeface="Microsoft Sans Serif"/>
              </a:rPr>
              <a:t>Cairo</a:t>
            </a:r>
            <a:endParaRPr sz="800" dirty="0">
              <a:latin typeface="Microsoft Sans Serif"/>
              <a:cs typeface="Microsoft Sans Serif"/>
            </a:endParaRPr>
          </a:p>
          <a:p>
            <a:pPr>
              <a:lnSpc>
                <a:spcPct val="100000"/>
              </a:lnSpc>
              <a:spcBef>
                <a:spcPts val="10"/>
              </a:spcBef>
            </a:pPr>
            <a:endParaRPr sz="1150" dirty="0">
              <a:latin typeface="Microsoft Sans Serif"/>
              <a:cs typeface="Microsoft Sans Serif"/>
            </a:endParaRPr>
          </a:p>
          <a:p>
            <a:pPr algn="ctr">
              <a:lnSpc>
                <a:spcPct val="100000"/>
              </a:lnSpc>
            </a:pPr>
            <a:r>
              <a:rPr lang="en-US" sz="1100" spc="-15" dirty="0">
                <a:latin typeface="Microsoft Sans Serif"/>
                <a:cs typeface="Microsoft Sans Serif"/>
              </a:rPr>
              <a:t>Summer</a:t>
            </a:r>
            <a:r>
              <a:rPr sz="1100" spc="30" dirty="0">
                <a:latin typeface="Microsoft Sans Serif"/>
                <a:cs typeface="Microsoft Sans Serif"/>
              </a:rPr>
              <a:t> </a:t>
            </a:r>
            <a:r>
              <a:rPr lang="en-US" sz="1100" spc="-70" dirty="0">
                <a:latin typeface="Microsoft Sans Serif"/>
                <a:cs typeface="Microsoft Sans Serif"/>
              </a:rPr>
              <a:t>2026</a:t>
            </a:r>
            <a:endParaRPr lang="en-US" sz="1100" spc="-70" dirty="0">
              <a:latin typeface="Microsoft Sans Serif"/>
              <a:ea typeface="Microsoft Sans Serif"/>
              <a:cs typeface="Microsoft Sans Serif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1905" y="3347973"/>
            <a:ext cx="4608195" cy="109855"/>
            <a:chOff x="0" y="3346348"/>
            <a:chExt cx="4608195" cy="109855"/>
          </a:xfrm>
        </p:grpSpPr>
        <p:sp>
          <p:nvSpPr>
            <p:cNvPr id="9" name="object 9"/>
            <p:cNvSpPr/>
            <p:nvPr/>
          </p:nvSpPr>
          <p:spPr>
            <a:xfrm>
              <a:off x="0" y="3346348"/>
              <a:ext cx="2304415" cy="109855"/>
            </a:xfrm>
            <a:custGeom>
              <a:avLst/>
              <a:gdLst/>
              <a:ahLst/>
              <a:cxnLst/>
              <a:rect l="l" t="t" r="r" b="b"/>
              <a:pathLst>
                <a:path w="2304415" h="109854">
                  <a:moveTo>
                    <a:pt x="2304008" y="0"/>
                  </a:moveTo>
                  <a:lnTo>
                    <a:pt x="1152004" y="0"/>
                  </a:lnTo>
                  <a:lnTo>
                    <a:pt x="0" y="0"/>
                  </a:lnTo>
                  <a:lnTo>
                    <a:pt x="0" y="109651"/>
                  </a:lnTo>
                  <a:lnTo>
                    <a:pt x="1152004" y="109651"/>
                  </a:lnTo>
                  <a:lnTo>
                    <a:pt x="2304008" y="109651"/>
                  </a:lnTo>
                  <a:lnTo>
                    <a:pt x="2304008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2303995" y="3346348"/>
              <a:ext cx="2304415" cy="109855"/>
            </a:xfrm>
            <a:custGeom>
              <a:avLst/>
              <a:gdLst/>
              <a:ahLst/>
              <a:cxnLst/>
              <a:rect l="l" t="t" r="r" b="b"/>
              <a:pathLst>
                <a:path w="2304415" h="109854">
                  <a:moveTo>
                    <a:pt x="2303996" y="0"/>
                  </a:moveTo>
                  <a:lnTo>
                    <a:pt x="1920024" y="0"/>
                  </a:lnTo>
                  <a:lnTo>
                    <a:pt x="0" y="0"/>
                  </a:lnTo>
                  <a:lnTo>
                    <a:pt x="0" y="109651"/>
                  </a:lnTo>
                  <a:lnTo>
                    <a:pt x="1920024" y="109651"/>
                  </a:lnTo>
                  <a:lnTo>
                    <a:pt x="2303996" y="109651"/>
                  </a:lnTo>
                  <a:lnTo>
                    <a:pt x="2303996" y="0"/>
                  </a:lnTo>
                  <a:close/>
                </a:path>
              </a:pathLst>
            </a:custGeom>
            <a:solidFill>
              <a:srgbClr val="8C205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object 13"/>
          <p:cNvSpPr txBox="1"/>
          <p:nvPr/>
        </p:nvSpPr>
        <p:spPr>
          <a:xfrm>
            <a:off x="3086696" y="3351784"/>
            <a:ext cx="354965" cy="10223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5"/>
              </a:lnSpc>
            </a:pPr>
            <a:r>
              <a:rPr sz="600" spc="5" dirty="0">
                <a:solidFill>
                  <a:srgbClr val="FFFFFF"/>
                </a:solidFill>
                <a:latin typeface="Microsoft Sans Serif"/>
                <a:cs typeface="Microsoft Sans Serif"/>
              </a:rPr>
              <a:t>Tutorial</a:t>
            </a:r>
            <a:r>
              <a:rPr sz="600" spc="-10" dirty="0">
                <a:solidFill>
                  <a:srgbClr val="FFFFFF"/>
                </a:solidFill>
                <a:latin typeface="Microsoft Sans Serif"/>
                <a:cs typeface="Microsoft Sans Serif"/>
              </a:rPr>
              <a:t> </a:t>
            </a:r>
            <a:r>
              <a:rPr sz="600" spc="-20" dirty="0">
                <a:solidFill>
                  <a:srgbClr val="FFFFFF"/>
                </a:solidFill>
                <a:latin typeface="Microsoft Sans Serif"/>
                <a:cs typeface="Microsoft Sans Serif"/>
              </a:rPr>
              <a:t>1</a:t>
            </a:r>
            <a:endParaRPr sz="600" dirty="0">
              <a:latin typeface="Microsoft Sans Serif"/>
              <a:cs typeface="Microsoft Sans Serif"/>
            </a:endParaRPr>
          </a:p>
        </p:txBody>
      </p:sp>
      <p:sp>
        <p:nvSpPr>
          <p:cNvPr id="15" name="object 12">
            <a:extLst>
              <a:ext uri="{FF2B5EF4-FFF2-40B4-BE49-F238E27FC236}">
                <a16:creationId xmlns:a16="http://schemas.microsoft.com/office/drawing/2014/main" id="{1D730D11-54DC-2107-FBD3-3E49BDFB6500}"/>
              </a:ext>
            </a:extLst>
          </p:cNvPr>
          <p:cNvSpPr txBox="1">
            <a:spLocks noGrp="1"/>
          </p:cNvSpPr>
          <p:nvPr>
            <p:ph type="dt" sz="half" idx="6"/>
          </p:nvPr>
        </p:nvSpPr>
        <p:spPr>
          <a:xfrm>
            <a:off x="1506396" y="3351784"/>
            <a:ext cx="570053" cy="8976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5"/>
              </a:lnSpc>
            </a:pPr>
            <a:r>
              <a:rPr lang="en-US" spc="10" dirty="0"/>
              <a:t>Summer 2026</a:t>
            </a:r>
            <a:endParaRPr spc="-20" dirty="0"/>
          </a:p>
        </p:txBody>
      </p:sp>
      <p:sp>
        <p:nvSpPr>
          <p:cNvPr id="16" name="Footer Placeholder 10">
            <a:extLst>
              <a:ext uri="{FF2B5EF4-FFF2-40B4-BE49-F238E27FC236}">
                <a16:creationId xmlns:a16="http://schemas.microsoft.com/office/drawing/2014/main" id="{D6DCA7D9-4A72-23FB-01CC-C58820F946E2}"/>
              </a:ext>
            </a:extLst>
          </p:cNvPr>
          <p:cNvSpPr>
            <a:spLocks noGrp="1"/>
          </p:cNvSpPr>
          <p:nvPr>
            <p:ph type="ftr" sz="quarter" idx="5"/>
          </p:nvPr>
        </p:nvSpPr>
        <p:spPr>
          <a:xfrm>
            <a:off x="346620" y="3351783"/>
            <a:ext cx="663029" cy="207391"/>
          </a:xfrm>
        </p:spPr>
        <p:txBody>
          <a:bodyPr/>
          <a:lstStyle/>
          <a:p>
            <a:pPr marL="12700">
              <a:lnSpc>
                <a:spcPts val="675"/>
              </a:lnSpc>
            </a:pPr>
            <a:r>
              <a:rPr lang="en-US" spc="-20" dirty="0"/>
              <a:t>By Hazem</a:t>
            </a:r>
            <a:r>
              <a:rPr lang="en-US" spc="-5" dirty="0"/>
              <a:t> </a:t>
            </a:r>
            <a:r>
              <a:rPr lang="en-US" dirty="0"/>
              <a:t>Nabil</a:t>
            </a:r>
          </a:p>
        </p:txBody>
      </p:sp>
      <p:sp>
        <p:nvSpPr>
          <p:cNvPr id="11" name="Slide Number Placeholder 14">
            <a:extLst>
              <a:ext uri="{FF2B5EF4-FFF2-40B4-BE49-F238E27FC236}">
                <a16:creationId xmlns:a16="http://schemas.microsoft.com/office/drawing/2014/main" id="{CFBE7D46-35B4-97C2-47D9-620628C56396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>
          <a:xfrm>
            <a:off x="4246994" y="3351784"/>
            <a:ext cx="344804" cy="89768"/>
          </a:xfrm>
        </p:spPr>
        <p:txBody>
          <a:bodyPr/>
          <a:lstStyle/>
          <a:p>
            <a:pPr marL="38100">
              <a:lnSpc>
                <a:spcPts val="675"/>
              </a:lnSpc>
            </a:pPr>
            <a:fld id="{81D60167-4931-47E6-BA6A-407CBD079E47}" type="slidenum">
              <a:rPr lang="en-US" spc="-20" smtClean="0"/>
              <a:t>1</a:t>
            </a:fld>
            <a:r>
              <a:rPr lang="en-US" spc="20" dirty="0"/>
              <a:t> </a:t>
            </a:r>
            <a:r>
              <a:rPr lang="en-US" spc="150" dirty="0"/>
              <a:t>/</a:t>
            </a:r>
            <a:r>
              <a:rPr lang="en-US" spc="20" dirty="0"/>
              <a:t> </a:t>
            </a:r>
            <a:r>
              <a:rPr lang="en-US" spc="-20" dirty="0"/>
              <a:t>20</a:t>
            </a:r>
          </a:p>
        </p:txBody>
      </p:sp>
    </p:spTree>
  </p:cSld>
  <p:clrMapOvr>
    <a:masterClrMapping/>
  </p:clrMapOvr>
  <p:transition>
    <p:cut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268450" y="0"/>
            <a:ext cx="940435" cy="382270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441325" marR="5080" indent="73025" algn="r">
              <a:lnSpc>
                <a:spcPts val="700"/>
              </a:lnSpc>
              <a:spcBef>
                <a:spcPts val="135"/>
              </a:spcBef>
            </a:pPr>
            <a:r>
              <a:rPr sz="600" spc="10" dirty="0">
                <a:solidFill>
                  <a:srgbClr val="7F7F7F"/>
                </a:solidFill>
                <a:latin typeface="Microsoft Sans Serif"/>
                <a:cs typeface="Microsoft Sans Serif"/>
              </a:rPr>
              <a:t>Intr</a:t>
            </a:r>
            <a:r>
              <a:rPr sz="600" spc="30" dirty="0">
                <a:solidFill>
                  <a:srgbClr val="7F7F7F"/>
                </a:solidFill>
                <a:latin typeface="Microsoft Sans Serif"/>
                <a:cs typeface="Microsoft Sans Serif"/>
              </a:rPr>
              <a:t>o</a:t>
            </a:r>
            <a:r>
              <a:rPr sz="600" dirty="0">
                <a:solidFill>
                  <a:srgbClr val="7F7F7F"/>
                </a:solidFill>
                <a:latin typeface="Microsoft Sans Serif"/>
                <a:cs typeface="Microsoft Sans Serif"/>
              </a:rPr>
              <a:t>duction  </a:t>
            </a:r>
            <a:r>
              <a:rPr sz="600" spc="-30" dirty="0">
                <a:solidFill>
                  <a:srgbClr val="7F7F7F"/>
                </a:solidFill>
                <a:latin typeface="Microsoft Sans Serif"/>
                <a:cs typeface="Microsoft Sans Serif"/>
              </a:rPr>
              <a:t>Cours</a:t>
            </a:r>
            <a:r>
              <a:rPr sz="600" spc="-25" dirty="0">
                <a:solidFill>
                  <a:srgbClr val="7F7F7F"/>
                </a:solidFill>
                <a:latin typeface="Microsoft Sans Serif"/>
                <a:cs typeface="Microsoft Sans Serif"/>
              </a:rPr>
              <a:t>e</a:t>
            </a:r>
            <a:r>
              <a:rPr sz="600" spc="50" dirty="0">
                <a:solidFill>
                  <a:srgbClr val="7F7F7F"/>
                </a:solidFill>
                <a:latin typeface="Microsoft Sans Serif"/>
                <a:cs typeface="Microsoft Sans Serif"/>
              </a:rPr>
              <a:t> </a:t>
            </a:r>
            <a:r>
              <a:rPr sz="600" spc="-5" dirty="0">
                <a:solidFill>
                  <a:srgbClr val="7F7F7F"/>
                </a:solidFill>
                <a:latin typeface="Microsoft Sans Serif"/>
                <a:cs typeface="Microsoft Sans Serif"/>
              </a:rPr>
              <a:t>Details  </a:t>
            </a:r>
            <a:r>
              <a:rPr sz="600" spc="10" dirty="0">
                <a:solidFill>
                  <a:srgbClr val="7F7F7F"/>
                </a:solidFill>
                <a:latin typeface="Microsoft Sans Serif"/>
                <a:cs typeface="Microsoft Sans Serif"/>
              </a:rPr>
              <a:t>Motivation</a:t>
            </a:r>
            <a:endParaRPr sz="600" dirty="0">
              <a:latin typeface="Microsoft Sans Serif"/>
              <a:cs typeface="Microsoft Sans Serif"/>
            </a:endParaRPr>
          </a:p>
          <a:p>
            <a:pPr marR="5080" algn="r">
              <a:lnSpc>
                <a:spcPts val="670"/>
              </a:lnSpc>
            </a:pPr>
            <a:r>
              <a:rPr sz="600" spc="-25" dirty="0">
                <a:solidFill>
                  <a:srgbClr val="7F7F7F"/>
                </a:solidFill>
                <a:latin typeface="Microsoft Sans Serif"/>
                <a:cs typeface="Microsoft Sans Serif"/>
              </a:rPr>
              <a:t>Accessing</a:t>
            </a:r>
            <a:r>
              <a:rPr sz="600" spc="35" dirty="0">
                <a:solidFill>
                  <a:srgbClr val="7F7F7F"/>
                </a:solidFill>
                <a:latin typeface="Microsoft Sans Serif"/>
                <a:cs typeface="Microsoft Sans Serif"/>
              </a:rPr>
              <a:t> </a:t>
            </a:r>
            <a:r>
              <a:rPr sz="600" dirty="0">
                <a:solidFill>
                  <a:srgbClr val="7F7F7F"/>
                </a:solidFill>
                <a:latin typeface="Microsoft Sans Serif"/>
                <a:cs typeface="Microsoft Sans Serif"/>
              </a:rPr>
              <a:t>the</a:t>
            </a:r>
            <a:r>
              <a:rPr sz="600" spc="40" dirty="0">
                <a:solidFill>
                  <a:srgbClr val="7F7F7F"/>
                </a:solidFill>
                <a:latin typeface="Microsoft Sans Serif"/>
                <a:cs typeface="Microsoft Sans Serif"/>
              </a:rPr>
              <a:t> </a:t>
            </a:r>
            <a:r>
              <a:rPr sz="600" spc="-10" dirty="0">
                <a:solidFill>
                  <a:srgbClr val="7F7F7F"/>
                </a:solidFill>
                <a:latin typeface="Microsoft Sans Serif"/>
                <a:cs typeface="Microsoft Sans Serif"/>
              </a:rPr>
              <a:t>Lab</a:t>
            </a:r>
            <a:r>
              <a:rPr sz="600" spc="35" dirty="0">
                <a:solidFill>
                  <a:srgbClr val="7F7F7F"/>
                </a:solidFill>
                <a:latin typeface="Microsoft Sans Serif"/>
                <a:cs typeface="Microsoft Sans Serif"/>
              </a:rPr>
              <a:t> </a:t>
            </a:r>
            <a:r>
              <a:rPr sz="600" spc="5" dirty="0">
                <a:solidFill>
                  <a:srgbClr val="7F7F7F"/>
                </a:solidFill>
                <a:latin typeface="Microsoft Sans Serif"/>
                <a:cs typeface="Microsoft Sans Serif"/>
              </a:rPr>
              <a:t>Material</a:t>
            </a:r>
            <a:endParaRPr sz="600" dirty="0">
              <a:latin typeface="Microsoft Sans Serif"/>
              <a:cs typeface="Microsoft Sans Serif"/>
            </a:endParaRP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303995" y="0"/>
            <a:ext cx="2304008" cy="366928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2679966" y="129636"/>
            <a:ext cx="1438910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900" b="1" spc="-20" dirty="0">
                <a:solidFill>
                  <a:srgbClr val="FFFFFF"/>
                </a:solidFill>
                <a:latin typeface="Trebuchet MS"/>
                <a:cs typeface="Trebuchet MS"/>
              </a:rPr>
              <a:t>German</a:t>
            </a:r>
            <a:r>
              <a:rPr sz="900" b="1" spc="40" dirty="0">
                <a:solidFill>
                  <a:srgbClr val="FFFFFF"/>
                </a:solidFill>
                <a:latin typeface="Trebuchet MS"/>
                <a:cs typeface="Trebuchet MS"/>
              </a:rPr>
              <a:t> </a:t>
            </a:r>
            <a:r>
              <a:rPr sz="900" b="1" spc="-25" dirty="0">
                <a:solidFill>
                  <a:srgbClr val="FFFFFF"/>
                </a:solidFill>
                <a:latin typeface="Trebuchet MS"/>
                <a:cs typeface="Trebuchet MS"/>
              </a:rPr>
              <a:t>University</a:t>
            </a:r>
            <a:r>
              <a:rPr sz="900" b="1" spc="45" dirty="0">
                <a:solidFill>
                  <a:srgbClr val="FFFFFF"/>
                </a:solidFill>
                <a:latin typeface="Trebuchet MS"/>
                <a:cs typeface="Trebuchet MS"/>
              </a:rPr>
              <a:t> </a:t>
            </a:r>
            <a:r>
              <a:rPr sz="900" b="1" spc="-35" dirty="0">
                <a:solidFill>
                  <a:srgbClr val="FFFFFF"/>
                </a:solidFill>
                <a:latin typeface="Trebuchet MS"/>
                <a:cs typeface="Trebuchet MS"/>
              </a:rPr>
              <a:t>in</a:t>
            </a:r>
            <a:r>
              <a:rPr sz="900" b="1" spc="40" dirty="0">
                <a:solidFill>
                  <a:srgbClr val="FFFFFF"/>
                </a:solidFill>
                <a:latin typeface="Trebuchet MS"/>
                <a:cs typeface="Trebuchet MS"/>
              </a:rPr>
              <a:t> </a:t>
            </a:r>
            <a:r>
              <a:rPr sz="900" b="1" spc="-15" dirty="0">
                <a:solidFill>
                  <a:srgbClr val="FFFFFF"/>
                </a:solidFill>
                <a:latin typeface="Trebuchet MS"/>
                <a:cs typeface="Trebuchet MS"/>
              </a:rPr>
              <a:t>Cairo</a:t>
            </a:r>
            <a:endParaRPr sz="900">
              <a:latin typeface="Trebuchet MS"/>
              <a:cs typeface="Trebuchet MS"/>
            </a:endParaRPr>
          </a:p>
        </p:txBody>
      </p:sp>
      <p:pic>
        <p:nvPicPr>
          <p:cNvPr id="5" name="object 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0" y="366911"/>
            <a:ext cx="4604410" cy="260646"/>
          </a:xfrm>
          <a:prstGeom prst="rect">
            <a:avLst/>
          </a:prstGeom>
        </p:spPr>
      </p:pic>
      <p:sp>
        <p:nvSpPr>
          <p:cNvPr id="6" name="object 6"/>
          <p:cNvSpPr txBox="1"/>
          <p:nvPr/>
        </p:nvSpPr>
        <p:spPr>
          <a:xfrm>
            <a:off x="197218" y="364347"/>
            <a:ext cx="567690" cy="24447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400" spc="-50" dirty="0">
                <a:solidFill>
                  <a:srgbClr val="FFFFFF"/>
                </a:solidFill>
                <a:latin typeface="Trebuchet MS"/>
                <a:cs typeface="Trebuchet MS"/>
              </a:rPr>
              <a:t>Outline</a:t>
            </a:r>
            <a:endParaRPr sz="1400">
              <a:latin typeface="Trebuchet MS"/>
              <a:cs typeface="Trebuchet MS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347294" y="1143773"/>
            <a:ext cx="2872156" cy="1351011"/>
          </a:xfrm>
          <a:prstGeom prst="rect">
            <a:avLst/>
          </a:prstGeom>
        </p:spPr>
        <p:txBody>
          <a:bodyPr vert="horz" wrap="square" lIns="0" tIns="11430" rIns="0" bIns="0" rtlCol="0" anchor="t">
            <a:spAutoFit/>
          </a:bodyPr>
          <a:lstStyle/>
          <a:p>
            <a:pPr marL="12700">
              <a:lnSpc>
                <a:spcPct val="200000"/>
              </a:lnSpc>
              <a:spcBef>
                <a:spcPts val="90"/>
              </a:spcBef>
            </a:pPr>
            <a:r>
              <a:rPr lang="en-US" sz="1100" spc="-15" dirty="0">
                <a:solidFill>
                  <a:srgbClr val="8C2054"/>
                </a:solidFill>
                <a:latin typeface="Microsoft Sans Serif"/>
                <a:cs typeface="Microsoft Sans Serif"/>
              </a:rPr>
              <a:t>Introduction</a:t>
            </a:r>
            <a:endParaRPr lang="en-US" sz="1100" dirty="0">
              <a:solidFill>
                <a:srgbClr val="000000"/>
              </a:solidFill>
              <a:latin typeface="Microsoft Sans Serif"/>
              <a:ea typeface="Microsoft Sans Serif"/>
              <a:cs typeface="Microsoft Sans Serif"/>
            </a:endParaRPr>
          </a:p>
          <a:p>
            <a:pPr marL="12700">
              <a:lnSpc>
                <a:spcPct val="200000"/>
              </a:lnSpc>
              <a:spcBef>
                <a:spcPts val="90"/>
              </a:spcBef>
            </a:pPr>
            <a:r>
              <a:rPr lang="en-US" sz="1100" spc="-85" dirty="0">
                <a:solidFill>
                  <a:srgbClr val="8C2054"/>
                </a:solidFill>
                <a:latin typeface="Microsoft Sans Serif"/>
                <a:cs typeface="Microsoft Sans Serif"/>
              </a:rPr>
              <a:t>Course</a:t>
            </a:r>
            <a:r>
              <a:rPr sz="1100" spc="25" dirty="0">
                <a:solidFill>
                  <a:srgbClr val="8C2054"/>
                </a:solidFill>
                <a:latin typeface="Microsoft Sans Serif"/>
                <a:cs typeface="Microsoft Sans Serif"/>
              </a:rPr>
              <a:t> </a:t>
            </a:r>
            <a:r>
              <a:rPr sz="1100" spc="-40" dirty="0">
                <a:solidFill>
                  <a:srgbClr val="8C2054"/>
                </a:solidFill>
                <a:latin typeface="Microsoft Sans Serif"/>
                <a:cs typeface="Microsoft Sans Serif"/>
              </a:rPr>
              <a:t>Details</a:t>
            </a:r>
            <a:endParaRPr lang="en-US" sz="1100" dirty="0">
              <a:solidFill>
                <a:srgbClr val="000000"/>
              </a:solidFill>
              <a:latin typeface="Microsoft Sans Serif"/>
              <a:ea typeface="Microsoft Sans Serif"/>
              <a:cs typeface="Microsoft Sans Serif"/>
            </a:endParaRPr>
          </a:p>
          <a:p>
            <a:pPr marL="12700">
              <a:lnSpc>
                <a:spcPct val="200000"/>
              </a:lnSpc>
              <a:spcBef>
                <a:spcPts val="90"/>
              </a:spcBef>
            </a:pPr>
            <a:r>
              <a:rPr lang="en-US" sz="1100" spc="-10" dirty="0">
                <a:solidFill>
                  <a:srgbClr val="8C2054"/>
                </a:solidFill>
                <a:latin typeface="Microsoft Sans Serif"/>
                <a:cs typeface="Microsoft Sans Serif"/>
              </a:rPr>
              <a:t>Motivation</a:t>
            </a:r>
            <a:endParaRPr lang="en-US" sz="1100" dirty="0">
              <a:solidFill>
                <a:srgbClr val="000000"/>
              </a:solidFill>
              <a:latin typeface="Microsoft Sans Serif"/>
              <a:ea typeface="Microsoft Sans Serif"/>
              <a:cs typeface="Microsoft Sans Serif"/>
            </a:endParaRPr>
          </a:p>
          <a:p>
            <a:pPr marL="12700">
              <a:lnSpc>
                <a:spcPct val="200000"/>
              </a:lnSpc>
              <a:spcBef>
                <a:spcPts val="90"/>
              </a:spcBef>
            </a:pPr>
            <a:r>
              <a:rPr sz="1100" spc="-75" dirty="0">
                <a:solidFill>
                  <a:srgbClr val="8C2054"/>
                </a:solidFill>
                <a:latin typeface="Microsoft Sans Serif"/>
                <a:cs typeface="Microsoft Sans Serif"/>
              </a:rPr>
              <a:t>Accessing</a:t>
            </a:r>
            <a:r>
              <a:rPr sz="1100" spc="55" dirty="0">
                <a:solidFill>
                  <a:srgbClr val="8C2054"/>
                </a:solidFill>
                <a:latin typeface="Microsoft Sans Serif"/>
                <a:cs typeface="Microsoft Sans Serif"/>
              </a:rPr>
              <a:t> </a:t>
            </a:r>
            <a:r>
              <a:rPr sz="1100" spc="-35" dirty="0">
                <a:solidFill>
                  <a:srgbClr val="8C2054"/>
                </a:solidFill>
                <a:latin typeface="Microsoft Sans Serif"/>
                <a:cs typeface="Microsoft Sans Serif"/>
              </a:rPr>
              <a:t>the</a:t>
            </a:r>
            <a:r>
              <a:rPr sz="1100" spc="60" dirty="0">
                <a:solidFill>
                  <a:srgbClr val="8C2054"/>
                </a:solidFill>
                <a:latin typeface="Microsoft Sans Serif"/>
                <a:cs typeface="Microsoft Sans Serif"/>
              </a:rPr>
              <a:t> </a:t>
            </a:r>
            <a:r>
              <a:rPr sz="1100" spc="-55" dirty="0">
                <a:solidFill>
                  <a:srgbClr val="8C2054"/>
                </a:solidFill>
                <a:latin typeface="Microsoft Sans Serif"/>
                <a:cs typeface="Microsoft Sans Serif"/>
              </a:rPr>
              <a:t>Lab</a:t>
            </a:r>
            <a:r>
              <a:rPr sz="1100" spc="60" dirty="0">
                <a:solidFill>
                  <a:srgbClr val="8C2054"/>
                </a:solidFill>
                <a:latin typeface="Microsoft Sans Serif"/>
                <a:cs typeface="Microsoft Sans Serif"/>
              </a:rPr>
              <a:t> </a:t>
            </a:r>
            <a:r>
              <a:rPr sz="1100" spc="-20" dirty="0">
                <a:solidFill>
                  <a:srgbClr val="8C2054"/>
                </a:solidFill>
                <a:latin typeface="Microsoft Sans Serif"/>
                <a:cs typeface="Microsoft Sans Serif"/>
              </a:rPr>
              <a:t>Material</a:t>
            </a:r>
            <a:endParaRPr lang="en-US" sz="1100">
              <a:latin typeface="Microsoft Sans Serif"/>
              <a:ea typeface="Microsoft Sans Serif"/>
              <a:cs typeface="Microsoft Sans Serif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0" y="3346348"/>
            <a:ext cx="4608195" cy="109855"/>
            <a:chOff x="0" y="3346348"/>
            <a:chExt cx="4608195" cy="109855"/>
          </a:xfrm>
        </p:grpSpPr>
        <p:sp>
          <p:nvSpPr>
            <p:cNvPr id="9" name="object 9"/>
            <p:cNvSpPr/>
            <p:nvPr/>
          </p:nvSpPr>
          <p:spPr>
            <a:xfrm>
              <a:off x="0" y="3346361"/>
              <a:ext cx="2304415" cy="109855"/>
            </a:xfrm>
            <a:custGeom>
              <a:avLst/>
              <a:gdLst/>
              <a:ahLst/>
              <a:cxnLst/>
              <a:rect l="l" t="t" r="r" b="b"/>
              <a:pathLst>
                <a:path w="2304415" h="109854">
                  <a:moveTo>
                    <a:pt x="2304008" y="0"/>
                  </a:moveTo>
                  <a:lnTo>
                    <a:pt x="1152004" y="0"/>
                  </a:lnTo>
                  <a:lnTo>
                    <a:pt x="0" y="0"/>
                  </a:lnTo>
                  <a:lnTo>
                    <a:pt x="0" y="109639"/>
                  </a:lnTo>
                  <a:lnTo>
                    <a:pt x="1152004" y="109639"/>
                  </a:lnTo>
                  <a:lnTo>
                    <a:pt x="2304008" y="109639"/>
                  </a:lnTo>
                  <a:lnTo>
                    <a:pt x="2304008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2303995" y="3346361"/>
              <a:ext cx="2304415" cy="109855"/>
            </a:xfrm>
            <a:custGeom>
              <a:avLst/>
              <a:gdLst/>
              <a:ahLst/>
              <a:cxnLst/>
              <a:rect l="l" t="t" r="r" b="b"/>
              <a:pathLst>
                <a:path w="2304415" h="109854">
                  <a:moveTo>
                    <a:pt x="2303996" y="0"/>
                  </a:moveTo>
                  <a:lnTo>
                    <a:pt x="1920024" y="0"/>
                  </a:lnTo>
                  <a:lnTo>
                    <a:pt x="0" y="0"/>
                  </a:lnTo>
                  <a:lnTo>
                    <a:pt x="0" y="109639"/>
                  </a:lnTo>
                  <a:lnTo>
                    <a:pt x="1920024" y="109639"/>
                  </a:lnTo>
                  <a:lnTo>
                    <a:pt x="2303996" y="109639"/>
                  </a:lnTo>
                  <a:lnTo>
                    <a:pt x="2303996" y="0"/>
                  </a:lnTo>
                  <a:close/>
                </a:path>
              </a:pathLst>
            </a:custGeom>
            <a:solidFill>
              <a:srgbClr val="8C205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2" name="object 12"/>
          <p:cNvSpPr txBox="1">
            <a:spLocks noGrp="1"/>
          </p:cNvSpPr>
          <p:nvPr>
            <p:ph type="dt" sz="half" idx="6"/>
          </p:nvPr>
        </p:nvSpPr>
        <p:spPr>
          <a:xfrm>
            <a:off x="1506396" y="3351784"/>
            <a:ext cx="570053" cy="8976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5"/>
              </a:lnSpc>
            </a:pPr>
            <a:r>
              <a:rPr lang="en-US" spc="10" dirty="0"/>
              <a:t>Summer 2026</a:t>
            </a:r>
            <a:endParaRPr lang="en-US" spc="-20" dirty="0"/>
          </a:p>
        </p:txBody>
      </p:sp>
      <p:sp>
        <p:nvSpPr>
          <p:cNvPr id="13" name="object 13"/>
          <p:cNvSpPr txBox="1"/>
          <p:nvPr/>
        </p:nvSpPr>
        <p:spPr>
          <a:xfrm>
            <a:off x="3086696" y="3351784"/>
            <a:ext cx="354965" cy="10223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5"/>
              </a:lnSpc>
            </a:pPr>
            <a:r>
              <a:rPr sz="600" spc="5" dirty="0">
                <a:solidFill>
                  <a:srgbClr val="FFFFFF"/>
                </a:solidFill>
                <a:latin typeface="Microsoft Sans Serif"/>
                <a:cs typeface="Microsoft Sans Serif"/>
              </a:rPr>
              <a:t>Tutorial</a:t>
            </a:r>
            <a:r>
              <a:rPr sz="600" spc="-10" dirty="0">
                <a:solidFill>
                  <a:srgbClr val="FFFFFF"/>
                </a:solidFill>
                <a:latin typeface="Microsoft Sans Serif"/>
                <a:cs typeface="Microsoft Sans Serif"/>
              </a:rPr>
              <a:t> </a:t>
            </a:r>
            <a:r>
              <a:rPr sz="600" spc="-20" dirty="0">
                <a:solidFill>
                  <a:srgbClr val="FFFFFF"/>
                </a:solidFill>
                <a:latin typeface="Microsoft Sans Serif"/>
                <a:cs typeface="Microsoft Sans Serif"/>
              </a:rPr>
              <a:t>1</a:t>
            </a:r>
            <a:endParaRPr sz="600" dirty="0">
              <a:latin typeface="Microsoft Sans Serif"/>
              <a:cs typeface="Microsoft Sans Serif"/>
            </a:endParaRPr>
          </a:p>
        </p:txBody>
      </p:sp>
      <p:sp>
        <p:nvSpPr>
          <p:cNvPr id="11" name="Footer Placeholder 10"/>
          <p:cNvSpPr>
            <a:spLocks noGrp="1"/>
          </p:cNvSpPr>
          <p:nvPr>
            <p:ph type="ftr" sz="quarter" idx="5"/>
          </p:nvPr>
        </p:nvSpPr>
        <p:spPr>
          <a:xfrm>
            <a:off x="346620" y="3351783"/>
            <a:ext cx="663029" cy="207391"/>
          </a:xfrm>
        </p:spPr>
        <p:txBody>
          <a:bodyPr/>
          <a:lstStyle/>
          <a:p>
            <a:pPr marL="12700">
              <a:lnSpc>
                <a:spcPts val="675"/>
              </a:lnSpc>
            </a:pPr>
            <a:r>
              <a:rPr lang="en-US" spc="-20" dirty="0"/>
              <a:t>By Hazem</a:t>
            </a:r>
            <a:r>
              <a:rPr lang="en-US" spc="-5" dirty="0"/>
              <a:t> </a:t>
            </a:r>
            <a:r>
              <a:rPr lang="en-US" dirty="0"/>
              <a:t>Nabil</a:t>
            </a:r>
          </a:p>
        </p:txBody>
      </p:sp>
      <p:sp>
        <p:nvSpPr>
          <p:cNvPr id="14" name="Slide Number Placeholder 14">
            <a:extLst>
              <a:ext uri="{FF2B5EF4-FFF2-40B4-BE49-F238E27FC236}">
                <a16:creationId xmlns:a16="http://schemas.microsoft.com/office/drawing/2014/main" id="{28F61C02-527C-AF49-CC41-64DDE0E74F4A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>
          <a:xfrm>
            <a:off x="4246994" y="3351784"/>
            <a:ext cx="344804" cy="89768"/>
          </a:xfrm>
        </p:spPr>
        <p:txBody>
          <a:bodyPr/>
          <a:lstStyle/>
          <a:p>
            <a:pPr marL="38100">
              <a:lnSpc>
                <a:spcPts val="675"/>
              </a:lnSpc>
            </a:pPr>
            <a:fld id="{81D60167-4931-47E6-BA6A-407CBD079E47}" type="slidenum">
              <a:rPr lang="en-US" spc="-20" smtClean="0"/>
              <a:t>2</a:t>
            </a:fld>
            <a:r>
              <a:rPr lang="en-US" spc="20" dirty="0"/>
              <a:t> </a:t>
            </a:r>
            <a:r>
              <a:rPr lang="en-US" spc="150" dirty="0"/>
              <a:t>/</a:t>
            </a:r>
            <a:r>
              <a:rPr lang="en-US" spc="20" dirty="0"/>
              <a:t> </a:t>
            </a:r>
            <a:r>
              <a:rPr lang="en-US" spc="-20" dirty="0"/>
              <a:t>20</a:t>
            </a:r>
          </a:p>
        </p:txBody>
      </p:sp>
    </p:spTree>
  </p:cSld>
  <p:clrMapOvr>
    <a:masterClrMapping/>
  </p:clrMapOvr>
  <p:transition>
    <p:cut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268450" y="0"/>
            <a:ext cx="940435" cy="382270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441325" marR="5080" indent="73025" algn="r">
              <a:lnSpc>
                <a:spcPts val="700"/>
              </a:lnSpc>
              <a:spcBef>
                <a:spcPts val="135"/>
              </a:spcBef>
            </a:pPr>
            <a:r>
              <a:rPr sz="600" spc="10" dirty="0">
                <a:solidFill>
                  <a:srgbClr val="FFFFFF"/>
                </a:solidFill>
                <a:latin typeface="Microsoft Sans Serif"/>
                <a:cs typeface="Microsoft Sans Serif"/>
              </a:rPr>
              <a:t>Intr</a:t>
            </a:r>
            <a:r>
              <a:rPr sz="600" spc="30" dirty="0">
                <a:solidFill>
                  <a:srgbClr val="FFFFFF"/>
                </a:solidFill>
                <a:latin typeface="Microsoft Sans Serif"/>
                <a:cs typeface="Microsoft Sans Serif"/>
              </a:rPr>
              <a:t>o</a:t>
            </a:r>
            <a:r>
              <a:rPr sz="600" dirty="0">
                <a:solidFill>
                  <a:srgbClr val="FFFFFF"/>
                </a:solidFill>
                <a:latin typeface="Microsoft Sans Serif"/>
                <a:cs typeface="Microsoft Sans Serif"/>
              </a:rPr>
              <a:t>duction  </a:t>
            </a:r>
            <a:r>
              <a:rPr sz="600" spc="-30" dirty="0">
                <a:solidFill>
                  <a:srgbClr val="7F7F7F"/>
                </a:solidFill>
                <a:latin typeface="Microsoft Sans Serif"/>
                <a:cs typeface="Microsoft Sans Serif"/>
              </a:rPr>
              <a:t>Cours</a:t>
            </a:r>
            <a:r>
              <a:rPr sz="600" spc="-25" dirty="0">
                <a:solidFill>
                  <a:srgbClr val="7F7F7F"/>
                </a:solidFill>
                <a:latin typeface="Microsoft Sans Serif"/>
                <a:cs typeface="Microsoft Sans Serif"/>
              </a:rPr>
              <a:t>e</a:t>
            </a:r>
            <a:r>
              <a:rPr sz="600" spc="50" dirty="0">
                <a:solidFill>
                  <a:srgbClr val="7F7F7F"/>
                </a:solidFill>
                <a:latin typeface="Microsoft Sans Serif"/>
                <a:cs typeface="Microsoft Sans Serif"/>
              </a:rPr>
              <a:t> </a:t>
            </a:r>
            <a:r>
              <a:rPr sz="600" spc="-5" dirty="0">
                <a:solidFill>
                  <a:srgbClr val="7F7F7F"/>
                </a:solidFill>
                <a:latin typeface="Microsoft Sans Serif"/>
                <a:cs typeface="Microsoft Sans Serif"/>
              </a:rPr>
              <a:t>Details  </a:t>
            </a:r>
            <a:r>
              <a:rPr sz="600" spc="10" dirty="0">
                <a:solidFill>
                  <a:srgbClr val="7F7F7F"/>
                </a:solidFill>
                <a:latin typeface="Microsoft Sans Serif"/>
                <a:cs typeface="Microsoft Sans Serif"/>
              </a:rPr>
              <a:t>Motivation</a:t>
            </a:r>
            <a:endParaRPr sz="600" dirty="0">
              <a:latin typeface="Microsoft Sans Serif"/>
              <a:cs typeface="Microsoft Sans Serif"/>
            </a:endParaRPr>
          </a:p>
          <a:p>
            <a:pPr marR="5080" algn="r">
              <a:lnSpc>
                <a:spcPts val="670"/>
              </a:lnSpc>
            </a:pPr>
            <a:r>
              <a:rPr sz="600" spc="-25" dirty="0">
                <a:solidFill>
                  <a:srgbClr val="7F7F7F"/>
                </a:solidFill>
                <a:latin typeface="Microsoft Sans Serif"/>
                <a:cs typeface="Microsoft Sans Serif"/>
              </a:rPr>
              <a:t>Accessing</a:t>
            </a:r>
            <a:r>
              <a:rPr sz="600" spc="35" dirty="0">
                <a:solidFill>
                  <a:srgbClr val="7F7F7F"/>
                </a:solidFill>
                <a:latin typeface="Microsoft Sans Serif"/>
                <a:cs typeface="Microsoft Sans Serif"/>
              </a:rPr>
              <a:t> </a:t>
            </a:r>
            <a:r>
              <a:rPr sz="600" dirty="0">
                <a:solidFill>
                  <a:srgbClr val="7F7F7F"/>
                </a:solidFill>
                <a:latin typeface="Microsoft Sans Serif"/>
                <a:cs typeface="Microsoft Sans Serif"/>
              </a:rPr>
              <a:t>the</a:t>
            </a:r>
            <a:r>
              <a:rPr sz="600" spc="40" dirty="0">
                <a:solidFill>
                  <a:srgbClr val="7F7F7F"/>
                </a:solidFill>
                <a:latin typeface="Microsoft Sans Serif"/>
                <a:cs typeface="Microsoft Sans Serif"/>
              </a:rPr>
              <a:t> </a:t>
            </a:r>
            <a:r>
              <a:rPr sz="600" spc="-10" dirty="0">
                <a:solidFill>
                  <a:srgbClr val="7F7F7F"/>
                </a:solidFill>
                <a:latin typeface="Microsoft Sans Serif"/>
                <a:cs typeface="Microsoft Sans Serif"/>
              </a:rPr>
              <a:t>Lab</a:t>
            </a:r>
            <a:r>
              <a:rPr sz="600" spc="35" dirty="0">
                <a:solidFill>
                  <a:srgbClr val="7F7F7F"/>
                </a:solidFill>
                <a:latin typeface="Microsoft Sans Serif"/>
                <a:cs typeface="Microsoft Sans Serif"/>
              </a:rPr>
              <a:t> </a:t>
            </a:r>
            <a:r>
              <a:rPr sz="600" spc="5" dirty="0">
                <a:solidFill>
                  <a:srgbClr val="7F7F7F"/>
                </a:solidFill>
                <a:latin typeface="Microsoft Sans Serif"/>
                <a:cs typeface="Microsoft Sans Serif"/>
              </a:rPr>
              <a:t>Material</a:t>
            </a:r>
            <a:endParaRPr sz="600" dirty="0">
              <a:latin typeface="Microsoft Sans Serif"/>
              <a:cs typeface="Microsoft Sans Serif"/>
            </a:endParaRP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303995" y="0"/>
            <a:ext cx="2304008" cy="366928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2679966" y="129636"/>
            <a:ext cx="1438910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900" b="1" spc="-20" dirty="0">
                <a:solidFill>
                  <a:srgbClr val="FFFFFF"/>
                </a:solidFill>
                <a:latin typeface="Trebuchet MS"/>
                <a:cs typeface="Trebuchet MS"/>
              </a:rPr>
              <a:t>German</a:t>
            </a:r>
            <a:r>
              <a:rPr sz="900" b="1" spc="40" dirty="0">
                <a:solidFill>
                  <a:srgbClr val="FFFFFF"/>
                </a:solidFill>
                <a:latin typeface="Trebuchet MS"/>
                <a:cs typeface="Trebuchet MS"/>
              </a:rPr>
              <a:t> </a:t>
            </a:r>
            <a:r>
              <a:rPr sz="900" b="1" spc="-25" dirty="0">
                <a:solidFill>
                  <a:srgbClr val="FFFFFF"/>
                </a:solidFill>
                <a:latin typeface="Trebuchet MS"/>
                <a:cs typeface="Trebuchet MS"/>
              </a:rPr>
              <a:t>University</a:t>
            </a:r>
            <a:r>
              <a:rPr sz="900" b="1" spc="45" dirty="0">
                <a:solidFill>
                  <a:srgbClr val="FFFFFF"/>
                </a:solidFill>
                <a:latin typeface="Trebuchet MS"/>
                <a:cs typeface="Trebuchet MS"/>
              </a:rPr>
              <a:t> </a:t>
            </a:r>
            <a:r>
              <a:rPr sz="900" b="1" spc="-35" dirty="0">
                <a:solidFill>
                  <a:srgbClr val="FFFFFF"/>
                </a:solidFill>
                <a:latin typeface="Trebuchet MS"/>
                <a:cs typeface="Trebuchet MS"/>
              </a:rPr>
              <a:t>in</a:t>
            </a:r>
            <a:r>
              <a:rPr sz="900" b="1" spc="40" dirty="0">
                <a:solidFill>
                  <a:srgbClr val="FFFFFF"/>
                </a:solidFill>
                <a:latin typeface="Trebuchet MS"/>
                <a:cs typeface="Trebuchet MS"/>
              </a:rPr>
              <a:t> </a:t>
            </a:r>
            <a:r>
              <a:rPr sz="900" b="1" spc="-15" dirty="0">
                <a:solidFill>
                  <a:srgbClr val="FFFFFF"/>
                </a:solidFill>
                <a:latin typeface="Trebuchet MS"/>
                <a:cs typeface="Trebuchet MS"/>
              </a:rPr>
              <a:t>Cairo</a:t>
            </a:r>
            <a:endParaRPr sz="900">
              <a:latin typeface="Trebuchet MS"/>
              <a:cs typeface="Trebuchet MS"/>
            </a:endParaRPr>
          </a:p>
        </p:txBody>
      </p:sp>
      <p:pic>
        <p:nvPicPr>
          <p:cNvPr id="5" name="object 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0" y="366911"/>
            <a:ext cx="4604410" cy="260646"/>
          </a:xfrm>
          <a:prstGeom prst="rect">
            <a:avLst/>
          </a:prstGeom>
        </p:spPr>
      </p:pic>
      <p:sp>
        <p:nvSpPr>
          <p:cNvPr id="6" name="object 6"/>
          <p:cNvSpPr/>
          <p:nvPr/>
        </p:nvSpPr>
        <p:spPr>
          <a:xfrm>
            <a:off x="309193" y="933678"/>
            <a:ext cx="3989704" cy="187960"/>
          </a:xfrm>
          <a:custGeom>
            <a:avLst/>
            <a:gdLst/>
            <a:ahLst/>
            <a:cxnLst/>
            <a:rect l="l" t="t" r="r" b="b"/>
            <a:pathLst>
              <a:path w="3989704" h="187959">
                <a:moveTo>
                  <a:pt x="3938852" y="0"/>
                </a:moveTo>
                <a:lnTo>
                  <a:pt x="50800" y="0"/>
                </a:lnTo>
                <a:lnTo>
                  <a:pt x="31075" y="4008"/>
                </a:lnTo>
                <a:lnTo>
                  <a:pt x="14922" y="14922"/>
                </a:lnTo>
                <a:lnTo>
                  <a:pt x="4008" y="31075"/>
                </a:lnTo>
                <a:lnTo>
                  <a:pt x="0" y="50800"/>
                </a:lnTo>
                <a:lnTo>
                  <a:pt x="0" y="187823"/>
                </a:lnTo>
                <a:lnTo>
                  <a:pt x="3989652" y="187823"/>
                </a:lnTo>
                <a:lnTo>
                  <a:pt x="3989652" y="50800"/>
                </a:lnTo>
                <a:lnTo>
                  <a:pt x="3985644" y="31075"/>
                </a:lnTo>
                <a:lnTo>
                  <a:pt x="3974729" y="14922"/>
                </a:lnTo>
                <a:lnTo>
                  <a:pt x="3958576" y="4008"/>
                </a:lnTo>
                <a:lnTo>
                  <a:pt x="3938852" y="0"/>
                </a:lnTo>
                <a:close/>
              </a:path>
            </a:pathLst>
          </a:custGeom>
          <a:solidFill>
            <a:srgbClr val="69183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 txBox="1"/>
          <p:nvPr/>
        </p:nvSpPr>
        <p:spPr>
          <a:xfrm>
            <a:off x="197218" y="364347"/>
            <a:ext cx="1405255" cy="75628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en-US" sz="1400" spc="-50" dirty="0">
                <a:solidFill>
                  <a:srgbClr val="FFFFFF"/>
                </a:solidFill>
                <a:latin typeface="Trebuchet MS"/>
                <a:cs typeface="Trebuchet MS"/>
              </a:rPr>
              <a:t>Introduction</a:t>
            </a:r>
            <a:r>
              <a:rPr lang="en-US" sz="1400" spc="15" dirty="0">
                <a:solidFill>
                  <a:srgbClr val="FFFFFF"/>
                </a:solidFill>
                <a:latin typeface="Trebuchet MS"/>
                <a:cs typeface="Trebuchet MS"/>
              </a:rPr>
              <a:t> </a:t>
            </a:r>
            <a:r>
              <a:rPr lang="en-US" sz="1400" spc="-50" dirty="0">
                <a:solidFill>
                  <a:srgbClr val="FFFFFF"/>
                </a:solidFill>
                <a:latin typeface="Trebuchet MS"/>
                <a:cs typeface="Trebuchet MS"/>
              </a:rPr>
              <a:t>-</a:t>
            </a:r>
            <a:r>
              <a:rPr lang="en-US" sz="1400" spc="15" dirty="0">
                <a:solidFill>
                  <a:srgbClr val="FFFFFF"/>
                </a:solidFill>
                <a:latin typeface="Trebuchet MS"/>
                <a:cs typeface="Trebuchet MS"/>
              </a:rPr>
              <a:t> </a:t>
            </a:r>
            <a:r>
              <a:rPr lang="en-US" sz="1400" spc="30" dirty="0">
                <a:solidFill>
                  <a:srgbClr val="FFFFFF"/>
                </a:solidFill>
                <a:latin typeface="Trebuchet MS"/>
                <a:cs typeface="Trebuchet MS"/>
              </a:rPr>
              <a:t>TAs</a:t>
            </a:r>
            <a:endParaRPr lang="en-US" sz="1400" dirty="0">
              <a:latin typeface="Trebuchet MS"/>
              <a:cs typeface="Trebuchet MS"/>
            </a:endParaRPr>
          </a:p>
          <a:p>
            <a:pPr>
              <a:lnSpc>
                <a:spcPct val="100000"/>
              </a:lnSpc>
            </a:pPr>
            <a:endParaRPr lang="en-US" sz="1400" dirty="0">
              <a:latin typeface="Trebuchet MS"/>
              <a:cs typeface="Trebuchet MS"/>
            </a:endParaRPr>
          </a:p>
          <a:p>
            <a:pPr marL="162560">
              <a:lnSpc>
                <a:spcPct val="100000"/>
              </a:lnSpc>
              <a:spcBef>
                <a:spcPts val="969"/>
              </a:spcBef>
            </a:pPr>
            <a:r>
              <a:rPr lang="en-US" sz="1200" spc="-65" dirty="0">
                <a:solidFill>
                  <a:srgbClr val="FFFFFF"/>
                </a:solidFill>
                <a:latin typeface="Trebuchet MS"/>
                <a:cs typeface="Trebuchet MS"/>
              </a:rPr>
              <a:t>Abdullah Khodary</a:t>
            </a:r>
            <a:endParaRPr lang="en-US" sz="1200" dirty="0">
              <a:latin typeface="Trebuchet MS"/>
              <a:cs typeface="Trebuchet MS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307353" y="1115259"/>
            <a:ext cx="3989704" cy="802640"/>
            <a:chOff x="309193" y="1108849"/>
            <a:chExt cx="3989704" cy="802640"/>
          </a:xfrm>
        </p:grpSpPr>
        <p:pic>
          <p:nvPicPr>
            <p:cNvPr id="9" name="object 9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309194" y="1108849"/>
              <a:ext cx="3989651" cy="50609"/>
            </a:xfrm>
            <a:prstGeom prst="rect">
              <a:avLst/>
            </a:prstGeom>
          </p:spPr>
        </p:pic>
        <p:sp>
          <p:nvSpPr>
            <p:cNvPr id="10" name="object 10"/>
            <p:cNvSpPr/>
            <p:nvPr/>
          </p:nvSpPr>
          <p:spPr>
            <a:xfrm>
              <a:off x="309193" y="1153120"/>
              <a:ext cx="3989704" cy="758190"/>
            </a:xfrm>
            <a:custGeom>
              <a:avLst/>
              <a:gdLst/>
              <a:ahLst/>
              <a:cxnLst/>
              <a:rect l="l" t="t" r="r" b="b"/>
              <a:pathLst>
                <a:path w="3989704" h="758189">
                  <a:moveTo>
                    <a:pt x="3989652" y="0"/>
                  </a:moveTo>
                  <a:lnTo>
                    <a:pt x="0" y="0"/>
                  </a:lnTo>
                  <a:lnTo>
                    <a:pt x="0" y="707238"/>
                  </a:lnTo>
                  <a:lnTo>
                    <a:pt x="4008" y="726963"/>
                  </a:lnTo>
                  <a:lnTo>
                    <a:pt x="14922" y="743116"/>
                  </a:lnTo>
                  <a:lnTo>
                    <a:pt x="31075" y="754030"/>
                  </a:lnTo>
                  <a:lnTo>
                    <a:pt x="50800" y="758039"/>
                  </a:lnTo>
                  <a:lnTo>
                    <a:pt x="3938852" y="758039"/>
                  </a:lnTo>
                  <a:lnTo>
                    <a:pt x="3958576" y="754030"/>
                  </a:lnTo>
                  <a:lnTo>
                    <a:pt x="3974729" y="743116"/>
                  </a:lnTo>
                  <a:lnTo>
                    <a:pt x="3985644" y="726963"/>
                  </a:lnTo>
                  <a:lnTo>
                    <a:pt x="3989652" y="707238"/>
                  </a:lnTo>
                  <a:lnTo>
                    <a:pt x="3989652" y="0"/>
                  </a:lnTo>
                  <a:close/>
                </a:path>
              </a:pathLst>
            </a:custGeom>
            <a:solidFill>
              <a:srgbClr val="F0E7E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1" name="object 11"/>
          <p:cNvSpPr txBox="1"/>
          <p:nvPr/>
        </p:nvSpPr>
        <p:spPr>
          <a:xfrm>
            <a:off x="423214" y="1147634"/>
            <a:ext cx="749300" cy="708025"/>
          </a:xfrm>
          <a:prstGeom prst="rect">
            <a:avLst/>
          </a:prstGeom>
        </p:spPr>
        <p:txBody>
          <a:bodyPr vert="horz" wrap="square" lIns="0" tIns="6985" rIns="0" bIns="0" rtlCol="0">
            <a:spAutoFit/>
          </a:bodyPr>
          <a:lstStyle/>
          <a:p>
            <a:pPr marL="398145" marR="5080" indent="12065" algn="r">
              <a:lnSpc>
                <a:spcPct val="102699"/>
              </a:lnSpc>
              <a:spcBef>
                <a:spcPts val="55"/>
              </a:spcBef>
            </a:pPr>
            <a:r>
              <a:rPr lang="en-US" sz="1100" spc="-40" dirty="0">
                <a:latin typeface="Microsoft Sans Serif"/>
                <a:cs typeface="Microsoft Sans Serif"/>
              </a:rPr>
              <a:t>Email  Office</a:t>
            </a:r>
            <a:endParaRPr lang="en-US" sz="1100" dirty="0">
              <a:latin typeface="Microsoft Sans Serif"/>
              <a:cs typeface="Microsoft Sans Serif"/>
            </a:endParaRPr>
          </a:p>
          <a:p>
            <a:pPr marR="5080" algn="r">
              <a:lnSpc>
                <a:spcPct val="100000"/>
              </a:lnSpc>
              <a:spcBef>
                <a:spcPts val="35"/>
              </a:spcBef>
            </a:pPr>
            <a:r>
              <a:rPr lang="en-US" sz="1100" spc="-40" dirty="0">
                <a:latin typeface="Microsoft Sans Serif"/>
                <a:cs typeface="Microsoft Sans Serif"/>
              </a:rPr>
              <a:t>Office</a:t>
            </a:r>
            <a:r>
              <a:rPr lang="en-US" sz="1100" dirty="0">
                <a:latin typeface="Microsoft Sans Serif"/>
                <a:cs typeface="Microsoft Sans Serif"/>
              </a:rPr>
              <a:t> </a:t>
            </a:r>
            <a:r>
              <a:rPr lang="en-US" sz="1100" spc="-55" dirty="0">
                <a:latin typeface="Microsoft Sans Serif"/>
                <a:cs typeface="Microsoft Sans Serif"/>
              </a:rPr>
              <a:t>Hours</a:t>
            </a:r>
            <a:endParaRPr lang="en-US" sz="1100" dirty="0">
              <a:latin typeface="Microsoft Sans Serif"/>
              <a:cs typeface="Microsoft Sans Serif"/>
            </a:endParaRPr>
          </a:p>
          <a:p>
            <a:pPr marR="5080" algn="r">
              <a:lnSpc>
                <a:spcPct val="100000"/>
              </a:lnSpc>
              <a:spcBef>
                <a:spcPts val="35"/>
              </a:spcBef>
            </a:pPr>
            <a:r>
              <a:rPr lang="en-US" sz="1100" spc="-35" dirty="0">
                <a:latin typeface="Microsoft Sans Serif"/>
                <a:cs typeface="Microsoft Sans Serif"/>
              </a:rPr>
              <a:t>Day-off</a:t>
            </a:r>
            <a:endParaRPr sz="1100" dirty="0">
              <a:latin typeface="Microsoft Sans Serif"/>
              <a:cs typeface="Microsoft Sans Serif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1298254" y="1147634"/>
            <a:ext cx="2073596" cy="686663"/>
          </a:xfrm>
          <a:prstGeom prst="rect">
            <a:avLst/>
          </a:prstGeom>
        </p:spPr>
        <p:txBody>
          <a:bodyPr vert="horz" wrap="square" lIns="0" tIns="11430" rIns="0" bIns="0" rtlCol="0" anchor="t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spc="20" dirty="0">
                <a:latin typeface="Microsoft Sans Serif" panose="020B0604020202020204" pitchFamily="34" charset="0"/>
                <a:cs typeface="Microsoft Sans Serif" panose="020B0604020202020204" pitchFamily="34" charset="0"/>
                <a:hlinkClick r:id="rId5"/>
              </a:rPr>
              <a:t>abdullah.farag@guc.edu.eg</a:t>
            </a:r>
            <a:endParaRPr lang="en-US" sz="1100" dirty="0"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  <a:p>
            <a:pPr marL="12700">
              <a:lnSpc>
                <a:spcPct val="100000"/>
              </a:lnSpc>
              <a:spcBef>
                <a:spcPts val="35"/>
              </a:spcBef>
            </a:pPr>
            <a:r>
              <a:rPr lang="en-US" sz="1100" spc="-50" dirty="0">
                <a:latin typeface="Microsoft Sans Serif"/>
                <a:cs typeface="Microsoft Sans Serif"/>
              </a:rPr>
              <a:t>B1.322</a:t>
            </a:r>
            <a:endParaRPr lang="en-US" sz="1100" dirty="0">
              <a:latin typeface="Microsoft Sans Serif"/>
              <a:cs typeface="Microsoft Sans Serif"/>
            </a:endParaRPr>
          </a:p>
          <a:p>
            <a:pPr marL="12700" marR="5080" indent="-635">
              <a:lnSpc>
                <a:spcPct val="102600"/>
              </a:lnSpc>
            </a:pPr>
            <a:r>
              <a:rPr lang="en-US" sz="1100" spc="-65" dirty="0">
                <a:latin typeface="Microsoft Sans Serif"/>
                <a:cs typeface="Microsoft Sans Serif"/>
              </a:rPr>
              <a:t>by</a:t>
            </a:r>
            <a:r>
              <a:rPr lang="en-US" sz="1100" spc="55" dirty="0">
                <a:latin typeface="Microsoft Sans Serif"/>
                <a:cs typeface="Microsoft Sans Serif"/>
              </a:rPr>
              <a:t> </a:t>
            </a:r>
            <a:r>
              <a:rPr lang="en-US" sz="1100" spc="-30" dirty="0">
                <a:latin typeface="Microsoft Sans Serif"/>
                <a:cs typeface="Microsoft Sans Serif"/>
              </a:rPr>
              <a:t>appointment </a:t>
            </a:r>
            <a:r>
              <a:rPr lang="en-US" sz="1100" spc="-275" dirty="0">
                <a:latin typeface="Microsoft Sans Serif"/>
                <a:cs typeface="Microsoft Sans Serif"/>
              </a:rPr>
              <a:t> </a:t>
            </a:r>
          </a:p>
          <a:p>
            <a:pPr marL="12700" marR="5080" indent="-635">
              <a:lnSpc>
                <a:spcPct val="102600"/>
              </a:lnSpc>
            </a:pPr>
            <a:r>
              <a:rPr lang="en-US" sz="1100" spc="-80" dirty="0">
                <a:latin typeface="Microsoft Sans Serif"/>
                <a:cs typeface="Microsoft Sans Serif"/>
              </a:rPr>
              <a:t>Saturday</a:t>
            </a:r>
            <a:endParaRPr lang="en-US" sz="1100" dirty="0">
              <a:latin typeface="Microsoft Sans Serif"/>
              <a:ea typeface="Microsoft Sans Serif"/>
              <a:cs typeface="Microsoft Sans Serif"/>
            </a:endParaRPr>
          </a:p>
        </p:txBody>
      </p:sp>
      <p:grpSp>
        <p:nvGrpSpPr>
          <p:cNvPr id="20" name="object 20"/>
          <p:cNvGrpSpPr/>
          <p:nvPr/>
        </p:nvGrpSpPr>
        <p:grpSpPr>
          <a:xfrm>
            <a:off x="0" y="3346348"/>
            <a:ext cx="4608195" cy="109855"/>
            <a:chOff x="0" y="3346348"/>
            <a:chExt cx="4608195" cy="109855"/>
          </a:xfrm>
        </p:grpSpPr>
        <p:sp>
          <p:nvSpPr>
            <p:cNvPr id="21" name="object 21"/>
            <p:cNvSpPr/>
            <p:nvPr/>
          </p:nvSpPr>
          <p:spPr>
            <a:xfrm>
              <a:off x="0" y="3346348"/>
              <a:ext cx="2304415" cy="109855"/>
            </a:xfrm>
            <a:custGeom>
              <a:avLst/>
              <a:gdLst/>
              <a:ahLst/>
              <a:cxnLst/>
              <a:rect l="l" t="t" r="r" b="b"/>
              <a:pathLst>
                <a:path w="2304415" h="109854">
                  <a:moveTo>
                    <a:pt x="2304008" y="0"/>
                  </a:moveTo>
                  <a:lnTo>
                    <a:pt x="1152004" y="0"/>
                  </a:lnTo>
                  <a:lnTo>
                    <a:pt x="0" y="0"/>
                  </a:lnTo>
                  <a:lnTo>
                    <a:pt x="0" y="109651"/>
                  </a:lnTo>
                  <a:lnTo>
                    <a:pt x="1152004" y="109651"/>
                  </a:lnTo>
                  <a:lnTo>
                    <a:pt x="2304008" y="109651"/>
                  </a:lnTo>
                  <a:lnTo>
                    <a:pt x="2304008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2" name="object 22"/>
            <p:cNvSpPr/>
            <p:nvPr/>
          </p:nvSpPr>
          <p:spPr>
            <a:xfrm>
              <a:off x="2303995" y="3346348"/>
              <a:ext cx="2304415" cy="109855"/>
            </a:xfrm>
            <a:custGeom>
              <a:avLst/>
              <a:gdLst/>
              <a:ahLst/>
              <a:cxnLst/>
              <a:rect l="l" t="t" r="r" b="b"/>
              <a:pathLst>
                <a:path w="2304415" h="109854">
                  <a:moveTo>
                    <a:pt x="2303996" y="0"/>
                  </a:moveTo>
                  <a:lnTo>
                    <a:pt x="1920024" y="0"/>
                  </a:lnTo>
                  <a:lnTo>
                    <a:pt x="0" y="0"/>
                  </a:lnTo>
                  <a:lnTo>
                    <a:pt x="0" y="109651"/>
                  </a:lnTo>
                  <a:lnTo>
                    <a:pt x="1920024" y="109651"/>
                  </a:lnTo>
                  <a:lnTo>
                    <a:pt x="2303996" y="109651"/>
                  </a:lnTo>
                  <a:lnTo>
                    <a:pt x="2303996" y="0"/>
                  </a:lnTo>
                  <a:close/>
                </a:path>
              </a:pathLst>
            </a:custGeom>
            <a:solidFill>
              <a:srgbClr val="8C205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5" name="object 25"/>
          <p:cNvSpPr txBox="1"/>
          <p:nvPr/>
        </p:nvSpPr>
        <p:spPr>
          <a:xfrm>
            <a:off x="3086696" y="3351784"/>
            <a:ext cx="354965" cy="10223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5"/>
              </a:lnSpc>
            </a:pPr>
            <a:r>
              <a:rPr sz="600" spc="5" dirty="0">
                <a:solidFill>
                  <a:srgbClr val="FFFFFF"/>
                </a:solidFill>
                <a:latin typeface="Microsoft Sans Serif"/>
                <a:cs typeface="Microsoft Sans Serif"/>
              </a:rPr>
              <a:t>Tutorial</a:t>
            </a:r>
            <a:r>
              <a:rPr sz="600" spc="-10" dirty="0">
                <a:solidFill>
                  <a:srgbClr val="FFFFFF"/>
                </a:solidFill>
                <a:latin typeface="Microsoft Sans Serif"/>
                <a:cs typeface="Microsoft Sans Serif"/>
              </a:rPr>
              <a:t> </a:t>
            </a:r>
            <a:r>
              <a:rPr sz="600" spc="-20" dirty="0">
                <a:solidFill>
                  <a:srgbClr val="FFFFFF"/>
                </a:solidFill>
                <a:latin typeface="Microsoft Sans Serif"/>
                <a:cs typeface="Microsoft Sans Serif"/>
              </a:rPr>
              <a:t>1</a:t>
            </a:r>
            <a:endParaRPr sz="600" dirty="0">
              <a:latin typeface="Microsoft Sans Serif"/>
              <a:cs typeface="Microsoft Sans Serif"/>
            </a:endParaRPr>
          </a:p>
        </p:txBody>
      </p:sp>
      <p:sp>
        <p:nvSpPr>
          <p:cNvPr id="26" name="object 12">
            <a:extLst>
              <a:ext uri="{FF2B5EF4-FFF2-40B4-BE49-F238E27FC236}">
                <a16:creationId xmlns:a16="http://schemas.microsoft.com/office/drawing/2014/main" id="{D4848A93-C17C-6D74-7580-EAEE71A324D6}"/>
              </a:ext>
            </a:extLst>
          </p:cNvPr>
          <p:cNvSpPr txBox="1">
            <a:spLocks noGrp="1"/>
          </p:cNvSpPr>
          <p:nvPr>
            <p:ph type="dt" sz="half" idx="6"/>
          </p:nvPr>
        </p:nvSpPr>
        <p:spPr>
          <a:xfrm>
            <a:off x="1506396" y="3351784"/>
            <a:ext cx="570053" cy="179536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5"/>
              </a:lnSpc>
            </a:pPr>
            <a:r>
              <a:rPr lang="en-US" spc="10" dirty="0"/>
              <a:t>Summer 2026</a:t>
            </a:r>
            <a:endParaRPr lang="en-US" spc="-20" dirty="0"/>
          </a:p>
          <a:p>
            <a:pPr marL="12700">
              <a:lnSpc>
                <a:spcPts val="675"/>
              </a:lnSpc>
            </a:pPr>
            <a:endParaRPr spc="-20" dirty="0"/>
          </a:p>
        </p:txBody>
      </p:sp>
      <p:sp>
        <p:nvSpPr>
          <p:cNvPr id="27" name="Footer Placeholder 10">
            <a:extLst>
              <a:ext uri="{FF2B5EF4-FFF2-40B4-BE49-F238E27FC236}">
                <a16:creationId xmlns:a16="http://schemas.microsoft.com/office/drawing/2014/main" id="{D56F82EB-FB6D-2421-224B-EB1BB6714814}"/>
              </a:ext>
            </a:extLst>
          </p:cNvPr>
          <p:cNvSpPr>
            <a:spLocks noGrp="1"/>
          </p:cNvSpPr>
          <p:nvPr>
            <p:ph type="ftr" sz="quarter" idx="5"/>
          </p:nvPr>
        </p:nvSpPr>
        <p:spPr>
          <a:xfrm>
            <a:off x="346620" y="3351783"/>
            <a:ext cx="663029" cy="207391"/>
          </a:xfrm>
        </p:spPr>
        <p:txBody>
          <a:bodyPr/>
          <a:lstStyle/>
          <a:p>
            <a:pPr marL="12700">
              <a:lnSpc>
                <a:spcPts val="675"/>
              </a:lnSpc>
            </a:pPr>
            <a:r>
              <a:rPr lang="en-US" spc="-20" dirty="0"/>
              <a:t>By Hazem</a:t>
            </a:r>
            <a:r>
              <a:rPr lang="en-US" spc="-5" dirty="0"/>
              <a:t> </a:t>
            </a:r>
            <a:r>
              <a:rPr lang="en-US" dirty="0"/>
              <a:t>Nabil</a:t>
            </a:r>
          </a:p>
        </p:txBody>
      </p:sp>
      <p:sp>
        <p:nvSpPr>
          <p:cNvPr id="23" name="Slide Number Placeholder 14">
            <a:extLst>
              <a:ext uri="{FF2B5EF4-FFF2-40B4-BE49-F238E27FC236}">
                <a16:creationId xmlns:a16="http://schemas.microsoft.com/office/drawing/2014/main" id="{07B325F9-7352-983E-606E-FCE076807207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>
          <a:xfrm>
            <a:off x="4246994" y="3351784"/>
            <a:ext cx="344804" cy="89768"/>
          </a:xfrm>
        </p:spPr>
        <p:txBody>
          <a:bodyPr/>
          <a:lstStyle/>
          <a:p>
            <a:pPr marL="38100">
              <a:lnSpc>
                <a:spcPts val="675"/>
              </a:lnSpc>
            </a:pPr>
            <a:fld id="{81D60167-4931-47E6-BA6A-407CBD079E47}" type="slidenum">
              <a:rPr lang="en-US" spc="-20" smtClean="0"/>
              <a:t>3</a:t>
            </a:fld>
            <a:r>
              <a:rPr lang="en-US" spc="20" dirty="0"/>
              <a:t> </a:t>
            </a:r>
            <a:r>
              <a:rPr lang="en-US" spc="150" dirty="0"/>
              <a:t>/</a:t>
            </a:r>
            <a:r>
              <a:rPr lang="en-US" spc="20" dirty="0"/>
              <a:t> </a:t>
            </a:r>
            <a:r>
              <a:rPr lang="en-US" spc="-20" dirty="0"/>
              <a:t>20</a:t>
            </a:r>
          </a:p>
        </p:txBody>
      </p:sp>
      <p:sp>
        <p:nvSpPr>
          <p:cNvPr id="13" name="object 6">
            <a:extLst>
              <a:ext uri="{FF2B5EF4-FFF2-40B4-BE49-F238E27FC236}">
                <a16:creationId xmlns:a16="http://schemas.microsoft.com/office/drawing/2014/main" id="{F9BA9C87-5746-8121-8C0C-DB282AB11FD3}"/>
              </a:ext>
            </a:extLst>
          </p:cNvPr>
          <p:cNvSpPr/>
          <p:nvPr/>
        </p:nvSpPr>
        <p:spPr>
          <a:xfrm>
            <a:off x="309141" y="2044444"/>
            <a:ext cx="3989704" cy="187960"/>
          </a:xfrm>
          <a:custGeom>
            <a:avLst/>
            <a:gdLst/>
            <a:ahLst/>
            <a:cxnLst/>
            <a:rect l="l" t="t" r="r" b="b"/>
            <a:pathLst>
              <a:path w="3989704" h="187959">
                <a:moveTo>
                  <a:pt x="3938852" y="0"/>
                </a:moveTo>
                <a:lnTo>
                  <a:pt x="50800" y="0"/>
                </a:lnTo>
                <a:lnTo>
                  <a:pt x="31075" y="4008"/>
                </a:lnTo>
                <a:lnTo>
                  <a:pt x="14922" y="14922"/>
                </a:lnTo>
                <a:lnTo>
                  <a:pt x="4008" y="31075"/>
                </a:lnTo>
                <a:lnTo>
                  <a:pt x="0" y="50800"/>
                </a:lnTo>
                <a:lnTo>
                  <a:pt x="0" y="187823"/>
                </a:lnTo>
                <a:lnTo>
                  <a:pt x="3989652" y="187823"/>
                </a:lnTo>
                <a:lnTo>
                  <a:pt x="3989652" y="50800"/>
                </a:lnTo>
                <a:lnTo>
                  <a:pt x="3985644" y="31075"/>
                </a:lnTo>
                <a:lnTo>
                  <a:pt x="3974729" y="14922"/>
                </a:lnTo>
                <a:lnTo>
                  <a:pt x="3958576" y="4008"/>
                </a:lnTo>
                <a:lnTo>
                  <a:pt x="3938852" y="0"/>
                </a:lnTo>
                <a:close/>
              </a:path>
            </a:pathLst>
          </a:custGeom>
          <a:solidFill>
            <a:srgbClr val="69183F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14" name="object 8">
            <a:extLst>
              <a:ext uri="{FF2B5EF4-FFF2-40B4-BE49-F238E27FC236}">
                <a16:creationId xmlns:a16="http://schemas.microsoft.com/office/drawing/2014/main" id="{1121D5A3-E081-0D46-6ADF-3C8C32D139DA}"/>
              </a:ext>
            </a:extLst>
          </p:cNvPr>
          <p:cNvGrpSpPr/>
          <p:nvPr/>
        </p:nvGrpSpPr>
        <p:grpSpPr>
          <a:xfrm>
            <a:off x="309141" y="2219615"/>
            <a:ext cx="3989704" cy="802640"/>
            <a:chOff x="309193" y="1108849"/>
            <a:chExt cx="3989704" cy="802640"/>
          </a:xfrm>
        </p:grpSpPr>
        <p:pic>
          <p:nvPicPr>
            <p:cNvPr id="15" name="object 9">
              <a:extLst>
                <a:ext uri="{FF2B5EF4-FFF2-40B4-BE49-F238E27FC236}">
                  <a16:creationId xmlns:a16="http://schemas.microsoft.com/office/drawing/2014/main" id="{80F2178E-F99A-A660-084C-F6D9D06CBCF8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309194" y="1108849"/>
              <a:ext cx="3989651" cy="50609"/>
            </a:xfrm>
            <a:prstGeom prst="rect">
              <a:avLst/>
            </a:prstGeom>
          </p:spPr>
        </p:pic>
        <p:sp>
          <p:nvSpPr>
            <p:cNvPr id="16" name="object 10">
              <a:extLst>
                <a:ext uri="{FF2B5EF4-FFF2-40B4-BE49-F238E27FC236}">
                  <a16:creationId xmlns:a16="http://schemas.microsoft.com/office/drawing/2014/main" id="{D355B498-4C3D-6190-4D1B-596E0C944215}"/>
                </a:ext>
              </a:extLst>
            </p:cNvPr>
            <p:cNvSpPr/>
            <p:nvPr/>
          </p:nvSpPr>
          <p:spPr>
            <a:xfrm>
              <a:off x="309193" y="1153120"/>
              <a:ext cx="3989704" cy="758190"/>
            </a:xfrm>
            <a:custGeom>
              <a:avLst/>
              <a:gdLst/>
              <a:ahLst/>
              <a:cxnLst/>
              <a:rect l="l" t="t" r="r" b="b"/>
              <a:pathLst>
                <a:path w="3989704" h="758189">
                  <a:moveTo>
                    <a:pt x="3989652" y="0"/>
                  </a:moveTo>
                  <a:lnTo>
                    <a:pt x="0" y="0"/>
                  </a:lnTo>
                  <a:lnTo>
                    <a:pt x="0" y="707238"/>
                  </a:lnTo>
                  <a:lnTo>
                    <a:pt x="4008" y="726963"/>
                  </a:lnTo>
                  <a:lnTo>
                    <a:pt x="14922" y="743116"/>
                  </a:lnTo>
                  <a:lnTo>
                    <a:pt x="31075" y="754030"/>
                  </a:lnTo>
                  <a:lnTo>
                    <a:pt x="50800" y="758039"/>
                  </a:lnTo>
                  <a:lnTo>
                    <a:pt x="3938852" y="758039"/>
                  </a:lnTo>
                  <a:lnTo>
                    <a:pt x="3958576" y="754030"/>
                  </a:lnTo>
                  <a:lnTo>
                    <a:pt x="3974729" y="743116"/>
                  </a:lnTo>
                  <a:lnTo>
                    <a:pt x="3985644" y="726963"/>
                  </a:lnTo>
                  <a:lnTo>
                    <a:pt x="3989652" y="707238"/>
                  </a:lnTo>
                  <a:lnTo>
                    <a:pt x="3989652" y="0"/>
                  </a:lnTo>
                  <a:close/>
                </a:path>
              </a:pathLst>
            </a:custGeom>
            <a:solidFill>
              <a:srgbClr val="F0E7E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7" name="object 11">
            <a:extLst>
              <a:ext uri="{FF2B5EF4-FFF2-40B4-BE49-F238E27FC236}">
                <a16:creationId xmlns:a16="http://schemas.microsoft.com/office/drawing/2014/main" id="{A2160E14-1450-1ADC-ED93-35FC3E1D2EBC}"/>
              </a:ext>
            </a:extLst>
          </p:cNvPr>
          <p:cNvSpPr txBox="1"/>
          <p:nvPr/>
        </p:nvSpPr>
        <p:spPr>
          <a:xfrm>
            <a:off x="423162" y="2258400"/>
            <a:ext cx="749300" cy="708025"/>
          </a:xfrm>
          <a:prstGeom prst="rect">
            <a:avLst/>
          </a:prstGeom>
        </p:spPr>
        <p:txBody>
          <a:bodyPr vert="horz" wrap="square" lIns="0" tIns="6985" rIns="0" bIns="0" rtlCol="0">
            <a:spAutoFit/>
          </a:bodyPr>
          <a:lstStyle/>
          <a:p>
            <a:pPr marL="398145" marR="5080" indent="12065" algn="r">
              <a:lnSpc>
                <a:spcPct val="102699"/>
              </a:lnSpc>
              <a:spcBef>
                <a:spcPts val="55"/>
              </a:spcBef>
            </a:pPr>
            <a:r>
              <a:rPr lang="en-US" sz="1100" spc="-40" dirty="0">
                <a:latin typeface="Microsoft Sans Serif"/>
                <a:cs typeface="Microsoft Sans Serif"/>
              </a:rPr>
              <a:t>Email  Office</a:t>
            </a:r>
            <a:endParaRPr lang="en-US" sz="1100" dirty="0">
              <a:latin typeface="Microsoft Sans Serif"/>
              <a:cs typeface="Microsoft Sans Serif"/>
            </a:endParaRPr>
          </a:p>
          <a:p>
            <a:pPr marR="5080" algn="r">
              <a:lnSpc>
                <a:spcPct val="100000"/>
              </a:lnSpc>
              <a:spcBef>
                <a:spcPts val="35"/>
              </a:spcBef>
            </a:pPr>
            <a:r>
              <a:rPr lang="en-US" sz="1100" spc="-40" dirty="0">
                <a:latin typeface="Microsoft Sans Serif"/>
                <a:cs typeface="Microsoft Sans Serif"/>
              </a:rPr>
              <a:t>Office</a:t>
            </a:r>
            <a:r>
              <a:rPr lang="en-US" sz="1100" dirty="0">
                <a:latin typeface="Microsoft Sans Serif"/>
                <a:cs typeface="Microsoft Sans Serif"/>
              </a:rPr>
              <a:t> </a:t>
            </a:r>
            <a:r>
              <a:rPr lang="en-US" sz="1100" spc="-55" dirty="0">
                <a:latin typeface="Microsoft Sans Serif"/>
                <a:cs typeface="Microsoft Sans Serif"/>
              </a:rPr>
              <a:t>Hours</a:t>
            </a:r>
            <a:endParaRPr lang="en-US" sz="1100" dirty="0">
              <a:latin typeface="Microsoft Sans Serif"/>
              <a:cs typeface="Microsoft Sans Serif"/>
            </a:endParaRPr>
          </a:p>
          <a:p>
            <a:pPr marR="5080" algn="r">
              <a:lnSpc>
                <a:spcPct val="100000"/>
              </a:lnSpc>
              <a:spcBef>
                <a:spcPts val="35"/>
              </a:spcBef>
            </a:pPr>
            <a:r>
              <a:rPr lang="en-US" sz="1100" spc="-35" dirty="0">
                <a:latin typeface="Microsoft Sans Serif"/>
                <a:cs typeface="Microsoft Sans Serif"/>
              </a:rPr>
              <a:t>Day-off</a:t>
            </a:r>
            <a:endParaRPr sz="1100" dirty="0">
              <a:latin typeface="Microsoft Sans Serif"/>
              <a:cs typeface="Microsoft Sans Serif"/>
            </a:endParaRPr>
          </a:p>
        </p:txBody>
      </p:sp>
      <p:sp>
        <p:nvSpPr>
          <p:cNvPr id="18" name="object 12">
            <a:extLst>
              <a:ext uri="{FF2B5EF4-FFF2-40B4-BE49-F238E27FC236}">
                <a16:creationId xmlns:a16="http://schemas.microsoft.com/office/drawing/2014/main" id="{3FC24DB8-4DF5-05F0-7B20-8126ED806DC8}"/>
              </a:ext>
            </a:extLst>
          </p:cNvPr>
          <p:cNvSpPr txBox="1"/>
          <p:nvPr/>
        </p:nvSpPr>
        <p:spPr>
          <a:xfrm>
            <a:off x="1298202" y="2258400"/>
            <a:ext cx="2073596" cy="686598"/>
          </a:xfrm>
          <a:prstGeom prst="rect">
            <a:avLst/>
          </a:prstGeom>
        </p:spPr>
        <p:txBody>
          <a:bodyPr vert="horz" wrap="square" lIns="0" tIns="11430" rIns="0" bIns="0" rtlCol="0" anchor="t">
            <a:spAutoFit/>
          </a:bodyPr>
          <a:lstStyle/>
          <a:p>
            <a:pPr marL="12700">
              <a:lnSpc>
                <a:spcPct val="100000"/>
              </a:lnSpc>
              <a:spcBef>
                <a:spcPts val="35"/>
              </a:spcBef>
            </a:pPr>
            <a:r>
              <a:rPr lang="en-US" sz="1100" spc="-50" dirty="0">
                <a:latin typeface="Microsoft Sans Serif"/>
                <a:cs typeface="Microsoft Sans Serif"/>
                <a:hlinkClick r:id="rId6"/>
              </a:rPr>
              <a:t>farah.bashir@guc.edu.eg</a:t>
            </a:r>
            <a:endParaRPr lang="en-US" sz="1100" spc="-50" dirty="0">
              <a:latin typeface="Microsoft Sans Serif"/>
              <a:cs typeface="Microsoft Sans Serif"/>
            </a:endParaRPr>
          </a:p>
          <a:p>
            <a:pPr marL="12700">
              <a:lnSpc>
                <a:spcPct val="100000"/>
              </a:lnSpc>
              <a:spcBef>
                <a:spcPts val="35"/>
              </a:spcBef>
            </a:pPr>
            <a:r>
              <a:rPr lang="en-US" sz="1100" spc="-50" dirty="0">
                <a:latin typeface="Microsoft Sans Serif"/>
                <a:cs typeface="Microsoft Sans Serif"/>
              </a:rPr>
              <a:t>B1.320</a:t>
            </a:r>
            <a:endParaRPr lang="en-US" sz="1100" dirty="0">
              <a:latin typeface="Microsoft Sans Serif"/>
              <a:cs typeface="Microsoft Sans Serif"/>
            </a:endParaRPr>
          </a:p>
          <a:p>
            <a:pPr marL="12700" marR="5080" indent="-635">
              <a:lnSpc>
                <a:spcPct val="102600"/>
              </a:lnSpc>
            </a:pPr>
            <a:r>
              <a:rPr lang="en-US" sz="1100" spc="-65" dirty="0">
                <a:latin typeface="Microsoft Sans Serif"/>
                <a:cs typeface="Microsoft Sans Serif"/>
              </a:rPr>
              <a:t>by</a:t>
            </a:r>
            <a:r>
              <a:rPr lang="en-US" sz="1100" spc="55" dirty="0">
                <a:latin typeface="Microsoft Sans Serif"/>
                <a:cs typeface="Microsoft Sans Serif"/>
              </a:rPr>
              <a:t> </a:t>
            </a:r>
            <a:r>
              <a:rPr lang="en-US" sz="1100" spc="-30" dirty="0">
                <a:latin typeface="Microsoft Sans Serif"/>
                <a:cs typeface="Microsoft Sans Serif"/>
              </a:rPr>
              <a:t>appointment </a:t>
            </a:r>
            <a:r>
              <a:rPr lang="en-US" sz="1100" spc="-275" dirty="0">
                <a:latin typeface="Microsoft Sans Serif"/>
                <a:cs typeface="Microsoft Sans Serif"/>
              </a:rPr>
              <a:t> </a:t>
            </a:r>
          </a:p>
          <a:p>
            <a:pPr marL="12700" marR="5080" indent="-635">
              <a:lnSpc>
                <a:spcPct val="102600"/>
              </a:lnSpc>
            </a:pPr>
            <a:r>
              <a:rPr lang="en-US" sz="1100" spc="-80" dirty="0">
                <a:latin typeface="Microsoft Sans Serif"/>
                <a:cs typeface="Microsoft Sans Serif"/>
              </a:rPr>
              <a:t>Saturday</a:t>
            </a:r>
            <a:endParaRPr lang="en-US" sz="1100" dirty="0">
              <a:latin typeface="Microsoft Sans Serif"/>
              <a:ea typeface="Microsoft Sans Serif"/>
              <a:cs typeface="Microsoft Sans Serif"/>
            </a:endParaRPr>
          </a:p>
        </p:txBody>
      </p:sp>
    </p:spTree>
    <p:extLst>
      <p:ext uri="{BB962C8B-B14F-4D97-AF65-F5344CB8AC3E}">
        <p14:creationId xmlns:p14="http://schemas.microsoft.com/office/powerpoint/2010/main" val="2324790035"/>
      </p:ext>
    </p:extLst>
  </p:cSld>
  <p:clrMapOvr>
    <a:masterClrMapping/>
  </p:clrMapOvr>
  <p:transition>
    <p:cut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268450" y="0"/>
            <a:ext cx="940435" cy="382270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441325" marR="5080" indent="73025" algn="r">
              <a:lnSpc>
                <a:spcPts val="700"/>
              </a:lnSpc>
              <a:spcBef>
                <a:spcPts val="135"/>
              </a:spcBef>
            </a:pPr>
            <a:r>
              <a:rPr sz="600" spc="10" dirty="0">
                <a:solidFill>
                  <a:srgbClr val="7F7F7F"/>
                </a:solidFill>
                <a:latin typeface="Microsoft Sans Serif"/>
                <a:cs typeface="Microsoft Sans Serif"/>
              </a:rPr>
              <a:t>Intr</a:t>
            </a:r>
            <a:r>
              <a:rPr sz="600" spc="30" dirty="0">
                <a:solidFill>
                  <a:srgbClr val="7F7F7F"/>
                </a:solidFill>
                <a:latin typeface="Microsoft Sans Serif"/>
                <a:cs typeface="Microsoft Sans Serif"/>
              </a:rPr>
              <a:t>o</a:t>
            </a:r>
            <a:r>
              <a:rPr sz="600" dirty="0">
                <a:solidFill>
                  <a:srgbClr val="7F7F7F"/>
                </a:solidFill>
                <a:latin typeface="Microsoft Sans Serif"/>
                <a:cs typeface="Microsoft Sans Serif"/>
              </a:rPr>
              <a:t>duction  </a:t>
            </a:r>
            <a:r>
              <a:rPr sz="600" spc="-30" dirty="0">
                <a:solidFill>
                  <a:srgbClr val="FFFFFF"/>
                </a:solidFill>
                <a:latin typeface="Microsoft Sans Serif"/>
                <a:cs typeface="Microsoft Sans Serif"/>
              </a:rPr>
              <a:t>Cours</a:t>
            </a:r>
            <a:r>
              <a:rPr sz="600" spc="-25" dirty="0">
                <a:solidFill>
                  <a:srgbClr val="FFFFFF"/>
                </a:solidFill>
                <a:latin typeface="Microsoft Sans Serif"/>
                <a:cs typeface="Microsoft Sans Serif"/>
              </a:rPr>
              <a:t>e</a:t>
            </a:r>
            <a:r>
              <a:rPr sz="600" spc="50" dirty="0">
                <a:solidFill>
                  <a:srgbClr val="FFFFFF"/>
                </a:solidFill>
                <a:latin typeface="Microsoft Sans Serif"/>
                <a:cs typeface="Microsoft Sans Serif"/>
              </a:rPr>
              <a:t> </a:t>
            </a:r>
            <a:r>
              <a:rPr sz="600" spc="-5" dirty="0">
                <a:solidFill>
                  <a:srgbClr val="FFFFFF"/>
                </a:solidFill>
                <a:latin typeface="Microsoft Sans Serif"/>
                <a:cs typeface="Microsoft Sans Serif"/>
              </a:rPr>
              <a:t>Details  </a:t>
            </a:r>
            <a:r>
              <a:rPr sz="600" spc="10" dirty="0">
                <a:solidFill>
                  <a:srgbClr val="7F7F7F"/>
                </a:solidFill>
                <a:latin typeface="Microsoft Sans Serif"/>
                <a:cs typeface="Microsoft Sans Serif"/>
              </a:rPr>
              <a:t>Motivation</a:t>
            </a:r>
            <a:endParaRPr sz="600" dirty="0">
              <a:latin typeface="Microsoft Sans Serif"/>
              <a:cs typeface="Microsoft Sans Serif"/>
            </a:endParaRPr>
          </a:p>
          <a:p>
            <a:pPr marR="5080" algn="r">
              <a:lnSpc>
                <a:spcPts val="670"/>
              </a:lnSpc>
            </a:pPr>
            <a:r>
              <a:rPr sz="600" spc="-25" dirty="0">
                <a:solidFill>
                  <a:srgbClr val="7F7F7F"/>
                </a:solidFill>
                <a:latin typeface="Microsoft Sans Serif"/>
                <a:cs typeface="Microsoft Sans Serif"/>
              </a:rPr>
              <a:t>Accessing</a:t>
            </a:r>
            <a:r>
              <a:rPr sz="600" spc="35" dirty="0">
                <a:solidFill>
                  <a:srgbClr val="7F7F7F"/>
                </a:solidFill>
                <a:latin typeface="Microsoft Sans Serif"/>
                <a:cs typeface="Microsoft Sans Serif"/>
              </a:rPr>
              <a:t> </a:t>
            </a:r>
            <a:r>
              <a:rPr sz="600" dirty="0">
                <a:solidFill>
                  <a:srgbClr val="7F7F7F"/>
                </a:solidFill>
                <a:latin typeface="Microsoft Sans Serif"/>
                <a:cs typeface="Microsoft Sans Serif"/>
              </a:rPr>
              <a:t>the</a:t>
            </a:r>
            <a:r>
              <a:rPr sz="600" spc="40" dirty="0">
                <a:solidFill>
                  <a:srgbClr val="7F7F7F"/>
                </a:solidFill>
                <a:latin typeface="Microsoft Sans Serif"/>
                <a:cs typeface="Microsoft Sans Serif"/>
              </a:rPr>
              <a:t> </a:t>
            </a:r>
            <a:r>
              <a:rPr sz="600" spc="-10" dirty="0">
                <a:solidFill>
                  <a:srgbClr val="7F7F7F"/>
                </a:solidFill>
                <a:latin typeface="Microsoft Sans Serif"/>
                <a:cs typeface="Microsoft Sans Serif"/>
              </a:rPr>
              <a:t>Lab</a:t>
            </a:r>
            <a:r>
              <a:rPr sz="600" spc="35" dirty="0">
                <a:solidFill>
                  <a:srgbClr val="7F7F7F"/>
                </a:solidFill>
                <a:latin typeface="Microsoft Sans Serif"/>
                <a:cs typeface="Microsoft Sans Serif"/>
              </a:rPr>
              <a:t> </a:t>
            </a:r>
            <a:r>
              <a:rPr sz="600" spc="5" dirty="0">
                <a:solidFill>
                  <a:srgbClr val="7F7F7F"/>
                </a:solidFill>
                <a:latin typeface="Microsoft Sans Serif"/>
                <a:cs typeface="Microsoft Sans Serif"/>
              </a:rPr>
              <a:t>Material</a:t>
            </a:r>
            <a:endParaRPr sz="600" dirty="0">
              <a:latin typeface="Microsoft Sans Serif"/>
              <a:cs typeface="Microsoft Sans Serif"/>
            </a:endParaRP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303995" y="0"/>
            <a:ext cx="2304008" cy="366928"/>
          </a:xfrm>
          <a:prstGeom prst="rect">
            <a:avLst/>
          </a:prstGeom>
        </p:spPr>
      </p:pic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2200910">
              <a:lnSpc>
                <a:spcPct val="100000"/>
              </a:lnSpc>
              <a:spcBef>
                <a:spcPts val="95"/>
              </a:spcBef>
            </a:pPr>
            <a:r>
              <a:rPr spc="-20" dirty="0"/>
              <a:t>German</a:t>
            </a:r>
            <a:r>
              <a:rPr spc="40" dirty="0"/>
              <a:t> </a:t>
            </a:r>
            <a:r>
              <a:rPr spc="-25" dirty="0"/>
              <a:t>University</a:t>
            </a:r>
            <a:r>
              <a:rPr spc="45" dirty="0"/>
              <a:t> </a:t>
            </a:r>
            <a:r>
              <a:rPr spc="-35" dirty="0"/>
              <a:t>in</a:t>
            </a:r>
            <a:r>
              <a:rPr spc="40" dirty="0"/>
              <a:t> </a:t>
            </a:r>
            <a:r>
              <a:rPr spc="-15" dirty="0"/>
              <a:t>Cairo</a:t>
            </a:r>
          </a:p>
        </p:txBody>
      </p:sp>
      <p:pic>
        <p:nvPicPr>
          <p:cNvPr id="5" name="object 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0" y="366911"/>
            <a:ext cx="4604410" cy="260646"/>
          </a:xfrm>
          <a:prstGeom prst="rect">
            <a:avLst/>
          </a:prstGeom>
        </p:spPr>
      </p:pic>
      <p:sp>
        <p:nvSpPr>
          <p:cNvPr id="6" name="object 6"/>
          <p:cNvSpPr txBox="1"/>
          <p:nvPr/>
        </p:nvSpPr>
        <p:spPr>
          <a:xfrm>
            <a:off x="197218" y="364347"/>
            <a:ext cx="1433830" cy="24447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400" spc="-50" dirty="0">
                <a:solidFill>
                  <a:srgbClr val="FFFFFF"/>
                </a:solidFill>
                <a:latin typeface="Trebuchet MS"/>
                <a:cs typeface="Trebuchet MS"/>
              </a:rPr>
              <a:t>Course</a:t>
            </a:r>
            <a:r>
              <a:rPr sz="1400" spc="-40" dirty="0">
                <a:solidFill>
                  <a:srgbClr val="FFFFFF"/>
                </a:solidFill>
                <a:latin typeface="Trebuchet MS"/>
                <a:cs typeface="Trebuchet MS"/>
              </a:rPr>
              <a:t> </a:t>
            </a:r>
            <a:r>
              <a:rPr sz="1400" spc="-45" dirty="0">
                <a:solidFill>
                  <a:srgbClr val="FFFFFF"/>
                </a:solidFill>
                <a:latin typeface="Trebuchet MS"/>
                <a:cs typeface="Trebuchet MS"/>
              </a:rPr>
              <a:t>Assessment</a:t>
            </a:r>
            <a:endParaRPr sz="1400">
              <a:latin typeface="Trebuchet MS"/>
              <a:cs typeface="Trebuchet MS"/>
            </a:endParaRPr>
          </a:p>
        </p:txBody>
      </p:sp>
      <p:graphicFrame>
        <p:nvGraphicFramePr>
          <p:cNvPr id="7" name="object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24933708"/>
              </p:ext>
            </p:extLst>
          </p:nvPr>
        </p:nvGraphicFramePr>
        <p:xfrm>
          <a:off x="567677" y="1044575"/>
          <a:ext cx="3469056" cy="1371822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8112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8487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7292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01939">
                <a:tc>
                  <a:txBody>
                    <a:bodyPr/>
                    <a:lstStyle/>
                    <a:p>
                      <a:pPr marL="75565">
                        <a:lnSpc>
                          <a:spcPts val="1050"/>
                        </a:lnSpc>
                      </a:pPr>
                      <a:r>
                        <a:rPr sz="1100" spc="-85" dirty="0">
                          <a:latin typeface="Microsoft Sans Serif"/>
                          <a:cs typeface="Microsoft Sans Serif"/>
                        </a:rPr>
                        <a:t>Assessment</a:t>
                      </a:r>
                      <a:r>
                        <a:rPr sz="1100" spc="45" dirty="0">
                          <a:latin typeface="Microsoft Sans Serif"/>
                          <a:cs typeface="Microsoft Sans Serif"/>
                        </a:rPr>
                        <a:t> </a:t>
                      </a:r>
                      <a:r>
                        <a:rPr sz="1100" spc="-25" dirty="0">
                          <a:latin typeface="Microsoft Sans Serif"/>
                          <a:cs typeface="Microsoft Sans Serif"/>
                        </a:rPr>
                        <a:t>Method</a:t>
                      </a:r>
                      <a:endParaRPr sz="1100" dirty="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0" marB="0"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50"/>
                        </a:lnSpc>
                      </a:pPr>
                      <a:r>
                        <a:rPr sz="1100" spc="-35" dirty="0">
                          <a:latin typeface="Microsoft Sans Serif"/>
                          <a:cs typeface="Microsoft Sans Serif"/>
                        </a:rPr>
                        <a:t>Weight</a:t>
                      </a:r>
                      <a:endParaRPr sz="1100" dirty="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0" marB="0"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76200">
                        <a:lnSpc>
                          <a:spcPts val="1050"/>
                        </a:lnSpc>
                      </a:pPr>
                      <a:r>
                        <a:rPr sz="1100" spc="-80" dirty="0">
                          <a:latin typeface="Microsoft Sans Serif"/>
                          <a:cs typeface="Microsoft Sans Serif"/>
                        </a:rPr>
                        <a:t>Remarks</a:t>
                      </a:r>
                      <a:endParaRPr sz="110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0" marB="0"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4556">
                <a:tc>
                  <a:txBody>
                    <a:bodyPr/>
                    <a:lstStyle/>
                    <a:p>
                      <a:pPr marL="75565">
                        <a:lnSpc>
                          <a:spcPct val="100000"/>
                        </a:lnSpc>
                        <a:spcBef>
                          <a:spcPts val="190"/>
                        </a:spcBef>
                      </a:pPr>
                      <a:r>
                        <a:rPr sz="1100" spc="-75" dirty="0">
                          <a:latin typeface="Microsoft Sans Serif"/>
                          <a:cs typeface="Microsoft Sans Serif"/>
                        </a:rPr>
                        <a:t>Quizzes</a:t>
                      </a:r>
                    </a:p>
                    <a:p>
                      <a:pPr marL="75565" lvl="0">
                        <a:lnSpc>
                          <a:spcPct val="100000"/>
                        </a:lnSpc>
                        <a:spcBef>
                          <a:spcPts val="190"/>
                        </a:spcBef>
                        <a:buNone/>
                      </a:pPr>
                      <a:endParaRPr lang="en-US" sz="1100" spc="-75" dirty="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24130" marB="0">
                    <a:lnT w="9525">
                      <a:solidFill>
                        <a:srgbClr val="000000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90"/>
                        </a:spcBef>
                      </a:pPr>
                      <a:r>
                        <a:rPr sz="1100" spc="-70" dirty="0">
                          <a:latin typeface="Microsoft Sans Serif"/>
                          <a:cs typeface="Microsoft Sans Serif"/>
                        </a:rPr>
                        <a:t>10%</a:t>
                      </a:r>
                      <a:endParaRPr sz="1100" dirty="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24130" marB="0">
                    <a:lnT w="9525">
                      <a:solidFill>
                        <a:srgbClr val="000000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L="74930">
                        <a:lnSpc>
                          <a:spcPct val="100000"/>
                        </a:lnSpc>
                        <a:spcBef>
                          <a:spcPts val="190"/>
                        </a:spcBef>
                      </a:pPr>
                      <a:r>
                        <a:rPr sz="1100" spc="-45" dirty="0">
                          <a:latin typeface="Microsoft Sans Serif"/>
                          <a:cs typeface="Microsoft Sans Serif"/>
                        </a:rPr>
                        <a:t>Best</a:t>
                      </a:r>
                      <a:r>
                        <a:rPr sz="1100" spc="50" dirty="0">
                          <a:latin typeface="Microsoft Sans Serif"/>
                          <a:cs typeface="Microsoft Sans Serif"/>
                        </a:rPr>
                        <a:t> </a:t>
                      </a:r>
                      <a:r>
                        <a:rPr sz="1100" spc="-70" dirty="0">
                          <a:latin typeface="Microsoft Sans Serif"/>
                          <a:cs typeface="Microsoft Sans Serif"/>
                        </a:rPr>
                        <a:t>2</a:t>
                      </a:r>
                      <a:r>
                        <a:rPr sz="1100" spc="55" dirty="0">
                          <a:latin typeface="Microsoft Sans Serif"/>
                          <a:cs typeface="Microsoft Sans Serif"/>
                        </a:rPr>
                        <a:t> </a:t>
                      </a:r>
                      <a:r>
                        <a:rPr sz="1100" spc="-10" dirty="0">
                          <a:latin typeface="Microsoft Sans Serif"/>
                          <a:cs typeface="Microsoft Sans Serif"/>
                        </a:rPr>
                        <a:t>out</a:t>
                      </a:r>
                      <a:r>
                        <a:rPr sz="1100" spc="50" dirty="0">
                          <a:latin typeface="Microsoft Sans Serif"/>
                          <a:cs typeface="Microsoft Sans Serif"/>
                        </a:rPr>
                        <a:t> </a:t>
                      </a:r>
                      <a:r>
                        <a:rPr sz="1100" spc="-20" dirty="0">
                          <a:latin typeface="Microsoft Sans Serif"/>
                          <a:cs typeface="Microsoft Sans Serif"/>
                        </a:rPr>
                        <a:t>of</a:t>
                      </a:r>
                      <a:r>
                        <a:rPr sz="1100" spc="55" dirty="0">
                          <a:latin typeface="Microsoft Sans Serif"/>
                          <a:cs typeface="Microsoft Sans Serif"/>
                        </a:rPr>
                        <a:t> </a:t>
                      </a:r>
                      <a:r>
                        <a:rPr sz="1100" spc="-70" dirty="0">
                          <a:latin typeface="Microsoft Sans Serif"/>
                          <a:cs typeface="Microsoft Sans Serif"/>
                        </a:rPr>
                        <a:t>3</a:t>
                      </a:r>
                      <a:endParaRPr sz="1100" dirty="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24130" marB="0">
                    <a:lnT w="9525">
                      <a:solidFill>
                        <a:srgbClr val="000000"/>
                      </a:solidFill>
                      <a:prstDash val="soli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969">
                <a:tc>
                  <a:txBody>
                    <a:bodyPr/>
                    <a:lstStyle/>
                    <a:p>
                      <a:pPr marL="75565">
                        <a:lnSpc>
                          <a:spcPts val="1175"/>
                        </a:lnSpc>
                      </a:pPr>
                      <a:r>
                        <a:rPr sz="1100" spc="-55" dirty="0">
                          <a:latin typeface="Microsoft Sans Serif"/>
                          <a:cs typeface="Microsoft Sans Serif"/>
                        </a:rPr>
                        <a:t>Lab</a:t>
                      </a:r>
                      <a:r>
                        <a:rPr sz="1100" spc="60" dirty="0">
                          <a:latin typeface="Microsoft Sans Serif"/>
                          <a:cs typeface="Microsoft Sans Serif"/>
                        </a:rPr>
                        <a:t> </a:t>
                      </a:r>
                      <a:r>
                        <a:rPr sz="1100" spc="-40" dirty="0">
                          <a:latin typeface="Microsoft Sans Serif"/>
                          <a:cs typeface="Microsoft Sans Serif"/>
                        </a:rPr>
                        <a:t>Work</a:t>
                      </a:r>
                      <a:r>
                        <a:rPr sz="1100" spc="60" dirty="0">
                          <a:latin typeface="Microsoft Sans Serif"/>
                          <a:cs typeface="Microsoft Sans Serif"/>
                        </a:rPr>
                        <a:t> </a:t>
                      </a:r>
                      <a:r>
                        <a:rPr lang="en-US" sz="1100" spc="-5" dirty="0">
                          <a:latin typeface="Microsoft Sans Serif"/>
                          <a:cs typeface="Microsoft Sans Serif"/>
                        </a:rPr>
                        <a:t>– 3</a:t>
                      </a:r>
                      <a:r>
                        <a:rPr sz="1100" spc="60" dirty="0">
                          <a:latin typeface="Microsoft Sans Serif"/>
                          <a:cs typeface="Microsoft Sans Serif"/>
                        </a:rPr>
                        <a:t> </a:t>
                      </a:r>
                      <a:r>
                        <a:rPr sz="1100" dirty="0">
                          <a:latin typeface="Microsoft Sans Serif"/>
                          <a:cs typeface="Microsoft Sans Serif"/>
                        </a:rPr>
                        <a:t>Mini</a:t>
                      </a:r>
                      <a:r>
                        <a:rPr sz="1100" spc="60" dirty="0">
                          <a:latin typeface="Microsoft Sans Serif"/>
                          <a:cs typeface="Microsoft Sans Serif"/>
                        </a:rPr>
                        <a:t> </a:t>
                      </a:r>
                      <a:r>
                        <a:rPr sz="1100" spc="-40" dirty="0">
                          <a:latin typeface="Microsoft Sans Serif"/>
                          <a:cs typeface="Microsoft Sans Serif"/>
                        </a:rPr>
                        <a:t>Projects</a:t>
                      </a:r>
                    </a:p>
                    <a:p>
                      <a:pPr marL="75565" lvl="0">
                        <a:lnSpc>
                          <a:spcPts val="1175"/>
                        </a:lnSpc>
                        <a:buNone/>
                      </a:pPr>
                      <a:endParaRPr lang="en-US" sz="1100" spc="-40" dirty="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175"/>
                        </a:lnSpc>
                      </a:pPr>
                      <a:r>
                        <a:rPr sz="1100" spc="-70" dirty="0">
                          <a:latin typeface="Microsoft Sans Serif"/>
                          <a:cs typeface="Microsoft Sans Serif"/>
                        </a:rPr>
                        <a:t>20%</a:t>
                      </a:r>
                      <a:endParaRPr sz="1100" dirty="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75565">
                        <a:lnSpc>
                          <a:spcPts val="1175"/>
                        </a:lnSpc>
                      </a:pPr>
                      <a:r>
                        <a:rPr sz="1100" spc="-75" dirty="0">
                          <a:latin typeface="Microsoft Sans Serif"/>
                          <a:cs typeface="Microsoft Sans Serif"/>
                        </a:rPr>
                        <a:t>Groups</a:t>
                      </a:r>
                      <a:r>
                        <a:rPr sz="1100" spc="40" dirty="0">
                          <a:latin typeface="Microsoft Sans Serif"/>
                          <a:cs typeface="Microsoft Sans Serif"/>
                        </a:rPr>
                        <a:t> </a:t>
                      </a:r>
                      <a:r>
                        <a:rPr sz="1100" spc="-20" dirty="0">
                          <a:latin typeface="Microsoft Sans Serif"/>
                          <a:cs typeface="Microsoft Sans Serif"/>
                        </a:rPr>
                        <a:t>of</a:t>
                      </a:r>
                      <a:r>
                        <a:rPr sz="1100" spc="40" dirty="0">
                          <a:latin typeface="Microsoft Sans Serif"/>
                          <a:cs typeface="Microsoft Sans Serif"/>
                        </a:rPr>
                        <a:t> </a:t>
                      </a:r>
                      <a:r>
                        <a:rPr sz="1100" spc="-70" dirty="0">
                          <a:latin typeface="Microsoft Sans Serif"/>
                          <a:cs typeface="Microsoft Sans Serif"/>
                        </a:rPr>
                        <a:t>2</a:t>
                      </a:r>
                      <a:endParaRPr sz="1100" dirty="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1852">
                <a:tc>
                  <a:txBody>
                    <a:bodyPr/>
                    <a:lstStyle/>
                    <a:p>
                      <a:pPr marL="75565">
                        <a:lnSpc>
                          <a:spcPts val="1175"/>
                        </a:lnSpc>
                      </a:pPr>
                      <a:r>
                        <a:rPr sz="1100" spc="-35" dirty="0">
                          <a:latin typeface="Microsoft Sans Serif"/>
                          <a:cs typeface="Microsoft Sans Serif"/>
                        </a:rPr>
                        <a:t>Final</a:t>
                      </a:r>
                      <a:r>
                        <a:rPr sz="1100" spc="25" dirty="0">
                          <a:latin typeface="Microsoft Sans Serif"/>
                          <a:cs typeface="Microsoft Sans Serif"/>
                        </a:rPr>
                        <a:t> </a:t>
                      </a:r>
                      <a:r>
                        <a:rPr sz="1100" spc="-70" dirty="0">
                          <a:latin typeface="Microsoft Sans Serif"/>
                          <a:cs typeface="Microsoft Sans Serif"/>
                        </a:rPr>
                        <a:t>Exam</a:t>
                      </a:r>
                      <a:endParaRPr sz="1100" dirty="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0" marB="0"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175"/>
                        </a:lnSpc>
                      </a:pPr>
                      <a:r>
                        <a:rPr lang="en-US" sz="1100" spc="-70" dirty="0">
                          <a:latin typeface="Microsoft Sans Serif"/>
                          <a:cs typeface="Microsoft Sans Serif"/>
                        </a:rPr>
                        <a:t>7</a:t>
                      </a:r>
                      <a:r>
                        <a:rPr sz="1100" spc="-70" dirty="0">
                          <a:latin typeface="Microsoft Sans Serif"/>
                          <a:cs typeface="Microsoft Sans Serif"/>
                        </a:rPr>
                        <a:t>0%</a:t>
                      </a:r>
                      <a:endParaRPr lang="en-US" sz="1100" spc="-70" dirty="0">
                        <a:latin typeface="Microsoft Sans Serif"/>
                        <a:cs typeface="Microsoft Sans Serif"/>
                      </a:endParaRPr>
                    </a:p>
                    <a:p>
                      <a:pPr algn="ctr">
                        <a:lnSpc>
                          <a:spcPts val="1175"/>
                        </a:lnSpc>
                      </a:pPr>
                      <a:endParaRPr sz="1100" dirty="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0" marB="0"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75473">
                <a:tc>
                  <a:txBody>
                    <a:bodyPr/>
                    <a:lstStyle/>
                    <a:p>
                      <a:pPr marL="75565">
                        <a:lnSpc>
                          <a:spcPts val="1165"/>
                        </a:lnSpc>
                      </a:pPr>
                      <a:r>
                        <a:rPr sz="1100" spc="-20" dirty="0">
                          <a:latin typeface="Microsoft Sans Serif"/>
                          <a:cs typeface="Microsoft Sans Serif"/>
                        </a:rPr>
                        <a:t>Total</a:t>
                      </a:r>
                      <a:endParaRPr sz="1100" dirty="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0" marB="0">
                    <a:lnT w="12700">
                      <a:solidFill>
                        <a:srgbClr val="000000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165"/>
                        </a:lnSpc>
                      </a:pPr>
                      <a:r>
                        <a:rPr sz="1100" spc="-70" dirty="0">
                          <a:latin typeface="Microsoft Sans Serif"/>
                          <a:cs typeface="Microsoft Sans Serif"/>
                        </a:rPr>
                        <a:t>100%</a:t>
                      </a:r>
                      <a:endParaRPr sz="110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0" marB="0">
                    <a:lnT w="12700">
                      <a:solidFill>
                        <a:srgbClr val="000000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T w="12700">
                      <a:solidFill>
                        <a:srgbClr val="000000"/>
                      </a:solidFill>
                      <a:prstDash val="soli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pSp>
        <p:nvGrpSpPr>
          <p:cNvPr id="8" name="object 8"/>
          <p:cNvGrpSpPr/>
          <p:nvPr/>
        </p:nvGrpSpPr>
        <p:grpSpPr>
          <a:xfrm>
            <a:off x="0" y="3346348"/>
            <a:ext cx="4608195" cy="109855"/>
            <a:chOff x="0" y="3346348"/>
            <a:chExt cx="4608195" cy="109855"/>
          </a:xfrm>
        </p:grpSpPr>
        <p:sp>
          <p:nvSpPr>
            <p:cNvPr id="9" name="object 9"/>
            <p:cNvSpPr/>
            <p:nvPr/>
          </p:nvSpPr>
          <p:spPr>
            <a:xfrm>
              <a:off x="0" y="3346348"/>
              <a:ext cx="2304415" cy="109855"/>
            </a:xfrm>
            <a:custGeom>
              <a:avLst/>
              <a:gdLst/>
              <a:ahLst/>
              <a:cxnLst/>
              <a:rect l="l" t="t" r="r" b="b"/>
              <a:pathLst>
                <a:path w="2304415" h="109854">
                  <a:moveTo>
                    <a:pt x="2304008" y="0"/>
                  </a:moveTo>
                  <a:lnTo>
                    <a:pt x="1152004" y="0"/>
                  </a:lnTo>
                  <a:lnTo>
                    <a:pt x="0" y="0"/>
                  </a:lnTo>
                  <a:lnTo>
                    <a:pt x="0" y="109651"/>
                  </a:lnTo>
                  <a:lnTo>
                    <a:pt x="1152004" y="109651"/>
                  </a:lnTo>
                  <a:lnTo>
                    <a:pt x="2304008" y="109651"/>
                  </a:lnTo>
                  <a:lnTo>
                    <a:pt x="2304008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2303995" y="3346348"/>
              <a:ext cx="2304415" cy="109855"/>
            </a:xfrm>
            <a:custGeom>
              <a:avLst/>
              <a:gdLst/>
              <a:ahLst/>
              <a:cxnLst/>
              <a:rect l="l" t="t" r="r" b="b"/>
              <a:pathLst>
                <a:path w="2304415" h="109854">
                  <a:moveTo>
                    <a:pt x="2303996" y="0"/>
                  </a:moveTo>
                  <a:lnTo>
                    <a:pt x="1920024" y="0"/>
                  </a:lnTo>
                  <a:lnTo>
                    <a:pt x="0" y="0"/>
                  </a:lnTo>
                  <a:lnTo>
                    <a:pt x="0" y="109651"/>
                  </a:lnTo>
                  <a:lnTo>
                    <a:pt x="1920024" y="109651"/>
                  </a:lnTo>
                  <a:lnTo>
                    <a:pt x="2303996" y="109651"/>
                  </a:lnTo>
                  <a:lnTo>
                    <a:pt x="2303996" y="0"/>
                  </a:lnTo>
                  <a:close/>
                </a:path>
              </a:pathLst>
            </a:custGeom>
            <a:solidFill>
              <a:srgbClr val="8C205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object 13"/>
          <p:cNvSpPr txBox="1"/>
          <p:nvPr/>
        </p:nvSpPr>
        <p:spPr>
          <a:xfrm>
            <a:off x="3086696" y="3351784"/>
            <a:ext cx="354965" cy="10223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5"/>
              </a:lnSpc>
            </a:pPr>
            <a:r>
              <a:rPr sz="600" spc="5" dirty="0">
                <a:solidFill>
                  <a:srgbClr val="FFFFFF"/>
                </a:solidFill>
                <a:latin typeface="Microsoft Sans Serif"/>
                <a:cs typeface="Microsoft Sans Serif"/>
              </a:rPr>
              <a:t>Tutorial</a:t>
            </a:r>
            <a:r>
              <a:rPr sz="600" spc="-10" dirty="0">
                <a:solidFill>
                  <a:srgbClr val="FFFFFF"/>
                </a:solidFill>
                <a:latin typeface="Microsoft Sans Serif"/>
                <a:cs typeface="Microsoft Sans Serif"/>
              </a:rPr>
              <a:t> </a:t>
            </a:r>
            <a:r>
              <a:rPr sz="600" spc="-20" dirty="0">
                <a:solidFill>
                  <a:srgbClr val="FFFFFF"/>
                </a:solidFill>
                <a:latin typeface="Microsoft Sans Serif"/>
                <a:cs typeface="Microsoft Sans Serif"/>
              </a:rPr>
              <a:t>1</a:t>
            </a:r>
            <a:endParaRPr sz="600" dirty="0">
              <a:latin typeface="Microsoft Sans Serif"/>
              <a:cs typeface="Microsoft Sans Serif"/>
            </a:endParaRPr>
          </a:p>
        </p:txBody>
      </p:sp>
      <p:sp>
        <p:nvSpPr>
          <p:cNvPr id="15" name="Footer Placeholder 10">
            <a:extLst>
              <a:ext uri="{FF2B5EF4-FFF2-40B4-BE49-F238E27FC236}">
                <a16:creationId xmlns:a16="http://schemas.microsoft.com/office/drawing/2014/main" id="{609ED662-F1C8-BC06-0F36-BE3EF11F2CE6}"/>
              </a:ext>
            </a:extLst>
          </p:cNvPr>
          <p:cNvSpPr>
            <a:spLocks noGrp="1"/>
          </p:cNvSpPr>
          <p:nvPr>
            <p:ph type="ftr" sz="quarter" idx="5"/>
          </p:nvPr>
        </p:nvSpPr>
        <p:spPr>
          <a:xfrm>
            <a:off x="346620" y="3351783"/>
            <a:ext cx="663029" cy="207391"/>
          </a:xfrm>
        </p:spPr>
        <p:txBody>
          <a:bodyPr/>
          <a:lstStyle/>
          <a:p>
            <a:pPr marL="12700">
              <a:lnSpc>
                <a:spcPts val="675"/>
              </a:lnSpc>
            </a:pPr>
            <a:r>
              <a:rPr lang="en-US" spc="-20" dirty="0"/>
              <a:t>By Hazem</a:t>
            </a:r>
            <a:r>
              <a:rPr lang="en-US" spc="-5" dirty="0"/>
              <a:t> </a:t>
            </a:r>
            <a:r>
              <a:rPr lang="en-US" dirty="0"/>
              <a:t>Nabil</a:t>
            </a:r>
          </a:p>
        </p:txBody>
      </p:sp>
      <p:sp>
        <p:nvSpPr>
          <p:cNvPr id="11" name="Slide Number Placeholder 14">
            <a:extLst>
              <a:ext uri="{FF2B5EF4-FFF2-40B4-BE49-F238E27FC236}">
                <a16:creationId xmlns:a16="http://schemas.microsoft.com/office/drawing/2014/main" id="{32104782-44EB-ACA4-399F-24B97765FECB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>
          <a:xfrm>
            <a:off x="4246994" y="3351784"/>
            <a:ext cx="344804" cy="89768"/>
          </a:xfrm>
        </p:spPr>
        <p:txBody>
          <a:bodyPr/>
          <a:lstStyle/>
          <a:p>
            <a:pPr marL="38100">
              <a:lnSpc>
                <a:spcPts val="675"/>
              </a:lnSpc>
            </a:pPr>
            <a:fld id="{81D60167-4931-47E6-BA6A-407CBD079E47}" type="slidenum">
              <a:rPr lang="en-US" spc="-20" smtClean="0"/>
              <a:t>4</a:t>
            </a:fld>
            <a:r>
              <a:rPr lang="en-US" spc="20" dirty="0"/>
              <a:t> </a:t>
            </a:r>
            <a:r>
              <a:rPr lang="en-US" spc="150" dirty="0"/>
              <a:t>/</a:t>
            </a:r>
            <a:r>
              <a:rPr lang="en-US" spc="20" dirty="0"/>
              <a:t> </a:t>
            </a:r>
            <a:r>
              <a:rPr lang="en-US" spc="-20" dirty="0"/>
              <a:t>20</a:t>
            </a:r>
          </a:p>
        </p:txBody>
      </p:sp>
      <p:sp>
        <p:nvSpPr>
          <p:cNvPr id="12" name="Date Placeholder 11"/>
          <p:cNvSpPr>
            <a:spLocks noGrp="1"/>
          </p:cNvSpPr>
          <p:nvPr>
            <p:ph type="dt" sz="half" idx="6"/>
          </p:nvPr>
        </p:nvSpPr>
        <p:spPr>
          <a:xfrm>
            <a:off x="1506396" y="3351784"/>
            <a:ext cx="646253" cy="179536"/>
          </a:xfrm>
        </p:spPr>
        <p:txBody>
          <a:bodyPr/>
          <a:lstStyle/>
          <a:p>
            <a:pPr marL="12700">
              <a:lnSpc>
                <a:spcPts val="675"/>
              </a:lnSpc>
            </a:pPr>
            <a:r>
              <a:rPr lang="en-US" spc="10" dirty="0"/>
              <a:t>Summer 2026</a:t>
            </a:r>
            <a:endParaRPr lang="en-US" spc="-20" dirty="0"/>
          </a:p>
        </p:txBody>
      </p:sp>
    </p:spTree>
  </p:cSld>
  <p:clrMapOvr>
    <a:masterClrMapping/>
  </p:clrMapOvr>
  <p:transition>
    <p:cut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268450" y="0"/>
            <a:ext cx="940435" cy="382270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441325" marR="5080" indent="73025" algn="r">
              <a:lnSpc>
                <a:spcPts val="700"/>
              </a:lnSpc>
              <a:spcBef>
                <a:spcPts val="135"/>
              </a:spcBef>
            </a:pPr>
            <a:r>
              <a:rPr sz="600" spc="10" dirty="0">
                <a:solidFill>
                  <a:srgbClr val="7F7F7F"/>
                </a:solidFill>
                <a:latin typeface="Microsoft Sans Serif"/>
                <a:cs typeface="Microsoft Sans Serif"/>
              </a:rPr>
              <a:t>Intr</a:t>
            </a:r>
            <a:r>
              <a:rPr sz="600" spc="30" dirty="0">
                <a:solidFill>
                  <a:srgbClr val="7F7F7F"/>
                </a:solidFill>
                <a:latin typeface="Microsoft Sans Serif"/>
                <a:cs typeface="Microsoft Sans Serif"/>
              </a:rPr>
              <a:t>o</a:t>
            </a:r>
            <a:r>
              <a:rPr sz="600" dirty="0">
                <a:solidFill>
                  <a:srgbClr val="7F7F7F"/>
                </a:solidFill>
                <a:latin typeface="Microsoft Sans Serif"/>
                <a:cs typeface="Microsoft Sans Serif"/>
              </a:rPr>
              <a:t>duction  </a:t>
            </a:r>
            <a:r>
              <a:rPr sz="600" spc="-30" dirty="0">
                <a:solidFill>
                  <a:srgbClr val="7F7F7F"/>
                </a:solidFill>
                <a:latin typeface="Microsoft Sans Serif"/>
                <a:cs typeface="Microsoft Sans Serif"/>
              </a:rPr>
              <a:t>Cours</a:t>
            </a:r>
            <a:r>
              <a:rPr sz="600" spc="-25" dirty="0">
                <a:solidFill>
                  <a:srgbClr val="7F7F7F"/>
                </a:solidFill>
                <a:latin typeface="Microsoft Sans Serif"/>
                <a:cs typeface="Microsoft Sans Serif"/>
              </a:rPr>
              <a:t>e</a:t>
            </a:r>
            <a:r>
              <a:rPr sz="600" spc="50" dirty="0">
                <a:solidFill>
                  <a:srgbClr val="7F7F7F"/>
                </a:solidFill>
                <a:latin typeface="Microsoft Sans Serif"/>
                <a:cs typeface="Microsoft Sans Serif"/>
              </a:rPr>
              <a:t> </a:t>
            </a:r>
            <a:r>
              <a:rPr sz="600" spc="-5" dirty="0">
                <a:solidFill>
                  <a:srgbClr val="7F7F7F"/>
                </a:solidFill>
                <a:latin typeface="Microsoft Sans Serif"/>
                <a:cs typeface="Microsoft Sans Serif"/>
              </a:rPr>
              <a:t>Details  </a:t>
            </a:r>
            <a:r>
              <a:rPr sz="600" spc="10" dirty="0">
                <a:solidFill>
                  <a:srgbClr val="FFFFFF"/>
                </a:solidFill>
                <a:latin typeface="Microsoft Sans Serif"/>
                <a:cs typeface="Microsoft Sans Serif"/>
              </a:rPr>
              <a:t>Motivation</a:t>
            </a:r>
            <a:endParaRPr sz="600" dirty="0">
              <a:latin typeface="Microsoft Sans Serif"/>
              <a:cs typeface="Microsoft Sans Serif"/>
            </a:endParaRPr>
          </a:p>
          <a:p>
            <a:pPr marR="5080" algn="r">
              <a:lnSpc>
                <a:spcPts val="670"/>
              </a:lnSpc>
            </a:pPr>
            <a:r>
              <a:rPr sz="600" spc="-25" dirty="0">
                <a:solidFill>
                  <a:srgbClr val="7F7F7F"/>
                </a:solidFill>
                <a:latin typeface="Microsoft Sans Serif"/>
                <a:cs typeface="Microsoft Sans Serif"/>
              </a:rPr>
              <a:t>Accessing</a:t>
            </a:r>
            <a:r>
              <a:rPr sz="600" spc="35" dirty="0">
                <a:solidFill>
                  <a:srgbClr val="7F7F7F"/>
                </a:solidFill>
                <a:latin typeface="Microsoft Sans Serif"/>
                <a:cs typeface="Microsoft Sans Serif"/>
              </a:rPr>
              <a:t> </a:t>
            </a:r>
            <a:r>
              <a:rPr sz="600" dirty="0">
                <a:solidFill>
                  <a:srgbClr val="7F7F7F"/>
                </a:solidFill>
                <a:latin typeface="Microsoft Sans Serif"/>
                <a:cs typeface="Microsoft Sans Serif"/>
              </a:rPr>
              <a:t>the</a:t>
            </a:r>
            <a:r>
              <a:rPr sz="600" spc="40" dirty="0">
                <a:solidFill>
                  <a:srgbClr val="7F7F7F"/>
                </a:solidFill>
                <a:latin typeface="Microsoft Sans Serif"/>
                <a:cs typeface="Microsoft Sans Serif"/>
              </a:rPr>
              <a:t> </a:t>
            </a:r>
            <a:r>
              <a:rPr sz="600" spc="-10" dirty="0">
                <a:solidFill>
                  <a:srgbClr val="7F7F7F"/>
                </a:solidFill>
                <a:latin typeface="Microsoft Sans Serif"/>
                <a:cs typeface="Microsoft Sans Serif"/>
              </a:rPr>
              <a:t>Lab</a:t>
            </a:r>
            <a:r>
              <a:rPr sz="600" spc="35" dirty="0">
                <a:solidFill>
                  <a:srgbClr val="7F7F7F"/>
                </a:solidFill>
                <a:latin typeface="Microsoft Sans Serif"/>
                <a:cs typeface="Microsoft Sans Serif"/>
              </a:rPr>
              <a:t> </a:t>
            </a:r>
            <a:r>
              <a:rPr sz="600" spc="5" dirty="0">
                <a:solidFill>
                  <a:srgbClr val="7F7F7F"/>
                </a:solidFill>
                <a:latin typeface="Microsoft Sans Serif"/>
                <a:cs typeface="Microsoft Sans Serif"/>
              </a:rPr>
              <a:t>Material</a:t>
            </a:r>
            <a:endParaRPr sz="600" dirty="0">
              <a:latin typeface="Microsoft Sans Serif"/>
              <a:cs typeface="Microsoft Sans Serif"/>
            </a:endParaRP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303995" y="0"/>
            <a:ext cx="2304008" cy="366928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2679966" y="129636"/>
            <a:ext cx="1438910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900" b="1" spc="-20" dirty="0">
                <a:solidFill>
                  <a:srgbClr val="FFFFFF"/>
                </a:solidFill>
                <a:latin typeface="Trebuchet MS"/>
                <a:cs typeface="Trebuchet MS"/>
              </a:rPr>
              <a:t>German</a:t>
            </a:r>
            <a:r>
              <a:rPr sz="900" b="1" spc="40" dirty="0">
                <a:solidFill>
                  <a:srgbClr val="FFFFFF"/>
                </a:solidFill>
                <a:latin typeface="Trebuchet MS"/>
                <a:cs typeface="Trebuchet MS"/>
              </a:rPr>
              <a:t> </a:t>
            </a:r>
            <a:r>
              <a:rPr sz="900" b="1" spc="-25" dirty="0">
                <a:solidFill>
                  <a:srgbClr val="FFFFFF"/>
                </a:solidFill>
                <a:latin typeface="Trebuchet MS"/>
                <a:cs typeface="Trebuchet MS"/>
              </a:rPr>
              <a:t>University</a:t>
            </a:r>
            <a:r>
              <a:rPr sz="900" b="1" spc="45" dirty="0">
                <a:solidFill>
                  <a:srgbClr val="FFFFFF"/>
                </a:solidFill>
                <a:latin typeface="Trebuchet MS"/>
                <a:cs typeface="Trebuchet MS"/>
              </a:rPr>
              <a:t> </a:t>
            </a:r>
            <a:r>
              <a:rPr sz="900" b="1" spc="-35" dirty="0">
                <a:solidFill>
                  <a:srgbClr val="FFFFFF"/>
                </a:solidFill>
                <a:latin typeface="Trebuchet MS"/>
                <a:cs typeface="Trebuchet MS"/>
              </a:rPr>
              <a:t>in</a:t>
            </a:r>
            <a:r>
              <a:rPr sz="900" b="1" spc="40" dirty="0">
                <a:solidFill>
                  <a:srgbClr val="FFFFFF"/>
                </a:solidFill>
                <a:latin typeface="Trebuchet MS"/>
                <a:cs typeface="Trebuchet MS"/>
              </a:rPr>
              <a:t> </a:t>
            </a:r>
            <a:r>
              <a:rPr sz="900" b="1" spc="-15" dirty="0">
                <a:solidFill>
                  <a:srgbClr val="FFFFFF"/>
                </a:solidFill>
                <a:latin typeface="Trebuchet MS"/>
                <a:cs typeface="Trebuchet MS"/>
              </a:rPr>
              <a:t>Cairo</a:t>
            </a:r>
            <a:endParaRPr sz="900">
              <a:latin typeface="Trebuchet MS"/>
              <a:cs typeface="Trebuchet MS"/>
            </a:endParaRPr>
          </a:p>
        </p:txBody>
      </p:sp>
      <p:pic>
        <p:nvPicPr>
          <p:cNvPr id="5" name="object 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0" y="366911"/>
            <a:ext cx="4604410" cy="260646"/>
          </a:xfrm>
          <a:prstGeom prst="rect">
            <a:avLst/>
          </a:prstGeom>
        </p:spPr>
      </p:pic>
      <p:sp>
        <p:nvSpPr>
          <p:cNvPr id="6" name="object 6"/>
          <p:cNvSpPr txBox="1"/>
          <p:nvPr/>
        </p:nvSpPr>
        <p:spPr>
          <a:xfrm>
            <a:off x="197218" y="364347"/>
            <a:ext cx="2994660" cy="24447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400" spc="10" dirty="0">
                <a:solidFill>
                  <a:srgbClr val="FFFFFF"/>
                </a:solidFill>
                <a:latin typeface="Trebuchet MS"/>
                <a:cs typeface="Trebuchet MS"/>
              </a:rPr>
              <a:t>Why</a:t>
            </a:r>
            <a:r>
              <a:rPr sz="1400" spc="35" dirty="0">
                <a:solidFill>
                  <a:srgbClr val="FFFFFF"/>
                </a:solidFill>
                <a:latin typeface="Trebuchet MS"/>
                <a:cs typeface="Trebuchet MS"/>
              </a:rPr>
              <a:t> </a:t>
            </a:r>
            <a:r>
              <a:rPr sz="1400" spc="-20" dirty="0">
                <a:solidFill>
                  <a:srgbClr val="FFFFFF"/>
                </a:solidFill>
                <a:latin typeface="Trebuchet MS"/>
                <a:cs typeface="Trebuchet MS"/>
              </a:rPr>
              <a:t>Study</a:t>
            </a:r>
            <a:r>
              <a:rPr sz="1400" spc="40" dirty="0">
                <a:solidFill>
                  <a:srgbClr val="FFFFFF"/>
                </a:solidFill>
                <a:latin typeface="Trebuchet MS"/>
                <a:cs typeface="Trebuchet MS"/>
              </a:rPr>
              <a:t> </a:t>
            </a:r>
            <a:r>
              <a:rPr sz="1400" spc="-10" dirty="0">
                <a:solidFill>
                  <a:srgbClr val="FFFFFF"/>
                </a:solidFill>
                <a:latin typeface="Trebuchet MS"/>
                <a:cs typeface="Trebuchet MS"/>
              </a:rPr>
              <a:t>Data</a:t>
            </a:r>
            <a:r>
              <a:rPr sz="1400" spc="35" dirty="0">
                <a:solidFill>
                  <a:srgbClr val="FFFFFF"/>
                </a:solidFill>
                <a:latin typeface="Trebuchet MS"/>
                <a:cs typeface="Trebuchet MS"/>
              </a:rPr>
              <a:t> </a:t>
            </a:r>
            <a:r>
              <a:rPr sz="1400" spc="-10" dirty="0">
                <a:solidFill>
                  <a:srgbClr val="FFFFFF"/>
                </a:solidFill>
                <a:latin typeface="Trebuchet MS"/>
                <a:cs typeface="Trebuchet MS"/>
              </a:rPr>
              <a:t>Mining/Data</a:t>
            </a:r>
            <a:r>
              <a:rPr sz="1400" spc="40" dirty="0">
                <a:solidFill>
                  <a:srgbClr val="FFFFFF"/>
                </a:solidFill>
                <a:latin typeface="Trebuchet MS"/>
                <a:cs typeface="Trebuchet MS"/>
              </a:rPr>
              <a:t> </a:t>
            </a:r>
            <a:r>
              <a:rPr sz="1400" spc="-35" dirty="0">
                <a:solidFill>
                  <a:srgbClr val="FFFFFF"/>
                </a:solidFill>
                <a:latin typeface="Trebuchet MS"/>
                <a:cs typeface="Trebuchet MS"/>
              </a:rPr>
              <a:t>Science?</a:t>
            </a:r>
            <a:endParaRPr sz="1400">
              <a:latin typeface="Trebuchet MS"/>
              <a:cs typeface="Trebuchet MS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422351" y="986233"/>
            <a:ext cx="3726815" cy="1867819"/>
          </a:xfrm>
          <a:prstGeom prst="rect">
            <a:avLst/>
          </a:prstGeom>
        </p:spPr>
        <p:txBody>
          <a:bodyPr vert="horz" wrap="square" lIns="0" tIns="6985" rIns="0" bIns="0" rtlCol="0" anchor="t">
            <a:spAutoFit/>
          </a:bodyPr>
          <a:lstStyle/>
          <a:p>
            <a:pPr marL="213995" marR="322580" indent="-139065">
              <a:lnSpc>
                <a:spcPct val="150000"/>
              </a:lnSpc>
              <a:spcBef>
                <a:spcPts val="55"/>
              </a:spcBef>
              <a:buClr>
                <a:srgbClr val="8C2054"/>
              </a:buClr>
              <a:buFont typeface="Arial"/>
              <a:buChar char="•"/>
              <a:tabLst>
                <a:tab pos="215265" algn="l"/>
              </a:tabLst>
            </a:pPr>
            <a:r>
              <a:rPr sz="1100" spc="-80" dirty="0">
                <a:latin typeface="Microsoft Sans Serif"/>
                <a:cs typeface="Microsoft Sans Serif"/>
              </a:rPr>
              <a:t>One</a:t>
            </a:r>
            <a:r>
              <a:rPr sz="1100" spc="65" dirty="0">
                <a:latin typeface="Microsoft Sans Serif"/>
                <a:cs typeface="Microsoft Sans Serif"/>
              </a:rPr>
              <a:t> </a:t>
            </a:r>
            <a:r>
              <a:rPr sz="1100" spc="-20" dirty="0">
                <a:latin typeface="Microsoft Sans Serif"/>
                <a:cs typeface="Microsoft Sans Serif"/>
              </a:rPr>
              <a:t>of</a:t>
            </a:r>
            <a:r>
              <a:rPr sz="1100" spc="70" dirty="0">
                <a:latin typeface="Microsoft Sans Serif"/>
                <a:cs typeface="Microsoft Sans Serif"/>
              </a:rPr>
              <a:t> </a:t>
            </a:r>
            <a:r>
              <a:rPr sz="1100" spc="-30" dirty="0">
                <a:latin typeface="Microsoft Sans Serif"/>
                <a:cs typeface="Microsoft Sans Serif"/>
              </a:rPr>
              <a:t>the</a:t>
            </a:r>
            <a:r>
              <a:rPr sz="1100" spc="70" dirty="0">
                <a:latin typeface="Microsoft Sans Serif"/>
                <a:cs typeface="Microsoft Sans Serif"/>
              </a:rPr>
              <a:t> </a:t>
            </a:r>
            <a:r>
              <a:rPr sz="1100" spc="-45" dirty="0">
                <a:latin typeface="Microsoft Sans Serif"/>
                <a:cs typeface="Microsoft Sans Serif"/>
              </a:rPr>
              <a:t>most</a:t>
            </a:r>
            <a:r>
              <a:rPr sz="1100" spc="70" dirty="0">
                <a:latin typeface="Microsoft Sans Serif"/>
                <a:cs typeface="Microsoft Sans Serif"/>
              </a:rPr>
              <a:t> </a:t>
            </a:r>
            <a:r>
              <a:rPr sz="1100" spc="-75" dirty="0">
                <a:latin typeface="Microsoft Sans Serif"/>
                <a:cs typeface="Microsoft Sans Serif"/>
              </a:rPr>
              <a:t>demanded</a:t>
            </a:r>
            <a:r>
              <a:rPr sz="1100" spc="70" dirty="0">
                <a:latin typeface="Microsoft Sans Serif"/>
                <a:cs typeface="Microsoft Sans Serif"/>
              </a:rPr>
              <a:t> </a:t>
            </a:r>
            <a:r>
              <a:rPr sz="1100" spc="-55" dirty="0">
                <a:latin typeface="Microsoft Sans Serif"/>
                <a:cs typeface="Microsoft Sans Serif"/>
              </a:rPr>
              <a:t>jobs</a:t>
            </a:r>
            <a:r>
              <a:rPr sz="1100" spc="70" dirty="0">
                <a:latin typeface="Microsoft Sans Serif"/>
                <a:cs typeface="Microsoft Sans Serif"/>
              </a:rPr>
              <a:t> </a:t>
            </a:r>
            <a:r>
              <a:rPr sz="1100" spc="-20" dirty="0">
                <a:latin typeface="Microsoft Sans Serif"/>
                <a:cs typeface="Microsoft Sans Serif"/>
              </a:rPr>
              <a:t>in</a:t>
            </a:r>
            <a:r>
              <a:rPr sz="1100" spc="70" dirty="0">
                <a:latin typeface="Microsoft Sans Serif"/>
                <a:cs typeface="Microsoft Sans Serif"/>
              </a:rPr>
              <a:t> </a:t>
            </a:r>
            <a:r>
              <a:rPr sz="1100" spc="-50" dirty="0">
                <a:latin typeface="Microsoft Sans Serif"/>
                <a:cs typeface="Microsoft Sans Serif"/>
              </a:rPr>
              <a:t>recent</a:t>
            </a:r>
            <a:r>
              <a:rPr sz="1100" spc="70" dirty="0">
                <a:latin typeface="Microsoft Sans Serif"/>
                <a:cs typeface="Microsoft Sans Serif"/>
              </a:rPr>
              <a:t> </a:t>
            </a:r>
            <a:r>
              <a:rPr sz="1100" spc="-45" dirty="0">
                <a:latin typeface="Microsoft Sans Serif"/>
                <a:cs typeface="Microsoft Sans Serif"/>
              </a:rPr>
              <a:t>times</a:t>
            </a:r>
            <a:r>
              <a:rPr sz="1100" spc="70" dirty="0">
                <a:latin typeface="Microsoft Sans Serif"/>
                <a:cs typeface="Microsoft Sans Serif"/>
              </a:rPr>
              <a:t> </a:t>
            </a:r>
            <a:r>
              <a:rPr sz="1100" spc="-75" dirty="0">
                <a:latin typeface="Microsoft Sans Serif"/>
                <a:cs typeface="Microsoft Sans Serif"/>
              </a:rPr>
              <a:t>due</a:t>
            </a:r>
            <a:r>
              <a:rPr sz="1100" spc="70" dirty="0">
                <a:latin typeface="Microsoft Sans Serif"/>
                <a:cs typeface="Microsoft Sans Serif"/>
              </a:rPr>
              <a:t> </a:t>
            </a:r>
            <a:r>
              <a:rPr sz="1100" spc="10" dirty="0">
                <a:latin typeface="Microsoft Sans Serif"/>
                <a:cs typeface="Microsoft Sans Serif"/>
              </a:rPr>
              <a:t>to </a:t>
            </a:r>
            <a:r>
              <a:rPr sz="1100" spc="-280" dirty="0">
                <a:latin typeface="Microsoft Sans Serif"/>
                <a:cs typeface="Microsoft Sans Serif"/>
              </a:rPr>
              <a:t> </a:t>
            </a:r>
            <a:r>
              <a:rPr sz="1100" spc="-20" dirty="0">
                <a:latin typeface="Microsoft Sans Serif"/>
                <a:cs typeface="Microsoft Sans Serif"/>
              </a:rPr>
              <a:t>digitization</a:t>
            </a:r>
            <a:r>
              <a:rPr sz="1100" spc="65" dirty="0">
                <a:latin typeface="Microsoft Sans Serif"/>
                <a:cs typeface="Microsoft Sans Serif"/>
              </a:rPr>
              <a:t> </a:t>
            </a:r>
            <a:r>
              <a:rPr sz="1100" spc="-65" dirty="0">
                <a:latin typeface="Microsoft Sans Serif"/>
                <a:cs typeface="Microsoft Sans Serif"/>
              </a:rPr>
              <a:t>and</a:t>
            </a:r>
            <a:r>
              <a:rPr sz="1100" spc="70" dirty="0">
                <a:latin typeface="Microsoft Sans Serif"/>
                <a:cs typeface="Microsoft Sans Serif"/>
              </a:rPr>
              <a:t> </a:t>
            </a:r>
            <a:r>
              <a:rPr sz="1100" spc="-65" dirty="0">
                <a:latin typeface="Microsoft Sans Serif"/>
                <a:cs typeface="Microsoft Sans Serif"/>
              </a:rPr>
              <a:t>explosive</a:t>
            </a:r>
            <a:r>
              <a:rPr sz="1100" spc="70" dirty="0">
                <a:latin typeface="Microsoft Sans Serif"/>
                <a:cs typeface="Microsoft Sans Serif"/>
              </a:rPr>
              <a:t> </a:t>
            </a:r>
            <a:r>
              <a:rPr sz="1100" spc="-35" dirty="0">
                <a:latin typeface="Microsoft Sans Serif"/>
                <a:cs typeface="Microsoft Sans Serif"/>
              </a:rPr>
              <a:t>data</a:t>
            </a:r>
            <a:r>
              <a:rPr sz="1100" spc="70" dirty="0">
                <a:latin typeface="Microsoft Sans Serif"/>
                <a:cs typeface="Microsoft Sans Serif"/>
              </a:rPr>
              <a:t> </a:t>
            </a:r>
            <a:r>
              <a:rPr sz="1100" spc="-20" dirty="0">
                <a:latin typeface="Microsoft Sans Serif"/>
                <a:cs typeface="Microsoft Sans Serif"/>
              </a:rPr>
              <a:t>growth!</a:t>
            </a:r>
            <a:endParaRPr lang="en-US" sz="1100">
              <a:latin typeface="Microsoft Sans Serif"/>
              <a:ea typeface="Microsoft Sans Serif"/>
              <a:cs typeface="Microsoft Sans Serif"/>
            </a:endParaRPr>
          </a:p>
          <a:p>
            <a:pPr marL="213995" indent="-139065">
              <a:lnSpc>
                <a:spcPct val="150000"/>
              </a:lnSpc>
              <a:spcBef>
                <a:spcPts val="335"/>
              </a:spcBef>
              <a:buClr>
                <a:srgbClr val="8C2054"/>
              </a:buClr>
              <a:buFont typeface="Arial"/>
              <a:buChar char="•"/>
              <a:tabLst>
                <a:tab pos="215265" algn="l"/>
              </a:tabLst>
            </a:pPr>
            <a:r>
              <a:rPr sz="1100" spc="-15" dirty="0">
                <a:latin typeface="Microsoft Sans Serif"/>
                <a:cs typeface="Microsoft Sans Serif"/>
              </a:rPr>
              <a:t>Extract</a:t>
            </a:r>
            <a:r>
              <a:rPr sz="1100" spc="65" dirty="0">
                <a:latin typeface="Microsoft Sans Serif"/>
                <a:cs typeface="Microsoft Sans Serif"/>
              </a:rPr>
              <a:t> </a:t>
            </a:r>
            <a:r>
              <a:rPr sz="1100" spc="-55" dirty="0">
                <a:latin typeface="Microsoft Sans Serif"/>
                <a:cs typeface="Microsoft Sans Serif"/>
              </a:rPr>
              <a:t>useful</a:t>
            </a:r>
            <a:r>
              <a:rPr sz="1100" spc="65" dirty="0">
                <a:latin typeface="Microsoft Sans Serif"/>
                <a:cs typeface="Microsoft Sans Serif"/>
              </a:rPr>
              <a:t> </a:t>
            </a:r>
            <a:r>
              <a:rPr sz="1100" spc="-45" dirty="0">
                <a:latin typeface="Microsoft Sans Serif"/>
                <a:cs typeface="Microsoft Sans Serif"/>
              </a:rPr>
              <a:t>insights</a:t>
            </a:r>
            <a:r>
              <a:rPr sz="1100" spc="70" dirty="0">
                <a:latin typeface="Microsoft Sans Serif"/>
                <a:cs typeface="Microsoft Sans Serif"/>
              </a:rPr>
              <a:t> </a:t>
            </a:r>
            <a:r>
              <a:rPr sz="1100" spc="-25" dirty="0">
                <a:latin typeface="Microsoft Sans Serif"/>
                <a:cs typeface="Microsoft Sans Serif"/>
              </a:rPr>
              <a:t>from</a:t>
            </a:r>
            <a:r>
              <a:rPr sz="1100" spc="65" dirty="0">
                <a:latin typeface="Microsoft Sans Serif"/>
                <a:cs typeface="Microsoft Sans Serif"/>
              </a:rPr>
              <a:t> </a:t>
            </a:r>
            <a:r>
              <a:rPr sz="1100" spc="-60" dirty="0">
                <a:latin typeface="Microsoft Sans Serif"/>
                <a:cs typeface="Microsoft Sans Serif"/>
              </a:rPr>
              <a:t>large</a:t>
            </a:r>
            <a:r>
              <a:rPr sz="1100" spc="70" dirty="0">
                <a:latin typeface="Microsoft Sans Serif"/>
                <a:cs typeface="Microsoft Sans Serif"/>
              </a:rPr>
              <a:t> </a:t>
            </a:r>
            <a:r>
              <a:rPr sz="1100" spc="-50" dirty="0">
                <a:latin typeface="Microsoft Sans Serif"/>
                <a:cs typeface="Microsoft Sans Serif"/>
              </a:rPr>
              <a:t>amounts</a:t>
            </a:r>
            <a:r>
              <a:rPr sz="1100" spc="65" dirty="0">
                <a:latin typeface="Microsoft Sans Serif"/>
                <a:cs typeface="Microsoft Sans Serif"/>
              </a:rPr>
              <a:t> </a:t>
            </a:r>
            <a:r>
              <a:rPr sz="1100" spc="-20" dirty="0">
                <a:latin typeface="Microsoft Sans Serif"/>
                <a:cs typeface="Microsoft Sans Serif"/>
              </a:rPr>
              <a:t>of</a:t>
            </a:r>
            <a:r>
              <a:rPr sz="1100" spc="65" dirty="0">
                <a:latin typeface="Microsoft Sans Serif"/>
                <a:cs typeface="Microsoft Sans Serif"/>
              </a:rPr>
              <a:t> </a:t>
            </a:r>
            <a:r>
              <a:rPr sz="1100" spc="-35" dirty="0">
                <a:latin typeface="Microsoft Sans Serif"/>
                <a:cs typeface="Microsoft Sans Serif"/>
              </a:rPr>
              <a:t>data</a:t>
            </a:r>
            <a:endParaRPr sz="1100">
              <a:latin typeface="Microsoft Sans Serif"/>
              <a:ea typeface="Microsoft Sans Serif"/>
              <a:cs typeface="Microsoft Sans Serif"/>
            </a:endParaRPr>
          </a:p>
          <a:p>
            <a:pPr marL="213995" indent="-139065">
              <a:lnSpc>
                <a:spcPct val="150000"/>
              </a:lnSpc>
              <a:spcBef>
                <a:spcPts val="334"/>
              </a:spcBef>
              <a:buClr>
                <a:srgbClr val="8C2054"/>
              </a:buClr>
              <a:buFont typeface="Arial"/>
              <a:buChar char="•"/>
              <a:tabLst>
                <a:tab pos="215265" algn="l"/>
              </a:tabLst>
            </a:pPr>
            <a:r>
              <a:rPr sz="1100" spc="-65" dirty="0">
                <a:latin typeface="Microsoft Sans Serif"/>
                <a:cs typeface="Microsoft Sans Serif"/>
              </a:rPr>
              <a:t>Enable</a:t>
            </a:r>
            <a:r>
              <a:rPr sz="1100" spc="65" dirty="0">
                <a:latin typeface="Microsoft Sans Serif"/>
                <a:cs typeface="Microsoft Sans Serif"/>
              </a:rPr>
              <a:t> </a:t>
            </a:r>
            <a:r>
              <a:rPr sz="1100" spc="-30" dirty="0">
                <a:latin typeface="Microsoft Sans Serif"/>
                <a:cs typeface="Microsoft Sans Serif"/>
              </a:rPr>
              <a:t>up-to-date</a:t>
            </a:r>
            <a:r>
              <a:rPr sz="1100" spc="70" dirty="0">
                <a:latin typeface="Microsoft Sans Serif"/>
                <a:cs typeface="Microsoft Sans Serif"/>
              </a:rPr>
              <a:t> </a:t>
            </a:r>
            <a:r>
              <a:rPr sz="1100" spc="-40" dirty="0">
                <a:latin typeface="Microsoft Sans Serif"/>
                <a:cs typeface="Microsoft Sans Serif"/>
              </a:rPr>
              <a:t>data-driven</a:t>
            </a:r>
            <a:r>
              <a:rPr sz="1100" spc="70" dirty="0">
                <a:latin typeface="Microsoft Sans Serif"/>
                <a:cs typeface="Microsoft Sans Serif"/>
              </a:rPr>
              <a:t> </a:t>
            </a:r>
            <a:r>
              <a:rPr sz="1100" spc="-60" dirty="0">
                <a:latin typeface="Microsoft Sans Serif"/>
                <a:cs typeface="Microsoft Sans Serif"/>
              </a:rPr>
              <a:t>decision</a:t>
            </a:r>
            <a:r>
              <a:rPr sz="1100" spc="65" dirty="0">
                <a:latin typeface="Microsoft Sans Serif"/>
                <a:cs typeface="Microsoft Sans Serif"/>
              </a:rPr>
              <a:t> </a:t>
            </a:r>
            <a:r>
              <a:rPr sz="1100" spc="-45" dirty="0">
                <a:latin typeface="Microsoft Sans Serif"/>
                <a:cs typeface="Microsoft Sans Serif"/>
              </a:rPr>
              <a:t>making</a:t>
            </a:r>
            <a:endParaRPr sz="1100">
              <a:latin typeface="Microsoft Sans Serif"/>
              <a:ea typeface="Microsoft Sans Serif"/>
              <a:cs typeface="Microsoft Sans Serif"/>
            </a:endParaRPr>
          </a:p>
          <a:p>
            <a:pPr marL="213995" marR="30480" indent="-139065">
              <a:lnSpc>
                <a:spcPct val="150000"/>
              </a:lnSpc>
              <a:spcBef>
                <a:spcPts val="295"/>
              </a:spcBef>
              <a:buClr>
                <a:srgbClr val="8C2054"/>
              </a:buClr>
              <a:buFont typeface="Arial"/>
              <a:buChar char="•"/>
              <a:tabLst>
                <a:tab pos="215265" algn="l"/>
              </a:tabLst>
            </a:pPr>
            <a:r>
              <a:rPr sz="1100" spc="-40" dirty="0">
                <a:latin typeface="Microsoft Sans Serif"/>
                <a:cs typeface="Microsoft Sans Serif"/>
              </a:rPr>
              <a:t>Many</a:t>
            </a:r>
            <a:r>
              <a:rPr sz="1100" spc="65" dirty="0">
                <a:latin typeface="Microsoft Sans Serif"/>
                <a:cs typeface="Microsoft Sans Serif"/>
              </a:rPr>
              <a:t> </a:t>
            </a:r>
            <a:r>
              <a:rPr sz="1100" spc="-25" dirty="0">
                <a:latin typeface="Microsoft Sans Serif"/>
                <a:cs typeface="Microsoft Sans Serif"/>
              </a:rPr>
              <a:t>different</a:t>
            </a:r>
            <a:r>
              <a:rPr sz="1100" spc="70" dirty="0">
                <a:latin typeface="Microsoft Sans Serif"/>
                <a:cs typeface="Microsoft Sans Serif"/>
              </a:rPr>
              <a:t> </a:t>
            </a:r>
            <a:r>
              <a:rPr sz="1100" spc="-35" dirty="0">
                <a:latin typeface="Microsoft Sans Serif"/>
                <a:cs typeface="Microsoft Sans Serif"/>
              </a:rPr>
              <a:t>application</a:t>
            </a:r>
            <a:r>
              <a:rPr sz="1100" spc="70" dirty="0">
                <a:latin typeface="Microsoft Sans Serif"/>
                <a:cs typeface="Microsoft Sans Serif"/>
              </a:rPr>
              <a:t> </a:t>
            </a:r>
            <a:r>
              <a:rPr sz="1100" spc="-95" dirty="0">
                <a:latin typeface="Microsoft Sans Serif"/>
                <a:cs typeface="Microsoft Sans Serif"/>
              </a:rPr>
              <a:t>areas</a:t>
            </a:r>
            <a:r>
              <a:rPr sz="1100" spc="70" dirty="0">
                <a:latin typeface="Microsoft Sans Serif"/>
                <a:cs typeface="Microsoft Sans Serif"/>
              </a:rPr>
              <a:t> </a:t>
            </a:r>
            <a:r>
              <a:rPr sz="1100" spc="-65" dirty="0">
                <a:latin typeface="Microsoft Sans Serif"/>
                <a:cs typeface="Microsoft Sans Serif"/>
              </a:rPr>
              <a:t>you</a:t>
            </a:r>
            <a:r>
              <a:rPr sz="1100" spc="70" dirty="0">
                <a:latin typeface="Microsoft Sans Serif"/>
                <a:cs typeface="Microsoft Sans Serif"/>
              </a:rPr>
              <a:t> </a:t>
            </a:r>
            <a:r>
              <a:rPr sz="1100" spc="-70" dirty="0">
                <a:latin typeface="Microsoft Sans Serif"/>
                <a:cs typeface="Microsoft Sans Serif"/>
              </a:rPr>
              <a:t>can</a:t>
            </a:r>
            <a:r>
              <a:rPr sz="1100" spc="70" dirty="0">
                <a:latin typeface="Microsoft Sans Serif"/>
                <a:cs typeface="Microsoft Sans Serif"/>
              </a:rPr>
              <a:t> </a:t>
            </a:r>
            <a:r>
              <a:rPr sz="1100" spc="-80" dirty="0">
                <a:latin typeface="Microsoft Sans Serif"/>
                <a:cs typeface="Microsoft Sans Serif"/>
              </a:rPr>
              <a:t>choose</a:t>
            </a:r>
            <a:r>
              <a:rPr sz="1100" spc="70" dirty="0">
                <a:latin typeface="Microsoft Sans Serif"/>
                <a:cs typeface="Microsoft Sans Serif"/>
              </a:rPr>
              <a:t> </a:t>
            </a:r>
            <a:r>
              <a:rPr sz="1100" spc="-25" dirty="0">
                <a:latin typeface="Microsoft Sans Serif"/>
                <a:cs typeface="Microsoft Sans Serif"/>
              </a:rPr>
              <a:t>from</a:t>
            </a:r>
            <a:r>
              <a:rPr sz="1100" spc="70" dirty="0">
                <a:latin typeface="Microsoft Sans Serif"/>
                <a:cs typeface="Microsoft Sans Serif"/>
              </a:rPr>
              <a:t> </a:t>
            </a:r>
            <a:r>
              <a:rPr sz="1100" spc="-90" dirty="0">
                <a:latin typeface="Microsoft Sans Serif"/>
                <a:cs typeface="Microsoft Sans Serif"/>
              </a:rPr>
              <a:t>based </a:t>
            </a:r>
            <a:r>
              <a:rPr sz="1100" spc="-275" dirty="0">
                <a:latin typeface="Microsoft Sans Serif"/>
                <a:cs typeface="Microsoft Sans Serif"/>
              </a:rPr>
              <a:t> </a:t>
            </a:r>
            <a:r>
              <a:rPr sz="1100" spc="-60" dirty="0">
                <a:latin typeface="Microsoft Sans Serif"/>
                <a:cs typeface="Microsoft Sans Serif"/>
              </a:rPr>
              <a:t>on</a:t>
            </a:r>
            <a:r>
              <a:rPr sz="1100" spc="-55" dirty="0">
                <a:latin typeface="Microsoft Sans Serif"/>
                <a:cs typeface="Microsoft Sans Serif"/>
              </a:rPr>
              <a:t> </a:t>
            </a:r>
            <a:r>
              <a:rPr sz="1100" spc="-50" dirty="0">
                <a:latin typeface="Microsoft Sans Serif"/>
                <a:cs typeface="Microsoft Sans Serif"/>
              </a:rPr>
              <a:t>your </a:t>
            </a:r>
            <a:r>
              <a:rPr sz="1100" spc="-60" dirty="0">
                <a:latin typeface="Microsoft Sans Serif"/>
                <a:cs typeface="Microsoft Sans Serif"/>
              </a:rPr>
              <a:t>personal</a:t>
            </a:r>
            <a:r>
              <a:rPr sz="1100" spc="-55" dirty="0">
                <a:latin typeface="Microsoft Sans Serif"/>
                <a:cs typeface="Microsoft Sans Serif"/>
              </a:rPr>
              <a:t> </a:t>
            </a:r>
            <a:r>
              <a:rPr sz="1100" spc="-30" dirty="0">
                <a:latin typeface="Microsoft Sans Serif"/>
                <a:cs typeface="Microsoft Sans Serif"/>
              </a:rPr>
              <a:t>interest:</a:t>
            </a:r>
            <a:r>
              <a:rPr sz="1100" spc="-25" dirty="0">
                <a:latin typeface="Microsoft Sans Serif"/>
                <a:cs typeface="Microsoft Sans Serif"/>
              </a:rPr>
              <a:t> </a:t>
            </a:r>
            <a:r>
              <a:rPr sz="1100" spc="-75" dirty="0">
                <a:latin typeface="Microsoft Sans Serif"/>
                <a:cs typeface="Microsoft Sans Serif"/>
              </a:rPr>
              <a:t>business,</a:t>
            </a:r>
            <a:r>
              <a:rPr sz="1100" spc="-70" dirty="0">
                <a:latin typeface="Microsoft Sans Serif"/>
                <a:cs typeface="Microsoft Sans Serif"/>
              </a:rPr>
              <a:t> </a:t>
            </a:r>
            <a:r>
              <a:rPr sz="1100" spc="-75" dirty="0">
                <a:latin typeface="Microsoft Sans Serif"/>
                <a:cs typeface="Microsoft Sans Serif"/>
              </a:rPr>
              <a:t>energy,</a:t>
            </a:r>
            <a:r>
              <a:rPr sz="1100" spc="-70" dirty="0">
                <a:latin typeface="Microsoft Sans Serif"/>
                <a:cs typeface="Microsoft Sans Serif"/>
              </a:rPr>
              <a:t> </a:t>
            </a:r>
            <a:r>
              <a:rPr sz="1100" spc="-45" dirty="0">
                <a:latin typeface="Microsoft Sans Serif"/>
                <a:cs typeface="Microsoft Sans Serif"/>
              </a:rPr>
              <a:t>government, </a:t>
            </a:r>
            <a:r>
              <a:rPr sz="1100" spc="-40" dirty="0">
                <a:latin typeface="Microsoft Sans Serif"/>
                <a:cs typeface="Microsoft Sans Serif"/>
              </a:rPr>
              <a:t> </a:t>
            </a:r>
            <a:r>
              <a:rPr sz="1100" spc="-50" dirty="0">
                <a:latin typeface="Microsoft Sans Serif"/>
                <a:cs typeface="Microsoft Sans Serif"/>
              </a:rPr>
              <a:t>healthcare,</a:t>
            </a:r>
            <a:r>
              <a:rPr sz="1100" spc="70" dirty="0">
                <a:latin typeface="Microsoft Sans Serif"/>
                <a:cs typeface="Microsoft Sans Serif"/>
              </a:rPr>
              <a:t> </a:t>
            </a:r>
            <a:r>
              <a:rPr sz="1100" spc="-45" dirty="0">
                <a:latin typeface="Microsoft Sans Serif"/>
                <a:cs typeface="Microsoft Sans Serif"/>
              </a:rPr>
              <a:t>intelligence</a:t>
            </a:r>
            <a:r>
              <a:rPr sz="1100" spc="75" dirty="0">
                <a:latin typeface="Microsoft Sans Serif"/>
                <a:cs typeface="Microsoft Sans Serif"/>
              </a:rPr>
              <a:t> </a:t>
            </a:r>
            <a:r>
              <a:rPr sz="1100" spc="-65" dirty="0">
                <a:latin typeface="Microsoft Sans Serif"/>
                <a:cs typeface="Microsoft Sans Serif"/>
              </a:rPr>
              <a:t>and</a:t>
            </a:r>
            <a:r>
              <a:rPr sz="1100" spc="75" dirty="0">
                <a:latin typeface="Microsoft Sans Serif"/>
                <a:cs typeface="Microsoft Sans Serif"/>
              </a:rPr>
              <a:t> </a:t>
            </a:r>
            <a:r>
              <a:rPr sz="1100" spc="-55" dirty="0">
                <a:latin typeface="Microsoft Sans Serif"/>
                <a:cs typeface="Microsoft Sans Serif"/>
              </a:rPr>
              <a:t>security,</a:t>
            </a:r>
            <a:r>
              <a:rPr sz="1100" spc="75" dirty="0">
                <a:latin typeface="Microsoft Sans Serif"/>
                <a:cs typeface="Microsoft Sans Serif"/>
              </a:rPr>
              <a:t> </a:t>
            </a:r>
            <a:r>
              <a:rPr sz="1100" spc="-40" dirty="0">
                <a:latin typeface="Microsoft Sans Serif"/>
                <a:cs typeface="Microsoft Sans Serif"/>
              </a:rPr>
              <a:t>logistics,</a:t>
            </a:r>
            <a:r>
              <a:rPr sz="1100" spc="75" dirty="0">
                <a:latin typeface="Microsoft Sans Serif"/>
                <a:cs typeface="Microsoft Sans Serif"/>
              </a:rPr>
              <a:t> </a:t>
            </a:r>
            <a:r>
              <a:rPr sz="1100" spc="-30" dirty="0">
                <a:latin typeface="Microsoft Sans Serif"/>
                <a:cs typeface="Microsoft Sans Serif"/>
              </a:rPr>
              <a:t>etc.</a:t>
            </a:r>
            <a:endParaRPr sz="1100">
              <a:latin typeface="Microsoft Sans Serif"/>
              <a:ea typeface="Microsoft Sans Serif"/>
              <a:cs typeface="Microsoft Sans Serif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0" y="3346348"/>
            <a:ext cx="4608195" cy="109855"/>
            <a:chOff x="0" y="3346348"/>
            <a:chExt cx="4608195" cy="109855"/>
          </a:xfrm>
        </p:grpSpPr>
        <p:sp>
          <p:nvSpPr>
            <p:cNvPr id="9" name="object 9"/>
            <p:cNvSpPr/>
            <p:nvPr/>
          </p:nvSpPr>
          <p:spPr>
            <a:xfrm>
              <a:off x="0" y="3346348"/>
              <a:ext cx="2304415" cy="109855"/>
            </a:xfrm>
            <a:custGeom>
              <a:avLst/>
              <a:gdLst/>
              <a:ahLst/>
              <a:cxnLst/>
              <a:rect l="l" t="t" r="r" b="b"/>
              <a:pathLst>
                <a:path w="2304415" h="109854">
                  <a:moveTo>
                    <a:pt x="2303996" y="0"/>
                  </a:moveTo>
                  <a:lnTo>
                    <a:pt x="1151991" y="0"/>
                  </a:lnTo>
                  <a:lnTo>
                    <a:pt x="0" y="0"/>
                  </a:lnTo>
                  <a:lnTo>
                    <a:pt x="0" y="109651"/>
                  </a:lnTo>
                  <a:lnTo>
                    <a:pt x="1151991" y="109651"/>
                  </a:lnTo>
                  <a:lnTo>
                    <a:pt x="2303996" y="109651"/>
                  </a:lnTo>
                  <a:lnTo>
                    <a:pt x="2303996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2303983" y="3346348"/>
              <a:ext cx="2304415" cy="109855"/>
            </a:xfrm>
            <a:custGeom>
              <a:avLst/>
              <a:gdLst/>
              <a:ahLst/>
              <a:cxnLst/>
              <a:rect l="l" t="t" r="r" b="b"/>
              <a:pathLst>
                <a:path w="2304415" h="109854">
                  <a:moveTo>
                    <a:pt x="2303996" y="0"/>
                  </a:moveTo>
                  <a:lnTo>
                    <a:pt x="1920024" y="0"/>
                  </a:lnTo>
                  <a:lnTo>
                    <a:pt x="0" y="0"/>
                  </a:lnTo>
                  <a:lnTo>
                    <a:pt x="0" y="109651"/>
                  </a:lnTo>
                  <a:lnTo>
                    <a:pt x="1920024" y="109651"/>
                  </a:lnTo>
                  <a:lnTo>
                    <a:pt x="2303996" y="109651"/>
                  </a:lnTo>
                  <a:lnTo>
                    <a:pt x="2303996" y="0"/>
                  </a:lnTo>
                  <a:close/>
                </a:path>
              </a:pathLst>
            </a:custGeom>
            <a:solidFill>
              <a:srgbClr val="8C205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object 13"/>
          <p:cNvSpPr txBox="1"/>
          <p:nvPr/>
        </p:nvSpPr>
        <p:spPr>
          <a:xfrm>
            <a:off x="3086696" y="3351784"/>
            <a:ext cx="354965" cy="10223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5"/>
              </a:lnSpc>
            </a:pPr>
            <a:r>
              <a:rPr sz="600" spc="5" dirty="0">
                <a:solidFill>
                  <a:srgbClr val="FFFFFF"/>
                </a:solidFill>
                <a:latin typeface="Microsoft Sans Serif"/>
                <a:cs typeface="Microsoft Sans Serif"/>
              </a:rPr>
              <a:t>Tutorial</a:t>
            </a:r>
            <a:r>
              <a:rPr sz="600" spc="-10" dirty="0">
                <a:solidFill>
                  <a:srgbClr val="FFFFFF"/>
                </a:solidFill>
                <a:latin typeface="Microsoft Sans Serif"/>
                <a:cs typeface="Microsoft Sans Serif"/>
              </a:rPr>
              <a:t> </a:t>
            </a:r>
            <a:r>
              <a:rPr sz="600" spc="-20" dirty="0">
                <a:solidFill>
                  <a:srgbClr val="FFFFFF"/>
                </a:solidFill>
                <a:latin typeface="Microsoft Sans Serif"/>
                <a:cs typeface="Microsoft Sans Serif"/>
              </a:rPr>
              <a:t>1</a:t>
            </a:r>
            <a:endParaRPr sz="600" dirty="0">
              <a:latin typeface="Microsoft Sans Serif"/>
              <a:cs typeface="Microsoft Sans Serif"/>
            </a:endParaRPr>
          </a:p>
        </p:txBody>
      </p:sp>
      <p:sp>
        <p:nvSpPr>
          <p:cNvPr id="14" name="object 12">
            <a:extLst>
              <a:ext uri="{FF2B5EF4-FFF2-40B4-BE49-F238E27FC236}">
                <a16:creationId xmlns:a16="http://schemas.microsoft.com/office/drawing/2014/main" id="{BDF553E7-372A-68B4-C0D6-AE56B14B4756}"/>
              </a:ext>
            </a:extLst>
          </p:cNvPr>
          <p:cNvSpPr txBox="1">
            <a:spLocks noGrp="1"/>
          </p:cNvSpPr>
          <p:nvPr>
            <p:ph type="dt" sz="half" idx="6"/>
          </p:nvPr>
        </p:nvSpPr>
        <p:spPr>
          <a:xfrm>
            <a:off x="1506396" y="3351784"/>
            <a:ext cx="570053" cy="8976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5"/>
              </a:lnSpc>
            </a:pPr>
            <a:r>
              <a:rPr lang="en-US" spc="10" dirty="0"/>
              <a:t>Summer 2026</a:t>
            </a:r>
            <a:endParaRPr lang="en-US" spc="-20" dirty="0"/>
          </a:p>
        </p:txBody>
      </p:sp>
      <p:sp>
        <p:nvSpPr>
          <p:cNvPr id="15" name="Footer Placeholder 10">
            <a:extLst>
              <a:ext uri="{FF2B5EF4-FFF2-40B4-BE49-F238E27FC236}">
                <a16:creationId xmlns:a16="http://schemas.microsoft.com/office/drawing/2014/main" id="{1E13AEB3-8538-5C07-891D-9F2D3030AE34}"/>
              </a:ext>
            </a:extLst>
          </p:cNvPr>
          <p:cNvSpPr>
            <a:spLocks noGrp="1"/>
          </p:cNvSpPr>
          <p:nvPr>
            <p:ph type="ftr" sz="quarter" idx="5"/>
          </p:nvPr>
        </p:nvSpPr>
        <p:spPr>
          <a:xfrm>
            <a:off x="346620" y="3351783"/>
            <a:ext cx="663029" cy="207391"/>
          </a:xfrm>
        </p:spPr>
        <p:txBody>
          <a:bodyPr/>
          <a:lstStyle/>
          <a:p>
            <a:pPr marL="12700">
              <a:lnSpc>
                <a:spcPts val="675"/>
              </a:lnSpc>
            </a:pPr>
            <a:r>
              <a:rPr lang="en-US" spc="-20" dirty="0"/>
              <a:t>By Hazem</a:t>
            </a:r>
            <a:r>
              <a:rPr lang="en-US" spc="-5" dirty="0"/>
              <a:t> </a:t>
            </a:r>
            <a:r>
              <a:rPr lang="en-US" dirty="0"/>
              <a:t>Nabil</a:t>
            </a:r>
          </a:p>
        </p:txBody>
      </p:sp>
      <p:sp>
        <p:nvSpPr>
          <p:cNvPr id="11" name="Slide Number Placeholder 14">
            <a:extLst>
              <a:ext uri="{FF2B5EF4-FFF2-40B4-BE49-F238E27FC236}">
                <a16:creationId xmlns:a16="http://schemas.microsoft.com/office/drawing/2014/main" id="{8AAB8F2F-97A8-2E58-BF7A-AF4342B1A363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>
          <a:xfrm>
            <a:off x="4246994" y="3351784"/>
            <a:ext cx="344804" cy="89768"/>
          </a:xfrm>
        </p:spPr>
        <p:txBody>
          <a:bodyPr/>
          <a:lstStyle/>
          <a:p>
            <a:pPr marL="38100">
              <a:lnSpc>
                <a:spcPts val="675"/>
              </a:lnSpc>
            </a:pPr>
            <a:fld id="{81D60167-4931-47E6-BA6A-407CBD079E47}" type="slidenum">
              <a:rPr lang="en-US" spc="-20" smtClean="0"/>
              <a:t>5</a:t>
            </a:fld>
            <a:r>
              <a:rPr lang="en-US" spc="20" dirty="0"/>
              <a:t> </a:t>
            </a:r>
            <a:r>
              <a:rPr lang="en-US" spc="150" dirty="0"/>
              <a:t>/</a:t>
            </a:r>
            <a:r>
              <a:rPr lang="en-US" spc="20" dirty="0"/>
              <a:t> </a:t>
            </a:r>
            <a:r>
              <a:rPr lang="en-US" spc="-20" dirty="0"/>
              <a:t>20</a:t>
            </a:r>
          </a:p>
        </p:txBody>
      </p:sp>
    </p:spTree>
  </p:cSld>
  <p:clrMapOvr>
    <a:masterClrMapping/>
  </p:clrMapOvr>
  <p:transition>
    <p:cut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268450" y="0"/>
            <a:ext cx="940435" cy="382270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441325" marR="5080" indent="73025" algn="r">
              <a:lnSpc>
                <a:spcPts val="700"/>
              </a:lnSpc>
              <a:spcBef>
                <a:spcPts val="135"/>
              </a:spcBef>
            </a:pPr>
            <a:r>
              <a:rPr sz="600" spc="10" dirty="0">
                <a:solidFill>
                  <a:srgbClr val="7F7F7F"/>
                </a:solidFill>
                <a:latin typeface="Microsoft Sans Serif"/>
                <a:cs typeface="Microsoft Sans Serif"/>
              </a:rPr>
              <a:t>Intr</a:t>
            </a:r>
            <a:r>
              <a:rPr sz="600" spc="30" dirty="0">
                <a:solidFill>
                  <a:srgbClr val="7F7F7F"/>
                </a:solidFill>
                <a:latin typeface="Microsoft Sans Serif"/>
                <a:cs typeface="Microsoft Sans Serif"/>
              </a:rPr>
              <a:t>o</a:t>
            </a:r>
            <a:r>
              <a:rPr sz="600" dirty="0">
                <a:solidFill>
                  <a:srgbClr val="7F7F7F"/>
                </a:solidFill>
                <a:latin typeface="Microsoft Sans Serif"/>
                <a:cs typeface="Microsoft Sans Serif"/>
              </a:rPr>
              <a:t>duction  </a:t>
            </a:r>
            <a:r>
              <a:rPr sz="600" spc="-30" dirty="0">
                <a:solidFill>
                  <a:srgbClr val="7F7F7F"/>
                </a:solidFill>
                <a:latin typeface="Microsoft Sans Serif"/>
                <a:cs typeface="Microsoft Sans Serif"/>
              </a:rPr>
              <a:t>Cours</a:t>
            </a:r>
            <a:r>
              <a:rPr sz="600" spc="-25" dirty="0">
                <a:solidFill>
                  <a:srgbClr val="7F7F7F"/>
                </a:solidFill>
                <a:latin typeface="Microsoft Sans Serif"/>
                <a:cs typeface="Microsoft Sans Serif"/>
              </a:rPr>
              <a:t>e</a:t>
            </a:r>
            <a:r>
              <a:rPr sz="600" spc="50" dirty="0">
                <a:solidFill>
                  <a:srgbClr val="7F7F7F"/>
                </a:solidFill>
                <a:latin typeface="Microsoft Sans Serif"/>
                <a:cs typeface="Microsoft Sans Serif"/>
              </a:rPr>
              <a:t> </a:t>
            </a:r>
            <a:r>
              <a:rPr sz="600" spc="-5" dirty="0">
                <a:solidFill>
                  <a:srgbClr val="7F7F7F"/>
                </a:solidFill>
                <a:latin typeface="Microsoft Sans Serif"/>
                <a:cs typeface="Microsoft Sans Serif"/>
              </a:rPr>
              <a:t>Details  </a:t>
            </a:r>
            <a:r>
              <a:rPr sz="600" spc="10" dirty="0">
                <a:solidFill>
                  <a:srgbClr val="FFFFFF"/>
                </a:solidFill>
                <a:latin typeface="Microsoft Sans Serif"/>
                <a:cs typeface="Microsoft Sans Serif"/>
              </a:rPr>
              <a:t>Motivation</a:t>
            </a:r>
            <a:endParaRPr sz="600" dirty="0">
              <a:latin typeface="Microsoft Sans Serif"/>
              <a:cs typeface="Microsoft Sans Serif"/>
            </a:endParaRPr>
          </a:p>
          <a:p>
            <a:pPr marR="5080" algn="r">
              <a:lnSpc>
                <a:spcPts val="670"/>
              </a:lnSpc>
            </a:pPr>
            <a:r>
              <a:rPr sz="600" spc="-25" dirty="0">
                <a:solidFill>
                  <a:srgbClr val="7F7F7F"/>
                </a:solidFill>
                <a:latin typeface="Microsoft Sans Serif"/>
                <a:cs typeface="Microsoft Sans Serif"/>
              </a:rPr>
              <a:t>Accessing</a:t>
            </a:r>
            <a:r>
              <a:rPr sz="600" spc="35" dirty="0">
                <a:solidFill>
                  <a:srgbClr val="7F7F7F"/>
                </a:solidFill>
                <a:latin typeface="Microsoft Sans Serif"/>
                <a:cs typeface="Microsoft Sans Serif"/>
              </a:rPr>
              <a:t> </a:t>
            </a:r>
            <a:r>
              <a:rPr sz="600" dirty="0">
                <a:solidFill>
                  <a:srgbClr val="7F7F7F"/>
                </a:solidFill>
                <a:latin typeface="Microsoft Sans Serif"/>
                <a:cs typeface="Microsoft Sans Serif"/>
              </a:rPr>
              <a:t>the</a:t>
            </a:r>
            <a:r>
              <a:rPr sz="600" spc="40" dirty="0">
                <a:solidFill>
                  <a:srgbClr val="7F7F7F"/>
                </a:solidFill>
                <a:latin typeface="Microsoft Sans Serif"/>
                <a:cs typeface="Microsoft Sans Serif"/>
              </a:rPr>
              <a:t> </a:t>
            </a:r>
            <a:r>
              <a:rPr sz="600" spc="-10" dirty="0">
                <a:solidFill>
                  <a:srgbClr val="7F7F7F"/>
                </a:solidFill>
                <a:latin typeface="Microsoft Sans Serif"/>
                <a:cs typeface="Microsoft Sans Serif"/>
              </a:rPr>
              <a:t>Lab</a:t>
            </a:r>
            <a:r>
              <a:rPr sz="600" spc="35" dirty="0">
                <a:solidFill>
                  <a:srgbClr val="7F7F7F"/>
                </a:solidFill>
                <a:latin typeface="Microsoft Sans Serif"/>
                <a:cs typeface="Microsoft Sans Serif"/>
              </a:rPr>
              <a:t> </a:t>
            </a:r>
            <a:r>
              <a:rPr sz="600" spc="5" dirty="0">
                <a:solidFill>
                  <a:srgbClr val="7F7F7F"/>
                </a:solidFill>
                <a:latin typeface="Microsoft Sans Serif"/>
                <a:cs typeface="Microsoft Sans Serif"/>
              </a:rPr>
              <a:t>Material</a:t>
            </a:r>
            <a:endParaRPr sz="600" dirty="0">
              <a:latin typeface="Microsoft Sans Serif"/>
              <a:cs typeface="Microsoft Sans Serif"/>
            </a:endParaRPr>
          </a:p>
        </p:txBody>
      </p:sp>
      <p:pic>
        <p:nvPicPr>
          <p:cNvPr id="3" name="object 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2303995" y="0"/>
            <a:ext cx="2304008" cy="366928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2679966" y="129636"/>
            <a:ext cx="1438910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900" b="1" spc="-20" dirty="0">
                <a:solidFill>
                  <a:srgbClr val="FFFFFF"/>
                </a:solidFill>
                <a:latin typeface="Trebuchet MS"/>
                <a:cs typeface="Trebuchet MS"/>
              </a:rPr>
              <a:t>German</a:t>
            </a:r>
            <a:r>
              <a:rPr sz="900" b="1" spc="40" dirty="0">
                <a:solidFill>
                  <a:srgbClr val="FFFFFF"/>
                </a:solidFill>
                <a:latin typeface="Trebuchet MS"/>
                <a:cs typeface="Trebuchet MS"/>
              </a:rPr>
              <a:t> </a:t>
            </a:r>
            <a:r>
              <a:rPr sz="900" b="1" spc="-25" dirty="0">
                <a:solidFill>
                  <a:srgbClr val="FFFFFF"/>
                </a:solidFill>
                <a:latin typeface="Trebuchet MS"/>
                <a:cs typeface="Trebuchet MS"/>
              </a:rPr>
              <a:t>University</a:t>
            </a:r>
            <a:r>
              <a:rPr sz="900" b="1" spc="45" dirty="0">
                <a:solidFill>
                  <a:srgbClr val="FFFFFF"/>
                </a:solidFill>
                <a:latin typeface="Trebuchet MS"/>
                <a:cs typeface="Trebuchet MS"/>
              </a:rPr>
              <a:t> </a:t>
            </a:r>
            <a:r>
              <a:rPr sz="900" b="1" spc="-35" dirty="0">
                <a:solidFill>
                  <a:srgbClr val="FFFFFF"/>
                </a:solidFill>
                <a:latin typeface="Trebuchet MS"/>
                <a:cs typeface="Trebuchet MS"/>
              </a:rPr>
              <a:t>in</a:t>
            </a:r>
            <a:r>
              <a:rPr sz="900" b="1" spc="40" dirty="0">
                <a:solidFill>
                  <a:srgbClr val="FFFFFF"/>
                </a:solidFill>
                <a:latin typeface="Trebuchet MS"/>
                <a:cs typeface="Trebuchet MS"/>
              </a:rPr>
              <a:t> </a:t>
            </a:r>
            <a:r>
              <a:rPr sz="900" b="1" spc="-15" dirty="0">
                <a:solidFill>
                  <a:srgbClr val="FFFFFF"/>
                </a:solidFill>
                <a:latin typeface="Trebuchet MS"/>
                <a:cs typeface="Trebuchet MS"/>
              </a:rPr>
              <a:t>Cairo</a:t>
            </a:r>
            <a:endParaRPr sz="900">
              <a:latin typeface="Trebuchet MS"/>
              <a:cs typeface="Trebuchet MS"/>
            </a:endParaRPr>
          </a:p>
        </p:txBody>
      </p:sp>
      <p:pic>
        <p:nvPicPr>
          <p:cNvPr id="5" name="object 5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0" y="366911"/>
            <a:ext cx="4604410" cy="260646"/>
          </a:xfrm>
          <a:prstGeom prst="rect">
            <a:avLst/>
          </a:prstGeom>
        </p:spPr>
      </p:pic>
      <p:sp>
        <p:nvSpPr>
          <p:cNvPr id="6" name="object 6"/>
          <p:cNvSpPr txBox="1"/>
          <p:nvPr/>
        </p:nvSpPr>
        <p:spPr>
          <a:xfrm>
            <a:off x="197218" y="364347"/>
            <a:ext cx="2148205" cy="24447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400" spc="-40" dirty="0">
                <a:solidFill>
                  <a:srgbClr val="FFFFFF"/>
                </a:solidFill>
                <a:latin typeface="Trebuchet MS"/>
                <a:cs typeface="Trebuchet MS"/>
              </a:rPr>
              <a:t>Job</a:t>
            </a:r>
            <a:r>
              <a:rPr sz="1400" spc="30" dirty="0">
                <a:solidFill>
                  <a:srgbClr val="FFFFFF"/>
                </a:solidFill>
                <a:latin typeface="Trebuchet MS"/>
                <a:cs typeface="Trebuchet MS"/>
              </a:rPr>
              <a:t> </a:t>
            </a:r>
            <a:r>
              <a:rPr sz="1400" spc="-70" dirty="0">
                <a:solidFill>
                  <a:srgbClr val="FFFFFF"/>
                </a:solidFill>
                <a:latin typeface="Trebuchet MS"/>
                <a:cs typeface="Trebuchet MS"/>
              </a:rPr>
              <a:t>titles</a:t>
            </a:r>
            <a:r>
              <a:rPr sz="1400" spc="35" dirty="0">
                <a:solidFill>
                  <a:srgbClr val="FFFFFF"/>
                </a:solidFill>
                <a:latin typeface="Trebuchet MS"/>
                <a:cs typeface="Trebuchet MS"/>
              </a:rPr>
              <a:t> </a:t>
            </a:r>
            <a:r>
              <a:rPr sz="1400" spc="-90" dirty="0">
                <a:solidFill>
                  <a:srgbClr val="FFFFFF"/>
                </a:solidFill>
                <a:latin typeface="Trebuchet MS"/>
                <a:cs typeface="Trebuchet MS"/>
              </a:rPr>
              <a:t>related</a:t>
            </a:r>
            <a:r>
              <a:rPr sz="1400" spc="35" dirty="0">
                <a:solidFill>
                  <a:srgbClr val="FFFFFF"/>
                </a:solidFill>
                <a:latin typeface="Trebuchet MS"/>
                <a:cs typeface="Trebuchet MS"/>
              </a:rPr>
              <a:t> </a:t>
            </a:r>
            <a:r>
              <a:rPr sz="1400" spc="-50" dirty="0">
                <a:solidFill>
                  <a:srgbClr val="FFFFFF"/>
                </a:solidFill>
                <a:latin typeface="Trebuchet MS"/>
                <a:cs typeface="Trebuchet MS"/>
              </a:rPr>
              <a:t>to</a:t>
            </a:r>
            <a:r>
              <a:rPr sz="1400" spc="35" dirty="0">
                <a:solidFill>
                  <a:srgbClr val="FFFFFF"/>
                </a:solidFill>
                <a:latin typeface="Trebuchet MS"/>
                <a:cs typeface="Trebuchet MS"/>
              </a:rPr>
              <a:t> </a:t>
            </a:r>
            <a:r>
              <a:rPr sz="1400" spc="-80" dirty="0">
                <a:solidFill>
                  <a:srgbClr val="FFFFFF"/>
                </a:solidFill>
                <a:latin typeface="Trebuchet MS"/>
                <a:cs typeface="Trebuchet MS"/>
              </a:rPr>
              <a:t>the</a:t>
            </a:r>
            <a:r>
              <a:rPr sz="1400" spc="30" dirty="0">
                <a:solidFill>
                  <a:srgbClr val="FFFFFF"/>
                </a:solidFill>
                <a:latin typeface="Trebuchet MS"/>
                <a:cs typeface="Trebuchet MS"/>
              </a:rPr>
              <a:t> </a:t>
            </a:r>
            <a:r>
              <a:rPr sz="1400" spc="-90" dirty="0">
                <a:solidFill>
                  <a:srgbClr val="FFFFFF"/>
                </a:solidFill>
                <a:latin typeface="Trebuchet MS"/>
                <a:cs typeface="Trebuchet MS"/>
              </a:rPr>
              <a:t>field</a:t>
            </a:r>
            <a:endParaRPr sz="1400">
              <a:latin typeface="Trebuchet MS"/>
              <a:cs typeface="Trebuchet MS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460451" y="1116937"/>
            <a:ext cx="1290320" cy="1598930"/>
          </a:xfrm>
          <a:prstGeom prst="rect">
            <a:avLst/>
          </a:prstGeom>
        </p:spPr>
        <p:txBody>
          <a:bodyPr vert="horz" wrap="square" lIns="0" tIns="41910" rIns="0" bIns="0" rtlCol="0">
            <a:spAutoFit/>
          </a:bodyPr>
          <a:lstStyle/>
          <a:p>
            <a:pPr marL="176530" indent="-139065">
              <a:lnSpc>
                <a:spcPct val="100000"/>
              </a:lnSpc>
              <a:spcBef>
                <a:spcPts val="330"/>
              </a:spcBef>
              <a:buClr>
                <a:srgbClr val="8C2054"/>
              </a:buClr>
              <a:buFont typeface="Arial"/>
              <a:buChar char="•"/>
              <a:tabLst>
                <a:tab pos="177165" algn="l"/>
              </a:tabLst>
            </a:pPr>
            <a:r>
              <a:rPr sz="1100" spc="-35" dirty="0">
                <a:latin typeface="Microsoft Sans Serif"/>
                <a:cs typeface="Microsoft Sans Serif"/>
              </a:rPr>
              <a:t>Analytics</a:t>
            </a:r>
            <a:r>
              <a:rPr sz="1100" spc="35" dirty="0">
                <a:latin typeface="Microsoft Sans Serif"/>
                <a:cs typeface="Microsoft Sans Serif"/>
              </a:rPr>
              <a:t> </a:t>
            </a:r>
            <a:r>
              <a:rPr sz="1100" spc="-65" dirty="0">
                <a:latin typeface="Microsoft Sans Serif"/>
                <a:cs typeface="Microsoft Sans Serif"/>
              </a:rPr>
              <a:t>Engineer</a:t>
            </a:r>
            <a:endParaRPr sz="1100" dirty="0">
              <a:latin typeface="Microsoft Sans Serif"/>
              <a:cs typeface="Microsoft Sans Serif"/>
            </a:endParaRPr>
          </a:p>
          <a:p>
            <a:pPr marL="176530" indent="-139065">
              <a:lnSpc>
                <a:spcPct val="100000"/>
              </a:lnSpc>
              <a:spcBef>
                <a:spcPts val="225"/>
              </a:spcBef>
              <a:buClr>
                <a:srgbClr val="8C2054"/>
              </a:buClr>
              <a:buFont typeface="Arial"/>
              <a:buChar char="•"/>
              <a:tabLst>
                <a:tab pos="177165" algn="l"/>
              </a:tabLst>
            </a:pPr>
            <a:r>
              <a:rPr sz="1100" spc="-35" dirty="0">
                <a:latin typeface="Microsoft Sans Serif"/>
                <a:cs typeface="Microsoft Sans Serif"/>
              </a:rPr>
              <a:t>Analytics</a:t>
            </a:r>
            <a:r>
              <a:rPr sz="1100" spc="10" dirty="0">
                <a:latin typeface="Microsoft Sans Serif"/>
                <a:cs typeface="Microsoft Sans Serif"/>
              </a:rPr>
              <a:t> </a:t>
            </a:r>
            <a:r>
              <a:rPr sz="1100" spc="-55" dirty="0">
                <a:latin typeface="Microsoft Sans Serif"/>
                <a:cs typeface="Microsoft Sans Serif"/>
              </a:rPr>
              <a:t>Manager</a:t>
            </a:r>
            <a:endParaRPr sz="1100" dirty="0">
              <a:latin typeface="Microsoft Sans Serif"/>
              <a:cs typeface="Microsoft Sans Serif"/>
            </a:endParaRPr>
          </a:p>
          <a:p>
            <a:pPr marL="176530" indent="-139065">
              <a:lnSpc>
                <a:spcPct val="100000"/>
              </a:lnSpc>
              <a:spcBef>
                <a:spcPts val="229"/>
              </a:spcBef>
              <a:buClr>
                <a:srgbClr val="8C2054"/>
              </a:buClr>
              <a:buFont typeface="Arial"/>
              <a:buChar char="•"/>
              <a:tabLst>
                <a:tab pos="177165" algn="l"/>
              </a:tabLst>
            </a:pPr>
            <a:r>
              <a:rPr sz="1100" spc="-25" dirty="0">
                <a:latin typeface="Microsoft Sans Serif"/>
                <a:cs typeface="Microsoft Sans Serif"/>
              </a:rPr>
              <a:t>Big</a:t>
            </a:r>
            <a:r>
              <a:rPr sz="1100" spc="40" dirty="0">
                <a:latin typeface="Microsoft Sans Serif"/>
                <a:cs typeface="Microsoft Sans Serif"/>
              </a:rPr>
              <a:t> </a:t>
            </a:r>
            <a:r>
              <a:rPr sz="1100" spc="-25" dirty="0">
                <a:latin typeface="Microsoft Sans Serif"/>
                <a:cs typeface="Microsoft Sans Serif"/>
              </a:rPr>
              <a:t>Data</a:t>
            </a:r>
            <a:r>
              <a:rPr sz="1100" spc="40" dirty="0">
                <a:latin typeface="Microsoft Sans Serif"/>
                <a:cs typeface="Microsoft Sans Serif"/>
              </a:rPr>
              <a:t> </a:t>
            </a:r>
            <a:r>
              <a:rPr sz="1100" spc="-65" dirty="0">
                <a:latin typeface="Microsoft Sans Serif"/>
                <a:cs typeface="Microsoft Sans Serif"/>
              </a:rPr>
              <a:t>Engineer</a:t>
            </a:r>
            <a:endParaRPr sz="1100" dirty="0">
              <a:latin typeface="Microsoft Sans Serif"/>
              <a:cs typeface="Microsoft Sans Serif"/>
            </a:endParaRPr>
          </a:p>
          <a:p>
            <a:pPr marL="176530" indent="-139065">
              <a:lnSpc>
                <a:spcPct val="100000"/>
              </a:lnSpc>
              <a:spcBef>
                <a:spcPts val="229"/>
              </a:spcBef>
              <a:buClr>
                <a:srgbClr val="8C2054"/>
              </a:buClr>
              <a:buFont typeface="Arial"/>
              <a:buChar char="•"/>
              <a:tabLst>
                <a:tab pos="177165" algn="l"/>
              </a:tabLst>
            </a:pPr>
            <a:r>
              <a:rPr sz="1100" spc="-80" dirty="0">
                <a:latin typeface="Microsoft Sans Serif"/>
                <a:cs typeface="Microsoft Sans Serif"/>
              </a:rPr>
              <a:t>Business</a:t>
            </a:r>
            <a:r>
              <a:rPr sz="1100" spc="35" dirty="0">
                <a:latin typeface="Microsoft Sans Serif"/>
                <a:cs typeface="Microsoft Sans Serif"/>
              </a:rPr>
              <a:t> </a:t>
            </a:r>
            <a:r>
              <a:rPr sz="1100" spc="-35" dirty="0">
                <a:latin typeface="Microsoft Sans Serif"/>
                <a:cs typeface="Microsoft Sans Serif"/>
              </a:rPr>
              <a:t>Analyst</a:t>
            </a:r>
            <a:endParaRPr sz="1100" dirty="0">
              <a:latin typeface="Microsoft Sans Serif"/>
              <a:cs typeface="Microsoft Sans Serif"/>
            </a:endParaRPr>
          </a:p>
          <a:p>
            <a:pPr marL="176530" indent="-139065">
              <a:lnSpc>
                <a:spcPct val="100000"/>
              </a:lnSpc>
              <a:spcBef>
                <a:spcPts val="229"/>
              </a:spcBef>
              <a:buClr>
                <a:srgbClr val="8C2054"/>
              </a:buClr>
              <a:buFont typeface="Arial"/>
              <a:buChar char="•"/>
              <a:tabLst>
                <a:tab pos="177165" algn="l"/>
              </a:tabLst>
            </a:pPr>
            <a:r>
              <a:rPr sz="1100" spc="-25" dirty="0">
                <a:latin typeface="Microsoft Sans Serif"/>
                <a:cs typeface="Microsoft Sans Serif"/>
              </a:rPr>
              <a:t>Data</a:t>
            </a:r>
            <a:r>
              <a:rPr sz="1100" spc="25" dirty="0">
                <a:latin typeface="Microsoft Sans Serif"/>
                <a:cs typeface="Microsoft Sans Serif"/>
              </a:rPr>
              <a:t> </a:t>
            </a:r>
            <a:r>
              <a:rPr sz="1100" spc="-15" dirty="0">
                <a:latin typeface="Microsoft Sans Serif"/>
                <a:cs typeface="Microsoft Sans Serif"/>
              </a:rPr>
              <a:t>Architect</a:t>
            </a:r>
            <a:endParaRPr sz="1100" dirty="0">
              <a:latin typeface="Microsoft Sans Serif"/>
              <a:cs typeface="Microsoft Sans Serif"/>
            </a:endParaRPr>
          </a:p>
          <a:p>
            <a:pPr marL="176530" indent="-139065">
              <a:lnSpc>
                <a:spcPct val="100000"/>
              </a:lnSpc>
              <a:spcBef>
                <a:spcPts val="225"/>
              </a:spcBef>
              <a:buClr>
                <a:srgbClr val="8C2054"/>
              </a:buClr>
              <a:buFont typeface="Arial"/>
              <a:buChar char="•"/>
              <a:tabLst>
                <a:tab pos="177165" algn="l"/>
              </a:tabLst>
            </a:pPr>
            <a:r>
              <a:rPr sz="1100" spc="-25" dirty="0">
                <a:latin typeface="Microsoft Sans Serif"/>
                <a:cs typeface="Microsoft Sans Serif"/>
              </a:rPr>
              <a:t>Data</a:t>
            </a:r>
            <a:r>
              <a:rPr sz="1100" spc="30" dirty="0">
                <a:latin typeface="Microsoft Sans Serif"/>
                <a:cs typeface="Microsoft Sans Serif"/>
              </a:rPr>
              <a:t> </a:t>
            </a:r>
            <a:r>
              <a:rPr sz="1100" spc="-35" dirty="0">
                <a:latin typeface="Microsoft Sans Serif"/>
                <a:cs typeface="Microsoft Sans Serif"/>
              </a:rPr>
              <a:t>Analyst</a:t>
            </a:r>
            <a:endParaRPr sz="1100" dirty="0">
              <a:latin typeface="Microsoft Sans Serif"/>
              <a:cs typeface="Microsoft Sans Serif"/>
            </a:endParaRPr>
          </a:p>
          <a:p>
            <a:pPr marL="176530" indent="-139065">
              <a:lnSpc>
                <a:spcPct val="100000"/>
              </a:lnSpc>
              <a:spcBef>
                <a:spcPts val="229"/>
              </a:spcBef>
              <a:buClr>
                <a:srgbClr val="8C2054"/>
              </a:buClr>
              <a:buFont typeface="Arial"/>
              <a:buChar char="•"/>
              <a:tabLst>
                <a:tab pos="177165" algn="l"/>
              </a:tabLst>
            </a:pPr>
            <a:r>
              <a:rPr sz="1100" spc="-25" dirty="0">
                <a:latin typeface="Microsoft Sans Serif"/>
                <a:cs typeface="Microsoft Sans Serif"/>
              </a:rPr>
              <a:t>Data</a:t>
            </a:r>
            <a:r>
              <a:rPr sz="1100" spc="5" dirty="0">
                <a:latin typeface="Microsoft Sans Serif"/>
                <a:cs typeface="Microsoft Sans Serif"/>
              </a:rPr>
              <a:t> </a:t>
            </a:r>
            <a:r>
              <a:rPr sz="1100" spc="-65" dirty="0">
                <a:latin typeface="Microsoft Sans Serif"/>
                <a:cs typeface="Microsoft Sans Serif"/>
              </a:rPr>
              <a:t>Engineer</a:t>
            </a:r>
            <a:endParaRPr sz="1100" dirty="0">
              <a:latin typeface="Microsoft Sans Serif"/>
              <a:cs typeface="Microsoft Sans Serif"/>
            </a:endParaRPr>
          </a:p>
          <a:p>
            <a:pPr marL="176530" indent="-139065">
              <a:lnSpc>
                <a:spcPct val="100000"/>
              </a:lnSpc>
              <a:spcBef>
                <a:spcPts val="229"/>
              </a:spcBef>
              <a:buClr>
                <a:srgbClr val="8C2054"/>
              </a:buClr>
              <a:buFont typeface="Arial"/>
              <a:buChar char="•"/>
              <a:tabLst>
                <a:tab pos="177165" algn="l"/>
              </a:tabLst>
            </a:pPr>
            <a:r>
              <a:rPr sz="1100" spc="-25" dirty="0">
                <a:latin typeface="Microsoft Sans Serif"/>
                <a:cs typeface="Microsoft Sans Serif"/>
              </a:rPr>
              <a:t>Data</a:t>
            </a:r>
            <a:r>
              <a:rPr sz="1100" spc="-20" dirty="0">
                <a:latin typeface="Microsoft Sans Serif"/>
                <a:cs typeface="Microsoft Sans Serif"/>
              </a:rPr>
              <a:t> </a:t>
            </a:r>
            <a:r>
              <a:rPr sz="1100" spc="-35" dirty="0">
                <a:latin typeface="Microsoft Sans Serif"/>
                <a:cs typeface="Microsoft Sans Serif"/>
              </a:rPr>
              <a:t>Scientist</a:t>
            </a:r>
            <a:endParaRPr sz="1100" dirty="0">
              <a:latin typeface="Microsoft Sans Serif"/>
              <a:cs typeface="Microsoft Sans Serif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2493111" y="1147342"/>
            <a:ext cx="1227455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51130" indent="-139065">
              <a:lnSpc>
                <a:spcPct val="100000"/>
              </a:lnSpc>
              <a:spcBef>
                <a:spcPts val="90"/>
              </a:spcBef>
              <a:buClr>
                <a:srgbClr val="8C2054"/>
              </a:buClr>
              <a:buFont typeface="Arial"/>
              <a:buChar char="•"/>
              <a:tabLst>
                <a:tab pos="151765" algn="l"/>
              </a:tabLst>
            </a:pPr>
            <a:r>
              <a:rPr sz="1100" spc="-25" dirty="0">
                <a:latin typeface="Microsoft Sans Serif"/>
                <a:cs typeface="Microsoft Sans Serif"/>
              </a:rPr>
              <a:t>Data</a:t>
            </a:r>
            <a:r>
              <a:rPr sz="1100" spc="15" dirty="0">
                <a:latin typeface="Microsoft Sans Serif"/>
                <a:cs typeface="Microsoft Sans Serif"/>
              </a:rPr>
              <a:t> </a:t>
            </a:r>
            <a:r>
              <a:rPr sz="1100" spc="-35" dirty="0">
                <a:latin typeface="Microsoft Sans Serif"/>
                <a:cs typeface="Microsoft Sans Serif"/>
              </a:rPr>
              <a:t>Visualization</a:t>
            </a:r>
            <a:endParaRPr sz="1100">
              <a:latin typeface="Microsoft Sans Serif"/>
              <a:cs typeface="Microsoft Sans Serif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2631655" y="1319414"/>
            <a:ext cx="570230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100" spc="-100" dirty="0">
                <a:latin typeface="Microsoft Sans Serif"/>
                <a:cs typeface="Microsoft Sans Serif"/>
              </a:rPr>
              <a:t>S</a:t>
            </a:r>
            <a:r>
              <a:rPr sz="1100" spc="-55" dirty="0">
                <a:latin typeface="Microsoft Sans Serif"/>
                <a:cs typeface="Microsoft Sans Serif"/>
              </a:rPr>
              <a:t>p</a:t>
            </a:r>
            <a:r>
              <a:rPr sz="1100" spc="-40" dirty="0">
                <a:latin typeface="Microsoft Sans Serif"/>
                <a:cs typeface="Microsoft Sans Serif"/>
              </a:rPr>
              <a:t>ecialist</a:t>
            </a:r>
            <a:endParaRPr sz="1100">
              <a:latin typeface="Microsoft Sans Serif"/>
              <a:cs typeface="Microsoft Sans Serif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2493111" y="1548852"/>
            <a:ext cx="1631950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51130" indent="-139065">
              <a:lnSpc>
                <a:spcPct val="100000"/>
              </a:lnSpc>
              <a:spcBef>
                <a:spcPts val="90"/>
              </a:spcBef>
              <a:buClr>
                <a:srgbClr val="8C2054"/>
              </a:buClr>
              <a:buFont typeface="Arial"/>
              <a:buChar char="•"/>
              <a:tabLst>
                <a:tab pos="151765" algn="l"/>
              </a:tabLst>
            </a:pPr>
            <a:r>
              <a:rPr sz="1100" spc="-80" dirty="0">
                <a:latin typeface="Microsoft Sans Serif"/>
                <a:cs typeface="Microsoft Sans Serif"/>
              </a:rPr>
              <a:t>Business</a:t>
            </a:r>
            <a:r>
              <a:rPr sz="1100" spc="50" dirty="0">
                <a:latin typeface="Microsoft Sans Serif"/>
                <a:cs typeface="Microsoft Sans Serif"/>
              </a:rPr>
              <a:t> </a:t>
            </a:r>
            <a:r>
              <a:rPr sz="1100" spc="-45" dirty="0">
                <a:latin typeface="Microsoft Sans Serif"/>
                <a:cs typeface="Microsoft Sans Serif"/>
              </a:rPr>
              <a:t>Intelligence</a:t>
            </a:r>
            <a:r>
              <a:rPr sz="1100" spc="55" dirty="0">
                <a:latin typeface="Microsoft Sans Serif"/>
                <a:cs typeface="Microsoft Sans Serif"/>
              </a:rPr>
              <a:t> </a:t>
            </a:r>
            <a:r>
              <a:rPr sz="1100" spc="25" dirty="0">
                <a:latin typeface="Microsoft Sans Serif"/>
                <a:cs typeface="Microsoft Sans Serif"/>
              </a:rPr>
              <a:t>(BI)</a:t>
            </a:r>
            <a:endParaRPr sz="1100">
              <a:latin typeface="Microsoft Sans Serif"/>
              <a:cs typeface="Microsoft Sans Serif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2631655" y="1720924"/>
            <a:ext cx="554990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100" spc="-15" dirty="0">
                <a:latin typeface="Microsoft Sans Serif"/>
                <a:cs typeface="Microsoft Sans Serif"/>
              </a:rPr>
              <a:t>Architect</a:t>
            </a:r>
            <a:endParaRPr sz="1100">
              <a:latin typeface="Microsoft Sans Serif"/>
              <a:cs typeface="Microsoft Sans Serif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2493111" y="1950350"/>
            <a:ext cx="1346835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51130" indent="-139065">
              <a:lnSpc>
                <a:spcPct val="100000"/>
              </a:lnSpc>
              <a:spcBef>
                <a:spcPts val="90"/>
              </a:spcBef>
              <a:buClr>
                <a:srgbClr val="8C2054"/>
              </a:buClr>
              <a:buFont typeface="Arial"/>
              <a:buChar char="•"/>
              <a:tabLst>
                <a:tab pos="151765" algn="l"/>
              </a:tabLst>
            </a:pPr>
            <a:r>
              <a:rPr sz="1100" spc="-80" dirty="0">
                <a:latin typeface="Microsoft Sans Serif"/>
                <a:cs typeface="Microsoft Sans Serif"/>
              </a:rPr>
              <a:t>Business</a:t>
            </a:r>
            <a:r>
              <a:rPr sz="1100" spc="35" dirty="0">
                <a:latin typeface="Microsoft Sans Serif"/>
                <a:cs typeface="Microsoft Sans Serif"/>
              </a:rPr>
              <a:t> </a:t>
            </a:r>
            <a:r>
              <a:rPr sz="1100" spc="-45" dirty="0">
                <a:latin typeface="Microsoft Sans Serif"/>
                <a:cs typeface="Microsoft Sans Serif"/>
              </a:rPr>
              <a:t>Intelligence</a:t>
            </a:r>
            <a:endParaRPr sz="1100">
              <a:latin typeface="Microsoft Sans Serif"/>
              <a:cs typeface="Microsoft Sans Serif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2631655" y="2122435"/>
            <a:ext cx="523875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100" spc="-65" dirty="0">
                <a:latin typeface="Microsoft Sans Serif"/>
                <a:cs typeface="Microsoft Sans Serif"/>
              </a:rPr>
              <a:t>Engineer</a:t>
            </a:r>
            <a:endParaRPr sz="1100">
              <a:latin typeface="Microsoft Sans Serif"/>
              <a:cs typeface="Microsoft Sans Serif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2493111" y="2351861"/>
            <a:ext cx="1346835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51130" indent="-139065">
              <a:lnSpc>
                <a:spcPct val="100000"/>
              </a:lnSpc>
              <a:spcBef>
                <a:spcPts val="90"/>
              </a:spcBef>
              <a:buClr>
                <a:srgbClr val="8C2054"/>
              </a:buClr>
              <a:buFont typeface="Arial"/>
              <a:buChar char="•"/>
              <a:tabLst>
                <a:tab pos="151765" algn="l"/>
              </a:tabLst>
            </a:pPr>
            <a:r>
              <a:rPr sz="1100" spc="-80" dirty="0">
                <a:latin typeface="Microsoft Sans Serif"/>
                <a:cs typeface="Microsoft Sans Serif"/>
              </a:rPr>
              <a:t>Business</a:t>
            </a:r>
            <a:r>
              <a:rPr sz="1100" spc="35" dirty="0">
                <a:latin typeface="Microsoft Sans Serif"/>
                <a:cs typeface="Microsoft Sans Serif"/>
              </a:rPr>
              <a:t> </a:t>
            </a:r>
            <a:r>
              <a:rPr sz="1100" spc="-45" dirty="0">
                <a:latin typeface="Microsoft Sans Serif"/>
                <a:cs typeface="Microsoft Sans Serif"/>
              </a:rPr>
              <a:t>Intelligence</a:t>
            </a:r>
            <a:endParaRPr sz="1100">
              <a:latin typeface="Microsoft Sans Serif"/>
              <a:cs typeface="Microsoft Sans Serif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2631655" y="2523933"/>
            <a:ext cx="570230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100" spc="-100" dirty="0">
                <a:latin typeface="Microsoft Sans Serif"/>
                <a:cs typeface="Microsoft Sans Serif"/>
              </a:rPr>
              <a:t>S</a:t>
            </a:r>
            <a:r>
              <a:rPr sz="1100" spc="-55" dirty="0">
                <a:latin typeface="Microsoft Sans Serif"/>
                <a:cs typeface="Microsoft Sans Serif"/>
              </a:rPr>
              <a:t>p</a:t>
            </a:r>
            <a:r>
              <a:rPr sz="1100" spc="-40" dirty="0">
                <a:latin typeface="Microsoft Sans Serif"/>
                <a:cs typeface="Microsoft Sans Serif"/>
              </a:rPr>
              <a:t>ecialist</a:t>
            </a:r>
            <a:endParaRPr sz="1100">
              <a:latin typeface="Microsoft Sans Serif"/>
              <a:cs typeface="Microsoft Sans Serif"/>
            </a:endParaRPr>
          </a:p>
        </p:txBody>
      </p:sp>
      <p:grpSp>
        <p:nvGrpSpPr>
          <p:cNvPr id="16" name="object 16"/>
          <p:cNvGrpSpPr/>
          <p:nvPr/>
        </p:nvGrpSpPr>
        <p:grpSpPr>
          <a:xfrm>
            <a:off x="0" y="3346348"/>
            <a:ext cx="4608195" cy="109855"/>
            <a:chOff x="0" y="3346348"/>
            <a:chExt cx="4608195" cy="109855"/>
          </a:xfrm>
        </p:grpSpPr>
        <p:sp>
          <p:nvSpPr>
            <p:cNvPr id="17" name="object 17"/>
            <p:cNvSpPr/>
            <p:nvPr/>
          </p:nvSpPr>
          <p:spPr>
            <a:xfrm>
              <a:off x="0" y="3346348"/>
              <a:ext cx="2304415" cy="109855"/>
            </a:xfrm>
            <a:custGeom>
              <a:avLst/>
              <a:gdLst/>
              <a:ahLst/>
              <a:cxnLst/>
              <a:rect l="l" t="t" r="r" b="b"/>
              <a:pathLst>
                <a:path w="2304415" h="109854">
                  <a:moveTo>
                    <a:pt x="2304008" y="0"/>
                  </a:moveTo>
                  <a:lnTo>
                    <a:pt x="1152004" y="0"/>
                  </a:lnTo>
                  <a:lnTo>
                    <a:pt x="0" y="0"/>
                  </a:lnTo>
                  <a:lnTo>
                    <a:pt x="0" y="109651"/>
                  </a:lnTo>
                  <a:lnTo>
                    <a:pt x="1152004" y="109651"/>
                  </a:lnTo>
                  <a:lnTo>
                    <a:pt x="2304008" y="109651"/>
                  </a:lnTo>
                  <a:lnTo>
                    <a:pt x="2304008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" name="object 18"/>
            <p:cNvSpPr/>
            <p:nvPr/>
          </p:nvSpPr>
          <p:spPr>
            <a:xfrm>
              <a:off x="2303995" y="3346348"/>
              <a:ext cx="2304415" cy="109855"/>
            </a:xfrm>
            <a:custGeom>
              <a:avLst/>
              <a:gdLst/>
              <a:ahLst/>
              <a:cxnLst/>
              <a:rect l="l" t="t" r="r" b="b"/>
              <a:pathLst>
                <a:path w="2304415" h="109854">
                  <a:moveTo>
                    <a:pt x="2303996" y="0"/>
                  </a:moveTo>
                  <a:lnTo>
                    <a:pt x="1920024" y="0"/>
                  </a:lnTo>
                  <a:lnTo>
                    <a:pt x="0" y="0"/>
                  </a:lnTo>
                  <a:lnTo>
                    <a:pt x="0" y="109651"/>
                  </a:lnTo>
                  <a:lnTo>
                    <a:pt x="1920024" y="109651"/>
                  </a:lnTo>
                  <a:lnTo>
                    <a:pt x="2303996" y="109651"/>
                  </a:lnTo>
                  <a:lnTo>
                    <a:pt x="2303996" y="0"/>
                  </a:lnTo>
                  <a:close/>
                </a:path>
              </a:pathLst>
            </a:custGeom>
            <a:solidFill>
              <a:srgbClr val="8C205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1" name="object 21"/>
          <p:cNvSpPr txBox="1"/>
          <p:nvPr/>
        </p:nvSpPr>
        <p:spPr>
          <a:xfrm>
            <a:off x="3086696" y="3351784"/>
            <a:ext cx="354965" cy="10223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5"/>
              </a:lnSpc>
            </a:pPr>
            <a:r>
              <a:rPr sz="600" spc="5" dirty="0">
                <a:solidFill>
                  <a:srgbClr val="FFFFFF"/>
                </a:solidFill>
                <a:latin typeface="Microsoft Sans Serif"/>
                <a:cs typeface="Microsoft Sans Serif"/>
              </a:rPr>
              <a:t>Tutorial</a:t>
            </a:r>
            <a:r>
              <a:rPr sz="600" spc="-10" dirty="0">
                <a:solidFill>
                  <a:srgbClr val="FFFFFF"/>
                </a:solidFill>
                <a:latin typeface="Microsoft Sans Serif"/>
                <a:cs typeface="Microsoft Sans Serif"/>
              </a:rPr>
              <a:t> </a:t>
            </a:r>
            <a:r>
              <a:rPr sz="600" spc="-20" dirty="0">
                <a:solidFill>
                  <a:srgbClr val="FFFFFF"/>
                </a:solidFill>
                <a:latin typeface="Microsoft Sans Serif"/>
                <a:cs typeface="Microsoft Sans Serif"/>
              </a:rPr>
              <a:t>1</a:t>
            </a:r>
            <a:endParaRPr sz="600" dirty="0">
              <a:latin typeface="Microsoft Sans Serif"/>
              <a:cs typeface="Microsoft Sans Serif"/>
            </a:endParaRPr>
          </a:p>
        </p:txBody>
      </p:sp>
      <p:sp>
        <p:nvSpPr>
          <p:cNvPr id="22" name="object 12">
            <a:extLst>
              <a:ext uri="{FF2B5EF4-FFF2-40B4-BE49-F238E27FC236}">
                <a16:creationId xmlns:a16="http://schemas.microsoft.com/office/drawing/2014/main" id="{6C4EE54D-A8C3-A919-C447-E201F10C23CB}"/>
              </a:ext>
            </a:extLst>
          </p:cNvPr>
          <p:cNvSpPr txBox="1">
            <a:spLocks noGrp="1"/>
          </p:cNvSpPr>
          <p:nvPr>
            <p:ph type="dt" sz="half" idx="6"/>
          </p:nvPr>
        </p:nvSpPr>
        <p:spPr>
          <a:xfrm>
            <a:off x="1506396" y="3351784"/>
            <a:ext cx="570053" cy="8976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5"/>
              </a:lnSpc>
            </a:pPr>
            <a:r>
              <a:rPr lang="en-US" spc="10" dirty="0"/>
              <a:t>Summer 2026</a:t>
            </a:r>
            <a:endParaRPr lang="en-US" spc="-20" dirty="0"/>
          </a:p>
        </p:txBody>
      </p:sp>
      <p:sp>
        <p:nvSpPr>
          <p:cNvPr id="24" name="Footer Placeholder 10">
            <a:extLst>
              <a:ext uri="{FF2B5EF4-FFF2-40B4-BE49-F238E27FC236}">
                <a16:creationId xmlns:a16="http://schemas.microsoft.com/office/drawing/2014/main" id="{DA4EF858-2E90-4FD3-F329-64BDE69C7E46}"/>
              </a:ext>
            </a:extLst>
          </p:cNvPr>
          <p:cNvSpPr>
            <a:spLocks noGrp="1"/>
          </p:cNvSpPr>
          <p:nvPr>
            <p:ph type="ftr" sz="quarter" idx="5"/>
          </p:nvPr>
        </p:nvSpPr>
        <p:spPr>
          <a:xfrm>
            <a:off x="346620" y="3351783"/>
            <a:ext cx="663029" cy="207391"/>
          </a:xfrm>
        </p:spPr>
        <p:txBody>
          <a:bodyPr/>
          <a:lstStyle/>
          <a:p>
            <a:pPr marL="12700">
              <a:lnSpc>
                <a:spcPts val="675"/>
              </a:lnSpc>
            </a:pPr>
            <a:r>
              <a:rPr lang="en-US" spc="-20" dirty="0"/>
              <a:t>By Hazem</a:t>
            </a:r>
            <a:r>
              <a:rPr lang="en-US" spc="-5" dirty="0"/>
              <a:t> </a:t>
            </a:r>
            <a:r>
              <a:rPr lang="en-US" dirty="0"/>
              <a:t>Nabil</a:t>
            </a:r>
          </a:p>
        </p:txBody>
      </p:sp>
      <p:sp>
        <p:nvSpPr>
          <p:cNvPr id="19" name="Slide Number Placeholder 14">
            <a:extLst>
              <a:ext uri="{FF2B5EF4-FFF2-40B4-BE49-F238E27FC236}">
                <a16:creationId xmlns:a16="http://schemas.microsoft.com/office/drawing/2014/main" id="{07FC75B6-F6DB-FE36-EE8D-CC098AEB0EFA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>
          <a:xfrm>
            <a:off x="4246994" y="3351784"/>
            <a:ext cx="344804" cy="89768"/>
          </a:xfrm>
        </p:spPr>
        <p:txBody>
          <a:bodyPr/>
          <a:lstStyle/>
          <a:p>
            <a:pPr marL="38100">
              <a:lnSpc>
                <a:spcPts val="675"/>
              </a:lnSpc>
            </a:pPr>
            <a:fld id="{81D60167-4931-47E6-BA6A-407CBD079E47}" type="slidenum">
              <a:rPr lang="en-US" spc="-20" smtClean="0"/>
              <a:t>6</a:t>
            </a:fld>
            <a:r>
              <a:rPr lang="en-US" spc="20" dirty="0"/>
              <a:t> </a:t>
            </a:r>
            <a:r>
              <a:rPr lang="en-US" spc="150" dirty="0"/>
              <a:t>/</a:t>
            </a:r>
            <a:r>
              <a:rPr lang="en-US" spc="20" dirty="0"/>
              <a:t> </a:t>
            </a:r>
            <a:r>
              <a:rPr lang="en-US" spc="-20" dirty="0"/>
              <a:t>20</a:t>
            </a:r>
          </a:p>
        </p:txBody>
      </p:sp>
    </p:spTree>
  </p:cSld>
  <p:clrMapOvr>
    <a:masterClrMapping/>
  </p:clrMapOvr>
  <p:transition>
    <p:cut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268450" y="0"/>
            <a:ext cx="940435" cy="382270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441325" marR="5080" indent="73025" algn="r">
              <a:lnSpc>
                <a:spcPts val="700"/>
              </a:lnSpc>
              <a:spcBef>
                <a:spcPts val="135"/>
              </a:spcBef>
            </a:pPr>
            <a:r>
              <a:rPr sz="600" spc="10" dirty="0">
                <a:solidFill>
                  <a:srgbClr val="7F7F7F"/>
                </a:solidFill>
                <a:latin typeface="Microsoft Sans Serif"/>
                <a:cs typeface="Microsoft Sans Serif"/>
              </a:rPr>
              <a:t>Intr</a:t>
            </a:r>
            <a:r>
              <a:rPr sz="600" spc="30" dirty="0">
                <a:solidFill>
                  <a:srgbClr val="7F7F7F"/>
                </a:solidFill>
                <a:latin typeface="Microsoft Sans Serif"/>
                <a:cs typeface="Microsoft Sans Serif"/>
              </a:rPr>
              <a:t>o</a:t>
            </a:r>
            <a:r>
              <a:rPr sz="600" dirty="0">
                <a:solidFill>
                  <a:srgbClr val="7F7F7F"/>
                </a:solidFill>
                <a:latin typeface="Microsoft Sans Serif"/>
                <a:cs typeface="Microsoft Sans Serif"/>
              </a:rPr>
              <a:t>duction  </a:t>
            </a:r>
            <a:r>
              <a:rPr sz="600" spc="-30" dirty="0">
                <a:solidFill>
                  <a:srgbClr val="7F7F7F"/>
                </a:solidFill>
                <a:latin typeface="Microsoft Sans Serif"/>
                <a:cs typeface="Microsoft Sans Serif"/>
              </a:rPr>
              <a:t>Cours</a:t>
            </a:r>
            <a:r>
              <a:rPr sz="600" spc="-25" dirty="0">
                <a:solidFill>
                  <a:srgbClr val="7F7F7F"/>
                </a:solidFill>
                <a:latin typeface="Microsoft Sans Serif"/>
                <a:cs typeface="Microsoft Sans Serif"/>
              </a:rPr>
              <a:t>e</a:t>
            </a:r>
            <a:r>
              <a:rPr sz="600" spc="50" dirty="0">
                <a:solidFill>
                  <a:srgbClr val="7F7F7F"/>
                </a:solidFill>
                <a:latin typeface="Microsoft Sans Serif"/>
                <a:cs typeface="Microsoft Sans Serif"/>
              </a:rPr>
              <a:t> </a:t>
            </a:r>
            <a:r>
              <a:rPr sz="600" spc="-5" dirty="0">
                <a:solidFill>
                  <a:srgbClr val="7F7F7F"/>
                </a:solidFill>
                <a:latin typeface="Microsoft Sans Serif"/>
                <a:cs typeface="Microsoft Sans Serif"/>
              </a:rPr>
              <a:t>Details  </a:t>
            </a:r>
            <a:r>
              <a:rPr sz="600" spc="10" dirty="0">
                <a:solidFill>
                  <a:srgbClr val="FFFFFF"/>
                </a:solidFill>
                <a:latin typeface="Microsoft Sans Serif"/>
                <a:cs typeface="Microsoft Sans Serif"/>
              </a:rPr>
              <a:t>Motivation</a:t>
            </a:r>
            <a:endParaRPr sz="600" dirty="0">
              <a:latin typeface="Microsoft Sans Serif"/>
              <a:cs typeface="Microsoft Sans Serif"/>
            </a:endParaRPr>
          </a:p>
          <a:p>
            <a:pPr marR="5080" algn="r">
              <a:lnSpc>
                <a:spcPts val="670"/>
              </a:lnSpc>
            </a:pPr>
            <a:r>
              <a:rPr sz="600" spc="-25" dirty="0">
                <a:solidFill>
                  <a:srgbClr val="7F7F7F"/>
                </a:solidFill>
                <a:latin typeface="Microsoft Sans Serif"/>
                <a:cs typeface="Microsoft Sans Serif"/>
              </a:rPr>
              <a:t>Accessing</a:t>
            </a:r>
            <a:r>
              <a:rPr sz="600" spc="35" dirty="0">
                <a:solidFill>
                  <a:srgbClr val="7F7F7F"/>
                </a:solidFill>
                <a:latin typeface="Microsoft Sans Serif"/>
                <a:cs typeface="Microsoft Sans Serif"/>
              </a:rPr>
              <a:t> </a:t>
            </a:r>
            <a:r>
              <a:rPr sz="600" dirty="0">
                <a:solidFill>
                  <a:srgbClr val="7F7F7F"/>
                </a:solidFill>
                <a:latin typeface="Microsoft Sans Serif"/>
                <a:cs typeface="Microsoft Sans Serif"/>
              </a:rPr>
              <a:t>the</a:t>
            </a:r>
            <a:r>
              <a:rPr sz="600" spc="40" dirty="0">
                <a:solidFill>
                  <a:srgbClr val="7F7F7F"/>
                </a:solidFill>
                <a:latin typeface="Microsoft Sans Serif"/>
                <a:cs typeface="Microsoft Sans Serif"/>
              </a:rPr>
              <a:t> </a:t>
            </a:r>
            <a:r>
              <a:rPr sz="600" spc="-10" dirty="0">
                <a:solidFill>
                  <a:srgbClr val="7F7F7F"/>
                </a:solidFill>
                <a:latin typeface="Microsoft Sans Serif"/>
                <a:cs typeface="Microsoft Sans Serif"/>
              </a:rPr>
              <a:t>Lab</a:t>
            </a:r>
            <a:r>
              <a:rPr sz="600" spc="35" dirty="0">
                <a:solidFill>
                  <a:srgbClr val="7F7F7F"/>
                </a:solidFill>
                <a:latin typeface="Microsoft Sans Serif"/>
                <a:cs typeface="Microsoft Sans Serif"/>
              </a:rPr>
              <a:t> </a:t>
            </a:r>
            <a:r>
              <a:rPr sz="600" spc="5" dirty="0">
                <a:solidFill>
                  <a:srgbClr val="7F7F7F"/>
                </a:solidFill>
                <a:latin typeface="Microsoft Sans Serif"/>
                <a:cs typeface="Microsoft Sans Serif"/>
              </a:rPr>
              <a:t>Material</a:t>
            </a:r>
            <a:endParaRPr sz="600" dirty="0">
              <a:latin typeface="Microsoft Sans Serif"/>
              <a:cs typeface="Microsoft Sans Serif"/>
            </a:endParaRPr>
          </a:p>
        </p:txBody>
      </p:sp>
      <p:pic>
        <p:nvPicPr>
          <p:cNvPr id="3" name="object 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2303995" y="0"/>
            <a:ext cx="2304008" cy="366928"/>
          </a:xfrm>
          <a:prstGeom prst="rect">
            <a:avLst/>
          </a:prstGeom>
        </p:spPr>
      </p:pic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2200910">
              <a:lnSpc>
                <a:spcPct val="100000"/>
              </a:lnSpc>
              <a:spcBef>
                <a:spcPts val="95"/>
              </a:spcBef>
            </a:pPr>
            <a:r>
              <a:rPr spc="-20" dirty="0"/>
              <a:t>German</a:t>
            </a:r>
            <a:r>
              <a:rPr spc="40" dirty="0"/>
              <a:t> </a:t>
            </a:r>
            <a:r>
              <a:rPr spc="-25" dirty="0"/>
              <a:t>University</a:t>
            </a:r>
            <a:r>
              <a:rPr spc="45" dirty="0"/>
              <a:t> </a:t>
            </a:r>
            <a:r>
              <a:rPr spc="-35" dirty="0"/>
              <a:t>in</a:t>
            </a:r>
            <a:r>
              <a:rPr spc="40" dirty="0"/>
              <a:t> </a:t>
            </a:r>
            <a:r>
              <a:rPr spc="-15" dirty="0"/>
              <a:t>Cairo</a:t>
            </a:r>
          </a:p>
        </p:txBody>
      </p:sp>
      <p:pic>
        <p:nvPicPr>
          <p:cNvPr id="5" name="object 5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0" y="366911"/>
            <a:ext cx="4604410" cy="260646"/>
          </a:xfrm>
          <a:prstGeom prst="rect">
            <a:avLst/>
          </a:prstGeom>
        </p:spPr>
      </p:pic>
      <p:sp>
        <p:nvSpPr>
          <p:cNvPr id="6" name="object 6"/>
          <p:cNvSpPr txBox="1"/>
          <p:nvPr/>
        </p:nvSpPr>
        <p:spPr>
          <a:xfrm>
            <a:off x="197218" y="364347"/>
            <a:ext cx="1702435" cy="24447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400" spc="-55" dirty="0">
                <a:solidFill>
                  <a:srgbClr val="FFFFFF"/>
                </a:solidFill>
                <a:latin typeface="Trebuchet MS"/>
                <a:cs typeface="Trebuchet MS"/>
              </a:rPr>
              <a:t>Example</a:t>
            </a:r>
            <a:r>
              <a:rPr sz="1400" spc="15" dirty="0">
                <a:solidFill>
                  <a:srgbClr val="FFFFFF"/>
                </a:solidFill>
                <a:latin typeface="Trebuchet MS"/>
                <a:cs typeface="Trebuchet MS"/>
              </a:rPr>
              <a:t> </a:t>
            </a:r>
            <a:r>
              <a:rPr sz="1400" spc="-40" dirty="0">
                <a:solidFill>
                  <a:srgbClr val="FFFFFF"/>
                </a:solidFill>
                <a:latin typeface="Trebuchet MS"/>
                <a:cs typeface="Trebuchet MS"/>
              </a:rPr>
              <a:t>Job</a:t>
            </a:r>
            <a:r>
              <a:rPr sz="1400" spc="15" dirty="0">
                <a:solidFill>
                  <a:srgbClr val="FFFFFF"/>
                </a:solidFill>
                <a:latin typeface="Trebuchet MS"/>
                <a:cs typeface="Trebuchet MS"/>
              </a:rPr>
              <a:t> </a:t>
            </a:r>
            <a:r>
              <a:rPr sz="1400" spc="-55" dirty="0">
                <a:solidFill>
                  <a:srgbClr val="FFFFFF"/>
                </a:solidFill>
                <a:latin typeface="Trebuchet MS"/>
                <a:cs typeface="Trebuchet MS"/>
              </a:rPr>
              <a:t>Offerings</a:t>
            </a:r>
            <a:endParaRPr sz="1400">
              <a:latin typeface="Trebuchet MS"/>
              <a:cs typeface="Trebuchet MS"/>
            </a:endParaRPr>
          </a:p>
        </p:txBody>
      </p:sp>
      <p:pic>
        <p:nvPicPr>
          <p:cNvPr id="7" name="object 7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371434" y="1049753"/>
            <a:ext cx="1608486" cy="1672551"/>
          </a:xfrm>
          <a:prstGeom prst="rect">
            <a:avLst/>
          </a:prstGeom>
        </p:spPr>
      </p:pic>
      <p:pic>
        <p:nvPicPr>
          <p:cNvPr id="8" name="object 8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2367267" y="1031384"/>
            <a:ext cx="1620072" cy="1828718"/>
          </a:xfrm>
          <a:prstGeom prst="rect">
            <a:avLst/>
          </a:prstGeom>
        </p:spPr>
      </p:pic>
      <p:grpSp>
        <p:nvGrpSpPr>
          <p:cNvPr id="9" name="object 9"/>
          <p:cNvGrpSpPr/>
          <p:nvPr/>
        </p:nvGrpSpPr>
        <p:grpSpPr>
          <a:xfrm>
            <a:off x="0" y="3346348"/>
            <a:ext cx="4608195" cy="109855"/>
            <a:chOff x="0" y="3346348"/>
            <a:chExt cx="4608195" cy="109855"/>
          </a:xfrm>
        </p:grpSpPr>
        <p:sp>
          <p:nvSpPr>
            <p:cNvPr id="10" name="object 10"/>
            <p:cNvSpPr/>
            <p:nvPr/>
          </p:nvSpPr>
          <p:spPr>
            <a:xfrm>
              <a:off x="0" y="3346348"/>
              <a:ext cx="2304415" cy="109855"/>
            </a:xfrm>
            <a:custGeom>
              <a:avLst/>
              <a:gdLst/>
              <a:ahLst/>
              <a:cxnLst/>
              <a:rect l="l" t="t" r="r" b="b"/>
              <a:pathLst>
                <a:path w="2304415" h="109854">
                  <a:moveTo>
                    <a:pt x="2304008" y="0"/>
                  </a:moveTo>
                  <a:lnTo>
                    <a:pt x="1152004" y="0"/>
                  </a:lnTo>
                  <a:lnTo>
                    <a:pt x="0" y="0"/>
                  </a:lnTo>
                  <a:lnTo>
                    <a:pt x="0" y="109651"/>
                  </a:lnTo>
                  <a:lnTo>
                    <a:pt x="1152004" y="109651"/>
                  </a:lnTo>
                  <a:lnTo>
                    <a:pt x="2304008" y="109651"/>
                  </a:lnTo>
                  <a:lnTo>
                    <a:pt x="2304008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2303995" y="3346348"/>
              <a:ext cx="2304415" cy="109855"/>
            </a:xfrm>
            <a:custGeom>
              <a:avLst/>
              <a:gdLst/>
              <a:ahLst/>
              <a:cxnLst/>
              <a:rect l="l" t="t" r="r" b="b"/>
              <a:pathLst>
                <a:path w="2304415" h="109854">
                  <a:moveTo>
                    <a:pt x="2303996" y="0"/>
                  </a:moveTo>
                  <a:lnTo>
                    <a:pt x="1920024" y="0"/>
                  </a:lnTo>
                  <a:lnTo>
                    <a:pt x="0" y="0"/>
                  </a:lnTo>
                  <a:lnTo>
                    <a:pt x="0" y="109651"/>
                  </a:lnTo>
                  <a:lnTo>
                    <a:pt x="1920024" y="109651"/>
                  </a:lnTo>
                  <a:lnTo>
                    <a:pt x="2303996" y="109651"/>
                  </a:lnTo>
                  <a:lnTo>
                    <a:pt x="2303996" y="0"/>
                  </a:lnTo>
                  <a:close/>
                </a:path>
              </a:pathLst>
            </a:custGeom>
            <a:solidFill>
              <a:srgbClr val="8C205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4" name="object 14"/>
          <p:cNvSpPr txBox="1"/>
          <p:nvPr/>
        </p:nvSpPr>
        <p:spPr>
          <a:xfrm>
            <a:off x="3086696" y="3351784"/>
            <a:ext cx="354965" cy="10223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5"/>
              </a:lnSpc>
            </a:pPr>
            <a:r>
              <a:rPr sz="600" spc="5" dirty="0">
                <a:solidFill>
                  <a:srgbClr val="FFFFFF"/>
                </a:solidFill>
                <a:latin typeface="Microsoft Sans Serif"/>
                <a:cs typeface="Microsoft Sans Serif"/>
              </a:rPr>
              <a:t>Tutorial</a:t>
            </a:r>
            <a:r>
              <a:rPr sz="600" spc="-10" dirty="0">
                <a:solidFill>
                  <a:srgbClr val="FFFFFF"/>
                </a:solidFill>
                <a:latin typeface="Microsoft Sans Serif"/>
                <a:cs typeface="Microsoft Sans Serif"/>
              </a:rPr>
              <a:t> </a:t>
            </a:r>
            <a:r>
              <a:rPr sz="600" spc="-20" dirty="0">
                <a:solidFill>
                  <a:srgbClr val="FFFFFF"/>
                </a:solidFill>
                <a:latin typeface="Microsoft Sans Serif"/>
                <a:cs typeface="Microsoft Sans Serif"/>
              </a:rPr>
              <a:t>1</a:t>
            </a:r>
            <a:endParaRPr sz="600" dirty="0">
              <a:latin typeface="Microsoft Sans Serif"/>
              <a:cs typeface="Microsoft Sans Serif"/>
            </a:endParaRPr>
          </a:p>
        </p:txBody>
      </p:sp>
      <p:sp>
        <p:nvSpPr>
          <p:cNvPr id="15" name="object 12">
            <a:extLst>
              <a:ext uri="{FF2B5EF4-FFF2-40B4-BE49-F238E27FC236}">
                <a16:creationId xmlns:a16="http://schemas.microsoft.com/office/drawing/2014/main" id="{31CAD117-A568-478D-5093-02CB1CFC1E58}"/>
              </a:ext>
            </a:extLst>
          </p:cNvPr>
          <p:cNvSpPr txBox="1">
            <a:spLocks noGrp="1"/>
          </p:cNvSpPr>
          <p:nvPr>
            <p:ph type="dt" sz="half" idx="6"/>
          </p:nvPr>
        </p:nvSpPr>
        <p:spPr>
          <a:xfrm>
            <a:off x="1506396" y="3351784"/>
            <a:ext cx="570053" cy="8976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5"/>
              </a:lnSpc>
            </a:pPr>
            <a:r>
              <a:rPr lang="en-US" spc="10" dirty="0"/>
              <a:t>Summer 2026</a:t>
            </a:r>
            <a:endParaRPr spc="-20" dirty="0"/>
          </a:p>
        </p:txBody>
      </p:sp>
      <p:sp>
        <p:nvSpPr>
          <p:cNvPr id="17" name="Footer Placeholder 10">
            <a:extLst>
              <a:ext uri="{FF2B5EF4-FFF2-40B4-BE49-F238E27FC236}">
                <a16:creationId xmlns:a16="http://schemas.microsoft.com/office/drawing/2014/main" id="{7CC2387A-79B9-C926-C1CC-D4B10A59310B}"/>
              </a:ext>
            </a:extLst>
          </p:cNvPr>
          <p:cNvSpPr>
            <a:spLocks noGrp="1"/>
          </p:cNvSpPr>
          <p:nvPr>
            <p:ph type="ftr" sz="quarter" idx="5"/>
          </p:nvPr>
        </p:nvSpPr>
        <p:spPr>
          <a:xfrm>
            <a:off x="346620" y="3351783"/>
            <a:ext cx="663029" cy="207391"/>
          </a:xfrm>
        </p:spPr>
        <p:txBody>
          <a:bodyPr/>
          <a:lstStyle/>
          <a:p>
            <a:pPr marL="12700">
              <a:lnSpc>
                <a:spcPts val="675"/>
              </a:lnSpc>
            </a:pPr>
            <a:r>
              <a:rPr lang="en-US" spc="-20" dirty="0"/>
              <a:t>By Hazem</a:t>
            </a:r>
            <a:r>
              <a:rPr lang="en-US" spc="-5" dirty="0"/>
              <a:t> </a:t>
            </a:r>
            <a:r>
              <a:rPr lang="en-US" dirty="0"/>
              <a:t>Nabil</a:t>
            </a:r>
          </a:p>
        </p:txBody>
      </p:sp>
      <p:sp>
        <p:nvSpPr>
          <p:cNvPr id="12" name="Slide Number Placeholder 14">
            <a:extLst>
              <a:ext uri="{FF2B5EF4-FFF2-40B4-BE49-F238E27FC236}">
                <a16:creationId xmlns:a16="http://schemas.microsoft.com/office/drawing/2014/main" id="{DDD3E09E-424F-F628-A756-9C8B9DF98CB2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>
          <a:xfrm>
            <a:off x="4246994" y="3351784"/>
            <a:ext cx="344804" cy="89768"/>
          </a:xfrm>
        </p:spPr>
        <p:txBody>
          <a:bodyPr/>
          <a:lstStyle/>
          <a:p>
            <a:pPr marL="38100">
              <a:lnSpc>
                <a:spcPts val="675"/>
              </a:lnSpc>
            </a:pPr>
            <a:fld id="{81D60167-4931-47E6-BA6A-407CBD079E47}" type="slidenum">
              <a:rPr lang="en-US" spc="-20" smtClean="0"/>
              <a:t>7</a:t>
            </a:fld>
            <a:r>
              <a:rPr lang="en-US" spc="20" dirty="0"/>
              <a:t> </a:t>
            </a:r>
            <a:r>
              <a:rPr lang="en-US" spc="150" dirty="0"/>
              <a:t>/</a:t>
            </a:r>
            <a:r>
              <a:rPr lang="en-US" spc="20" dirty="0"/>
              <a:t> </a:t>
            </a:r>
            <a:r>
              <a:rPr lang="en-US" spc="-20" dirty="0"/>
              <a:t>20</a:t>
            </a:r>
          </a:p>
        </p:txBody>
      </p:sp>
    </p:spTree>
  </p:cSld>
  <p:clrMapOvr>
    <a:masterClrMapping/>
  </p:clrMapOvr>
  <p:transition>
    <p:cut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object 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2303995" y="0"/>
            <a:ext cx="2304008" cy="366928"/>
          </a:xfrm>
          <a:prstGeom prst="rect">
            <a:avLst/>
          </a:prstGeom>
        </p:spPr>
      </p:pic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2200910">
              <a:lnSpc>
                <a:spcPct val="100000"/>
              </a:lnSpc>
              <a:spcBef>
                <a:spcPts val="95"/>
              </a:spcBef>
            </a:pPr>
            <a:r>
              <a:rPr spc="-20" dirty="0"/>
              <a:t>German</a:t>
            </a:r>
            <a:r>
              <a:rPr spc="40" dirty="0"/>
              <a:t> </a:t>
            </a:r>
            <a:r>
              <a:rPr spc="-25" dirty="0"/>
              <a:t>University</a:t>
            </a:r>
            <a:r>
              <a:rPr spc="45" dirty="0"/>
              <a:t> </a:t>
            </a:r>
            <a:r>
              <a:rPr spc="-35" dirty="0"/>
              <a:t>in</a:t>
            </a:r>
            <a:r>
              <a:rPr spc="40" dirty="0"/>
              <a:t> </a:t>
            </a:r>
            <a:r>
              <a:rPr spc="-15" dirty="0"/>
              <a:t>Cairo</a:t>
            </a:r>
          </a:p>
        </p:txBody>
      </p:sp>
      <p:pic>
        <p:nvPicPr>
          <p:cNvPr id="5" name="object 5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0" y="366911"/>
            <a:ext cx="4604410" cy="260646"/>
          </a:xfrm>
          <a:prstGeom prst="rect">
            <a:avLst/>
          </a:prstGeom>
        </p:spPr>
      </p:pic>
      <p:sp>
        <p:nvSpPr>
          <p:cNvPr id="6" name="object 6"/>
          <p:cNvSpPr txBox="1"/>
          <p:nvPr/>
        </p:nvSpPr>
        <p:spPr>
          <a:xfrm>
            <a:off x="197218" y="364347"/>
            <a:ext cx="1702435" cy="24447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400" spc="-55" dirty="0">
                <a:solidFill>
                  <a:srgbClr val="FFFFFF"/>
                </a:solidFill>
                <a:latin typeface="Trebuchet MS"/>
                <a:cs typeface="Trebuchet MS"/>
              </a:rPr>
              <a:t>Example</a:t>
            </a:r>
            <a:r>
              <a:rPr sz="1400" spc="15" dirty="0">
                <a:solidFill>
                  <a:srgbClr val="FFFFFF"/>
                </a:solidFill>
                <a:latin typeface="Trebuchet MS"/>
                <a:cs typeface="Trebuchet MS"/>
              </a:rPr>
              <a:t> </a:t>
            </a:r>
            <a:r>
              <a:rPr sz="1400" spc="-40" dirty="0">
                <a:solidFill>
                  <a:srgbClr val="FFFFFF"/>
                </a:solidFill>
                <a:latin typeface="Trebuchet MS"/>
                <a:cs typeface="Trebuchet MS"/>
              </a:rPr>
              <a:t>Job</a:t>
            </a:r>
            <a:r>
              <a:rPr sz="1400" spc="15" dirty="0">
                <a:solidFill>
                  <a:srgbClr val="FFFFFF"/>
                </a:solidFill>
                <a:latin typeface="Trebuchet MS"/>
                <a:cs typeface="Trebuchet MS"/>
              </a:rPr>
              <a:t> </a:t>
            </a:r>
            <a:r>
              <a:rPr sz="1400" spc="-55" dirty="0">
                <a:solidFill>
                  <a:srgbClr val="FFFFFF"/>
                </a:solidFill>
                <a:latin typeface="Trebuchet MS"/>
                <a:cs typeface="Trebuchet MS"/>
              </a:rPr>
              <a:t>Offerings</a:t>
            </a:r>
            <a:endParaRPr sz="1400" dirty="0">
              <a:latin typeface="Trebuchet MS"/>
              <a:cs typeface="Trebuchet MS"/>
            </a:endParaRPr>
          </a:p>
        </p:txBody>
      </p:sp>
      <p:pic>
        <p:nvPicPr>
          <p:cNvPr id="7" name="object 7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375721" y="826938"/>
            <a:ext cx="1592950" cy="1788418"/>
          </a:xfrm>
          <a:prstGeom prst="rect">
            <a:avLst/>
          </a:prstGeom>
        </p:spPr>
      </p:pic>
      <p:pic>
        <p:nvPicPr>
          <p:cNvPr id="8" name="object 8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2367267" y="809001"/>
            <a:ext cx="1619930" cy="2470620"/>
          </a:xfrm>
          <a:prstGeom prst="rect">
            <a:avLst/>
          </a:prstGeom>
        </p:spPr>
      </p:pic>
      <p:grpSp>
        <p:nvGrpSpPr>
          <p:cNvPr id="9" name="object 9"/>
          <p:cNvGrpSpPr/>
          <p:nvPr/>
        </p:nvGrpSpPr>
        <p:grpSpPr>
          <a:xfrm>
            <a:off x="0" y="3346348"/>
            <a:ext cx="4608195" cy="109855"/>
            <a:chOff x="0" y="3346348"/>
            <a:chExt cx="4608195" cy="109855"/>
          </a:xfrm>
        </p:grpSpPr>
        <p:sp>
          <p:nvSpPr>
            <p:cNvPr id="10" name="object 10"/>
            <p:cNvSpPr/>
            <p:nvPr/>
          </p:nvSpPr>
          <p:spPr>
            <a:xfrm>
              <a:off x="0" y="3346361"/>
              <a:ext cx="2304415" cy="109855"/>
            </a:xfrm>
            <a:custGeom>
              <a:avLst/>
              <a:gdLst/>
              <a:ahLst/>
              <a:cxnLst/>
              <a:rect l="l" t="t" r="r" b="b"/>
              <a:pathLst>
                <a:path w="2304415" h="109854">
                  <a:moveTo>
                    <a:pt x="2304008" y="0"/>
                  </a:moveTo>
                  <a:lnTo>
                    <a:pt x="1152004" y="0"/>
                  </a:lnTo>
                  <a:lnTo>
                    <a:pt x="0" y="0"/>
                  </a:lnTo>
                  <a:lnTo>
                    <a:pt x="0" y="109639"/>
                  </a:lnTo>
                  <a:lnTo>
                    <a:pt x="1152004" y="109639"/>
                  </a:lnTo>
                  <a:lnTo>
                    <a:pt x="2304008" y="109639"/>
                  </a:lnTo>
                  <a:lnTo>
                    <a:pt x="2304008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2303995" y="3346361"/>
              <a:ext cx="2304415" cy="109855"/>
            </a:xfrm>
            <a:custGeom>
              <a:avLst/>
              <a:gdLst/>
              <a:ahLst/>
              <a:cxnLst/>
              <a:rect l="l" t="t" r="r" b="b"/>
              <a:pathLst>
                <a:path w="2304415" h="109854">
                  <a:moveTo>
                    <a:pt x="2303996" y="0"/>
                  </a:moveTo>
                  <a:lnTo>
                    <a:pt x="1920024" y="0"/>
                  </a:lnTo>
                  <a:lnTo>
                    <a:pt x="0" y="0"/>
                  </a:lnTo>
                  <a:lnTo>
                    <a:pt x="0" y="109639"/>
                  </a:lnTo>
                  <a:lnTo>
                    <a:pt x="1920024" y="109639"/>
                  </a:lnTo>
                  <a:lnTo>
                    <a:pt x="2303996" y="109639"/>
                  </a:lnTo>
                  <a:lnTo>
                    <a:pt x="2303996" y="0"/>
                  </a:lnTo>
                  <a:close/>
                </a:path>
              </a:pathLst>
            </a:custGeom>
            <a:solidFill>
              <a:srgbClr val="8C205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4" name="object 14"/>
          <p:cNvSpPr txBox="1"/>
          <p:nvPr/>
        </p:nvSpPr>
        <p:spPr>
          <a:xfrm>
            <a:off x="3086696" y="3351784"/>
            <a:ext cx="354965" cy="10223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5"/>
              </a:lnSpc>
            </a:pPr>
            <a:r>
              <a:rPr sz="600" spc="5" dirty="0">
                <a:solidFill>
                  <a:srgbClr val="FFFFFF"/>
                </a:solidFill>
                <a:latin typeface="Microsoft Sans Serif"/>
                <a:cs typeface="Microsoft Sans Serif"/>
              </a:rPr>
              <a:t>Tutorial</a:t>
            </a:r>
            <a:r>
              <a:rPr sz="600" spc="-10" dirty="0">
                <a:solidFill>
                  <a:srgbClr val="FFFFFF"/>
                </a:solidFill>
                <a:latin typeface="Microsoft Sans Serif"/>
                <a:cs typeface="Microsoft Sans Serif"/>
              </a:rPr>
              <a:t> </a:t>
            </a:r>
            <a:r>
              <a:rPr sz="600" spc="-20" dirty="0">
                <a:solidFill>
                  <a:srgbClr val="FFFFFF"/>
                </a:solidFill>
                <a:latin typeface="Microsoft Sans Serif"/>
                <a:cs typeface="Microsoft Sans Serif"/>
              </a:rPr>
              <a:t>1</a:t>
            </a:r>
            <a:endParaRPr sz="600" dirty="0">
              <a:latin typeface="Microsoft Sans Serif"/>
              <a:cs typeface="Microsoft Sans Serif"/>
            </a:endParaRPr>
          </a:p>
        </p:txBody>
      </p:sp>
      <p:sp>
        <p:nvSpPr>
          <p:cNvPr id="17" name="object 2">
            <a:extLst>
              <a:ext uri="{FF2B5EF4-FFF2-40B4-BE49-F238E27FC236}">
                <a16:creationId xmlns:a16="http://schemas.microsoft.com/office/drawing/2014/main" id="{15DA6452-CC69-444B-89DF-DEFC748DE0D8}"/>
              </a:ext>
            </a:extLst>
          </p:cNvPr>
          <p:cNvSpPr txBox="1"/>
          <p:nvPr/>
        </p:nvSpPr>
        <p:spPr>
          <a:xfrm>
            <a:off x="1268450" y="0"/>
            <a:ext cx="940435" cy="382270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441325" marR="5080" indent="73025" algn="r">
              <a:lnSpc>
                <a:spcPts val="700"/>
              </a:lnSpc>
              <a:spcBef>
                <a:spcPts val="135"/>
              </a:spcBef>
            </a:pPr>
            <a:r>
              <a:rPr sz="600" spc="10" dirty="0">
                <a:solidFill>
                  <a:srgbClr val="7F7F7F"/>
                </a:solidFill>
                <a:latin typeface="Microsoft Sans Serif"/>
                <a:cs typeface="Microsoft Sans Serif"/>
              </a:rPr>
              <a:t>Intr</a:t>
            </a:r>
            <a:r>
              <a:rPr sz="600" spc="30" dirty="0">
                <a:solidFill>
                  <a:srgbClr val="7F7F7F"/>
                </a:solidFill>
                <a:latin typeface="Microsoft Sans Serif"/>
                <a:cs typeface="Microsoft Sans Serif"/>
              </a:rPr>
              <a:t>o</a:t>
            </a:r>
            <a:r>
              <a:rPr sz="600" dirty="0">
                <a:solidFill>
                  <a:srgbClr val="7F7F7F"/>
                </a:solidFill>
                <a:latin typeface="Microsoft Sans Serif"/>
                <a:cs typeface="Microsoft Sans Serif"/>
              </a:rPr>
              <a:t>duction  </a:t>
            </a:r>
            <a:r>
              <a:rPr sz="600" spc="-30" dirty="0">
                <a:solidFill>
                  <a:srgbClr val="7F7F7F"/>
                </a:solidFill>
                <a:latin typeface="Microsoft Sans Serif"/>
                <a:cs typeface="Microsoft Sans Serif"/>
              </a:rPr>
              <a:t>Cours</a:t>
            </a:r>
            <a:r>
              <a:rPr sz="600" spc="-25" dirty="0">
                <a:solidFill>
                  <a:srgbClr val="7F7F7F"/>
                </a:solidFill>
                <a:latin typeface="Microsoft Sans Serif"/>
                <a:cs typeface="Microsoft Sans Serif"/>
              </a:rPr>
              <a:t>e</a:t>
            </a:r>
            <a:r>
              <a:rPr sz="600" spc="50" dirty="0">
                <a:solidFill>
                  <a:srgbClr val="7F7F7F"/>
                </a:solidFill>
                <a:latin typeface="Microsoft Sans Serif"/>
                <a:cs typeface="Microsoft Sans Serif"/>
              </a:rPr>
              <a:t> </a:t>
            </a:r>
            <a:r>
              <a:rPr sz="600" spc="-5" dirty="0">
                <a:solidFill>
                  <a:srgbClr val="7F7F7F"/>
                </a:solidFill>
                <a:latin typeface="Microsoft Sans Serif"/>
                <a:cs typeface="Microsoft Sans Serif"/>
              </a:rPr>
              <a:t>Details  </a:t>
            </a:r>
            <a:r>
              <a:rPr sz="600" spc="10" dirty="0">
                <a:solidFill>
                  <a:srgbClr val="FFFFFF"/>
                </a:solidFill>
                <a:latin typeface="Microsoft Sans Serif"/>
                <a:cs typeface="Microsoft Sans Serif"/>
              </a:rPr>
              <a:t>Motivation</a:t>
            </a:r>
            <a:endParaRPr sz="600" dirty="0">
              <a:latin typeface="Microsoft Sans Serif"/>
              <a:cs typeface="Microsoft Sans Serif"/>
            </a:endParaRPr>
          </a:p>
          <a:p>
            <a:pPr marR="5080" algn="r">
              <a:lnSpc>
                <a:spcPts val="670"/>
              </a:lnSpc>
            </a:pPr>
            <a:r>
              <a:rPr sz="600" spc="-25" dirty="0">
                <a:solidFill>
                  <a:srgbClr val="7F7F7F"/>
                </a:solidFill>
                <a:latin typeface="Microsoft Sans Serif"/>
                <a:cs typeface="Microsoft Sans Serif"/>
              </a:rPr>
              <a:t>Accessing</a:t>
            </a:r>
            <a:r>
              <a:rPr sz="600" spc="35" dirty="0">
                <a:solidFill>
                  <a:srgbClr val="7F7F7F"/>
                </a:solidFill>
                <a:latin typeface="Microsoft Sans Serif"/>
                <a:cs typeface="Microsoft Sans Serif"/>
              </a:rPr>
              <a:t> </a:t>
            </a:r>
            <a:r>
              <a:rPr sz="600" dirty="0">
                <a:solidFill>
                  <a:srgbClr val="7F7F7F"/>
                </a:solidFill>
                <a:latin typeface="Microsoft Sans Serif"/>
                <a:cs typeface="Microsoft Sans Serif"/>
              </a:rPr>
              <a:t>the</a:t>
            </a:r>
            <a:r>
              <a:rPr sz="600" spc="40" dirty="0">
                <a:solidFill>
                  <a:srgbClr val="7F7F7F"/>
                </a:solidFill>
                <a:latin typeface="Microsoft Sans Serif"/>
                <a:cs typeface="Microsoft Sans Serif"/>
              </a:rPr>
              <a:t> </a:t>
            </a:r>
            <a:r>
              <a:rPr sz="600" spc="-10" dirty="0">
                <a:solidFill>
                  <a:srgbClr val="7F7F7F"/>
                </a:solidFill>
                <a:latin typeface="Microsoft Sans Serif"/>
                <a:cs typeface="Microsoft Sans Serif"/>
              </a:rPr>
              <a:t>Lab</a:t>
            </a:r>
            <a:r>
              <a:rPr sz="600" spc="35" dirty="0">
                <a:solidFill>
                  <a:srgbClr val="7F7F7F"/>
                </a:solidFill>
                <a:latin typeface="Microsoft Sans Serif"/>
                <a:cs typeface="Microsoft Sans Serif"/>
              </a:rPr>
              <a:t> </a:t>
            </a:r>
            <a:r>
              <a:rPr sz="600" spc="5" dirty="0">
                <a:solidFill>
                  <a:srgbClr val="7F7F7F"/>
                </a:solidFill>
                <a:latin typeface="Microsoft Sans Serif"/>
                <a:cs typeface="Microsoft Sans Serif"/>
              </a:rPr>
              <a:t>Material</a:t>
            </a:r>
            <a:endParaRPr sz="600" dirty="0">
              <a:latin typeface="Microsoft Sans Serif"/>
              <a:cs typeface="Microsoft Sans Serif"/>
            </a:endParaRPr>
          </a:p>
        </p:txBody>
      </p:sp>
      <p:sp>
        <p:nvSpPr>
          <p:cNvPr id="18" name="object 12">
            <a:extLst>
              <a:ext uri="{FF2B5EF4-FFF2-40B4-BE49-F238E27FC236}">
                <a16:creationId xmlns:a16="http://schemas.microsoft.com/office/drawing/2014/main" id="{A1434275-B234-9050-BD0A-44F370BB9ECE}"/>
              </a:ext>
            </a:extLst>
          </p:cNvPr>
          <p:cNvSpPr txBox="1">
            <a:spLocks noGrp="1"/>
          </p:cNvSpPr>
          <p:nvPr>
            <p:ph type="dt" sz="half" idx="6"/>
          </p:nvPr>
        </p:nvSpPr>
        <p:spPr>
          <a:xfrm>
            <a:off x="1506396" y="3351784"/>
            <a:ext cx="663029" cy="8976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5"/>
              </a:lnSpc>
            </a:pPr>
            <a:r>
              <a:rPr lang="en-US" spc="10" dirty="0"/>
              <a:t>Summer 2026</a:t>
            </a:r>
            <a:endParaRPr spc="-20" dirty="0"/>
          </a:p>
        </p:txBody>
      </p:sp>
      <p:sp>
        <p:nvSpPr>
          <p:cNvPr id="19" name="Footer Placeholder 10">
            <a:extLst>
              <a:ext uri="{FF2B5EF4-FFF2-40B4-BE49-F238E27FC236}">
                <a16:creationId xmlns:a16="http://schemas.microsoft.com/office/drawing/2014/main" id="{8B51BA78-F29C-B83B-D684-C6C3D2AA9A22}"/>
              </a:ext>
            </a:extLst>
          </p:cNvPr>
          <p:cNvSpPr>
            <a:spLocks noGrp="1"/>
          </p:cNvSpPr>
          <p:nvPr>
            <p:ph type="ftr" sz="quarter" idx="5"/>
          </p:nvPr>
        </p:nvSpPr>
        <p:spPr>
          <a:xfrm>
            <a:off x="346620" y="3351783"/>
            <a:ext cx="663029" cy="207391"/>
          </a:xfrm>
        </p:spPr>
        <p:txBody>
          <a:bodyPr/>
          <a:lstStyle/>
          <a:p>
            <a:pPr marL="12700">
              <a:lnSpc>
                <a:spcPts val="675"/>
              </a:lnSpc>
            </a:pPr>
            <a:r>
              <a:rPr lang="en-US" spc="-20" dirty="0"/>
              <a:t>By Hazem</a:t>
            </a:r>
            <a:r>
              <a:rPr lang="en-US" spc="-5" dirty="0"/>
              <a:t> </a:t>
            </a:r>
            <a:r>
              <a:rPr lang="en-US" dirty="0"/>
              <a:t>Nabil</a:t>
            </a:r>
          </a:p>
        </p:txBody>
      </p:sp>
      <p:sp>
        <p:nvSpPr>
          <p:cNvPr id="2" name="Slide Number Placeholder 14">
            <a:extLst>
              <a:ext uri="{FF2B5EF4-FFF2-40B4-BE49-F238E27FC236}">
                <a16:creationId xmlns:a16="http://schemas.microsoft.com/office/drawing/2014/main" id="{ED82599A-8A6A-DA23-44F4-BD6096F3B7FA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>
          <a:xfrm>
            <a:off x="4246994" y="3351784"/>
            <a:ext cx="344804" cy="89768"/>
          </a:xfrm>
        </p:spPr>
        <p:txBody>
          <a:bodyPr/>
          <a:lstStyle/>
          <a:p>
            <a:pPr marL="38100">
              <a:lnSpc>
                <a:spcPts val="675"/>
              </a:lnSpc>
            </a:pPr>
            <a:fld id="{81D60167-4931-47E6-BA6A-407CBD079E47}" type="slidenum">
              <a:rPr lang="en-US" spc="-20" smtClean="0"/>
              <a:t>8</a:t>
            </a:fld>
            <a:r>
              <a:rPr lang="en-US" spc="20" dirty="0"/>
              <a:t> </a:t>
            </a:r>
            <a:r>
              <a:rPr lang="en-US" spc="150" dirty="0"/>
              <a:t>/</a:t>
            </a:r>
            <a:r>
              <a:rPr lang="en-US" spc="20" dirty="0"/>
              <a:t> </a:t>
            </a:r>
            <a:r>
              <a:rPr lang="en-US" spc="-20" dirty="0"/>
              <a:t>20</a:t>
            </a:r>
          </a:p>
        </p:txBody>
      </p:sp>
    </p:spTree>
  </p:cSld>
  <p:clrMapOvr>
    <a:masterClrMapping/>
  </p:clrMapOvr>
  <p:transition>
    <p:cut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268450" y="0"/>
            <a:ext cx="940435" cy="382270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441325" marR="5080" indent="73025" algn="r">
              <a:lnSpc>
                <a:spcPts val="700"/>
              </a:lnSpc>
              <a:spcBef>
                <a:spcPts val="135"/>
              </a:spcBef>
            </a:pPr>
            <a:r>
              <a:rPr sz="600" spc="10" dirty="0">
                <a:solidFill>
                  <a:srgbClr val="7F7F7F"/>
                </a:solidFill>
                <a:latin typeface="Microsoft Sans Serif"/>
                <a:cs typeface="Microsoft Sans Serif"/>
              </a:rPr>
              <a:t>Intr</a:t>
            </a:r>
            <a:r>
              <a:rPr sz="600" spc="30" dirty="0">
                <a:solidFill>
                  <a:srgbClr val="7F7F7F"/>
                </a:solidFill>
                <a:latin typeface="Microsoft Sans Serif"/>
                <a:cs typeface="Microsoft Sans Serif"/>
              </a:rPr>
              <a:t>o</a:t>
            </a:r>
            <a:r>
              <a:rPr sz="600" dirty="0">
                <a:solidFill>
                  <a:srgbClr val="7F7F7F"/>
                </a:solidFill>
                <a:latin typeface="Microsoft Sans Serif"/>
                <a:cs typeface="Microsoft Sans Serif"/>
              </a:rPr>
              <a:t>duction  </a:t>
            </a:r>
            <a:r>
              <a:rPr sz="600" spc="-30" dirty="0">
                <a:solidFill>
                  <a:srgbClr val="7F7F7F"/>
                </a:solidFill>
                <a:latin typeface="Microsoft Sans Serif"/>
                <a:cs typeface="Microsoft Sans Serif"/>
              </a:rPr>
              <a:t>Cours</a:t>
            </a:r>
            <a:r>
              <a:rPr sz="600" spc="-25" dirty="0">
                <a:solidFill>
                  <a:srgbClr val="7F7F7F"/>
                </a:solidFill>
                <a:latin typeface="Microsoft Sans Serif"/>
                <a:cs typeface="Microsoft Sans Serif"/>
              </a:rPr>
              <a:t>e</a:t>
            </a:r>
            <a:r>
              <a:rPr sz="600" spc="50" dirty="0">
                <a:solidFill>
                  <a:srgbClr val="7F7F7F"/>
                </a:solidFill>
                <a:latin typeface="Microsoft Sans Serif"/>
                <a:cs typeface="Microsoft Sans Serif"/>
              </a:rPr>
              <a:t> </a:t>
            </a:r>
            <a:r>
              <a:rPr sz="600" spc="-5" dirty="0">
                <a:solidFill>
                  <a:srgbClr val="7F7F7F"/>
                </a:solidFill>
                <a:latin typeface="Microsoft Sans Serif"/>
                <a:cs typeface="Microsoft Sans Serif"/>
              </a:rPr>
              <a:t>Details  </a:t>
            </a:r>
            <a:r>
              <a:rPr sz="600" spc="10" dirty="0">
                <a:solidFill>
                  <a:srgbClr val="FFFFFF"/>
                </a:solidFill>
                <a:latin typeface="Microsoft Sans Serif"/>
                <a:cs typeface="Microsoft Sans Serif"/>
              </a:rPr>
              <a:t>Motivation</a:t>
            </a:r>
            <a:endParaRPr sz="600" dirty="0">
              <a:latin typeface="Microsoft Sans Serif"/>
              <a:cs typeface="Microsoft Sans Serif"/>
            </a:endParaRPr>
          </a:p>
          <a:p>
            <a:pPr marR="5080" algn="r">
              <a:lnSpc>
                <a:spcPts val="670"/>
              </a:lnSpc>
            </a:pPr>
            <a:r>
              <a:rPr sz="600" spc="-25" dirty="0">
                <a:solidFill>
                  <a:srgbClr val="7F7F7F"/>
                </a:solidFill>
                <a:latin typeface="Microsoft Sans Serif"/>
                <a:cs typeface="Microsoft Sans Serif"/>
              </a:rPr>
              <a:t>Accessing</a:t>
            </a:r>
            <a:r>
              <a:rPr sz="600" spc="35" dirty="0">
                <a:solidFill>
                  <a:srgbClr val="7F7F7F"/>
                </a:solidFill>
                <a:latin typeface="Microsoft Sans Serif"/>
                <a:cs typeface="Microsoft Sans Serif"/>
              </a:rPr>
              <a:t> </a:t>
            </a:r>
            <a:r>
              <a:rPr sz="600" dirty="0">
                <a:solidFill>
                  <a:srgbClr val="7F7F7F"/>
                </a:solidFill>
                <a:latin typeface="Microsoft Sans Serif"/>
                <a:cs typeface="Microsoft Sans Serif"/>
              </a:rPr>
              <a:t>the</a:t>
            </a:r>
            <a:r>
              <a:rPr sz="600" spc="40" dirty="0">
                <a:solidFill>
                  <a:srgbClr val="7F7F7F"/>
                </a:solidFill>
                <a:latin typeface="Microsoft Sans Serif"/>
                <a:cs typeface="Microsoft Sans Serif"/>
              </a:rPr>
              <a:t> </a:t>
            </a:r>
            <a:r>
              <a:rPr sz="600" spc="-10" dirty="0">
                <a:solidFill>
                  <a:srgbClr val="7F7F7F"/>
                </a:solidFill>
                <a:latin typeface="Microsoft Sans Serif"/>
                <a:cs typeface="Microsoft Sans Serif"/>
              </a:rPr>
              <a:t>Lab</a:t>
            </a:r>
            <a:r>
              <a:rPr sz="600" spc="35" dirty="0">
                <a:solidFill>
                  <a:srgbClr val="7F7F7F"/>
                </a:solidFill>
                <a:latin typeface="Microsoft Sans Serif"/>
                <a:cs typeface="Microsoft Sans Serif"/>
              </a:rPr>
              <a:t> </a:t>
            </a:r>
            <a:r>
              <a:rPr sz="600" spc="5" dirty="0">
                <a:solidFill>
                  <a:srgbClr val="7F7F7F"/>
                </a:solidFill>
                <a:latin typeface="Microsoft Sans Serif"/>
                <a:cs typeface="Microsoft Sans Serif"/>
              </a:rPr>
              <a:t>Material</a:t>
            </a:r>
            <a:endParaRPr sz="600" dirty="0">
              <a:latin typeface="Microsoft Sans Serif"/>
              <a:cs typeface="Microsoft Sans Serif"/>
            </a:endParaRPr>
          </a:p>
        </p:txBody>
      </p:sp>
      <p:pic>
        <p:nvPicPr>
          <p:cNvPr id="3" name="object 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2303995" y="0"/>
            <a:ext cx="2304008" cy="366928"/>
          </a:xfrm>
          <a:prstGeom prst="rect">
            <a:avLst/>
          </a:prstGeom>
        </p:spPr>
      </p:pic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2200910">
              <a:lnSpc>
                <a:spcPct val="100000"/>
              </a:lnSpc>
              <a:spcBef>
                <a:spcPts val="95"/>
              </a:spcBef>
            </a:pPr>
            <a:r>
              <a:rPr spc="-20" dirty="0"/>
              <a:t>German</a:t>
            </a:r>
            <a:r>
              <a:rPr spc="40" dirty="0"/>
              <a:t> </a:t>
            </a:r>
            <a:r>
              <a:rPr spc="-25" dirty="0"/>
              <a:t>University</a:t>
            </a:r>
            <a:r>
              <a:rPr spc="45" dirty="0"/>
              <a:t> </a:t>
            </a:r>
            <a:r>
              <a:rPr spc="-35" dirty="0"/>
              <a:t>in</a:t>
            </a:r>
            <a:r>
              <a:rPr spc="40" dirty="0"/>
              <a:t> </a:t>
            </a:r>
            <a:r>
              <a:rPr spc="-15" dirty="0"/>
              <a:t>Cairo</a:t>
            </a:r>
          </a:p>
        </p:txBody>
      </p:sp>
      <p:pic>
        <p:nvPicPr>
          <p:cNvPr id="5" name="object 5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0" y="366911"/>
            <a:ext cx="4604410" cy="260646"/>
          </a:xfrm>
          <a:prstGeom prst="rect">
            <a:avLst/>
          </a:prstGeom>
        </p:spPr>
      </p:pic>
      <p:sp>
        <p:nvSpPr>
          <p:cNvPr id="6" name="object 6"/>
          <p:cNvSpPr txBox="1"/>
          <p:nvPr/>
        </p:nvSpPr>
        <p:spPr>
          <a:xfrm>
            <a:off x="197218" y="364347"/>
            <a:ext cx="1702435" cy="24447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400" spc="-55" dirty="0">
                <a:solidFill>
                  <a:srgbClr val="FFFFFF"/>
                </a:solidFill>
                <a:latin typeface="Trebuchet MS"/>
                <a:cs typeface="Trebuchet MS"/>
              </a:rPr>
              <a:t>Example</a:t>
            </a:r>
            <a:r>
              <a:rPr sz="1400" spc="15" dirty="0">
                <a:solidFill>
                  <a:srgbClr val="FFFFFF"/>
                </a:solidFill>
                <a:latin typeface="Trebuchet MS"/>
                <a:cs typeface="Trebuchet MS"/>
              </a:rPr>
              <a:t> </a:t>
            </a:r>
            <a:r>
              <a:rPr sz="1400" spc="-40" dirty="0">
                <a:solidFill>
                  <a:srgbClr val="FFFFFF"/>
                </a:solidFill>
                <a:latin typeface="Trebuchet MS"/>
                <a:cs typeface="Trebuchet MS"/>
              </a:rPr>
              <a:t>Job</a:t>
            </a:r>
            <a:r>
              <a:rPr sz="1400" spc="15" dirty="0">
                <a:solidFill>
                  <a:srgbClr val="FFFFFF"/>
                </a:solidFill>
                <a:latin typeface="Trebuchet MS"/>
                <a:cs typeface="Trebuchet MS"/>
              </a:rPr>
              <a:t> </a:t>
            </a:r>
            <a:r>
              <a:rPr sz="1400" spc="-55" dirty="0">
                <a:solidFill>
                  <a:srgbClr val="FFFFFF"/>
                </a:solidFill>
                <a:latin typeface="Trebuchet MS"/>
                <a:cs typeface="Trebuchet MS"/>
              </a:rPr>
              <a:t>Offerings</a:t>
            </a:r>
            <a:endParaRPr sz="1400">
              <a:latin typeface="Trebuchet MS"/>
              <a:cs typeface="Trebuchet MS"/>
            </a:endParaRPr>
          </a:p>
        </p:txBody>
      </p:sp>
      <p:pic>
        <p:nvPicPr>
          <p:cNvPr id="7" name="object 7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359994" y="1043559"/>
            <a:ext cx="1595111" cy="1815592"/>
          </a:xfrm>
          <a:prstGeom prst="rect">
            <a:avLst/>
          </a:prstGeom>
        </p:spPr>
      </p:pic>
      <p:pic>
        <p:nvPicPr>
          <p:cNvPr id="8" name="object 8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2367267" y="1027773"/>
            <a:ext cx="1619900" cy="1149704"/>
          </a:xfrm>
          <a:prstGeom prst="rect">
            <a:avLst/>
          </a:prstGeom>
        </p:spPr>
      </p:pic>
      <p:grpSp>
        <p:nvGrpSpPr>
          <p:cNvPr id="9" name="object 9"/>
          <p:cNvGrpSpPr/>
          <p:nvPr/>
        </p:nvGrpSpPr>
        <p:grpSpPr>
          <a:xfrm>
            <a:off x="0" y="3346348"/>
            <a:ext cx="4608195" cy="109855"/>
            <a:chOff x="0" y="3346348"/>
            <a:chExt cx="4608195" cy="109855"/>
          </a:xfrm>
        </p:grpSpPr>
        <p:sp>
          <p:nvSpPr>
            <p:cNvPr id="10" name="object 10"/>
            <p:cNvSpPr/>
            <p:nvPr/>
          </p:nvSpPr>
          <p:spPr>
            <a:xfrm>
              <a:off x="0" y="3346361"/>
              <a:ext cx="2304415" cy="109855"/>
            </a:xfrm>
            <a:custGeom>
              <a:avLst/>
              <a:gdLst/>
              <a:ahLst/>
              <a:cxnLst/>
              <a:rect l="l" t="t" r="r" b="b"/>
              <a:pathLst>
                <a:path w="2304415" h="109854">
                  <a:moveTo>
                    <a:pt x="2304008" y="0"/>
                  </a:moveTo>
                  <a:lnTo>
                    <a:pt x="1152004" y="0"/>
                  </a:lnTo>
                  <a:lnTo>
                    <a:pt x="0" y="0"/>
                  </a:lnTo>
                  <a:lnTo>
                    <a:pt x="0" y="109639"/>
                  </a:lnTo>
                  <a:lnTo>
                    <a:pt x="1152004" y="109639"/>
                  </a:lnTo>
                  <a:lnTo>
                    <a:pt x="2304008" y="109639"/>
                  </a:lnTo>
                  <a:lnTo>
                    <a:pt x="2304008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2303995" y="3346361"/>
              <a:ext cx="2304415" cy="109855"/>
            </a:xfrm>
            <a:custGeom>
              <a:avLst/>
              <a:gdLst/>
              <a:ahLst/>
              <a:cxnLst/>
              <a:rect l="l" t="t" r="r" b="b"/>
              <a:pathLst>
                <a:path w="2304415" h="109854">
                  <a:moveTo>
                    <a:pt x="2303996" y="0"/>
                  </a:moveTo>
                  <a:lnTo>
                    <a:pt x="1920024" y="0"/>
                  </a:lnTo>
                  <a:lnTo>
                    <a:pt x="0" y="0"/>
                  </a:lnTo>
                  <a:lnTo>
                    <a:pt x="0" y="109639"/>
                  </a:lnTo>
                  <a:lnTo>
                    <a:pt x="1920024" y="109639"/>
                  </a:lnTo>
                  <a:lnTo>
                    <a:pt x="2303996" y="109639"/>
                  </a:lnTo>
                  <a:lnTo>
                    <a:pt x="2303996" y="0"/>
                  </a:lnTo>
                  <a:close/>
                </a:path>
              </a:pathLst>
            </a:custGeom>
            <a:solidFill>
              <a:srgbClr val="8C205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4" name="object 14"/>
          <p:cNvSpPr txBox="1"/>
          <p:nvPr/>
        </p:nvSpPr>
        <p:spPr>
          <a:xfrm>
            <a:off x="3086696" y="3351784"/>
            <a:ext cx="354965" cy="10223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5"/>
              </a:lnSpc>
            </a:pPr>
            <a:r>
              <a:rPr sz="600" spc="5" dirty="0">
                <a:solidFill>
                  <a:srgbClr val="FFFFFF"/>
                </a:solidFill>
                <a:latin typeface="Microsoft Sans Serif"/>
                <a:cs typeface="Microsoft Sans Serif"/>
              </a:rPr>
              <a:t>Tutorial</a:t>
            </a:r>
            <a:r>
              <a:rPr sz="600" spc="-10" dirty="0">
                <a:solidFill>
                  <a:srgbClr val="FFFFFF"/>
                </a:solidFill>
                <a:latin typeface="Microsoft Sans Serif"/>
                <a:cs typeface="Microsoft Sans Serif"/>
              </a:rPr>
              <a:t> </a:t>
            </a:r>
            <a:r>
              <a:rPr sz="600" spc="-20" dirty="0">
                <a:solidFill>
                  <a:srgbClr val="FFFFFF"/>
                </a:solidFill>
                <a:latin typeface="Microsoft Sans Serif"/>
                <a:cs typeface="Microsoft Sans Serif"/>
              </a:rPr>
              <a:t>1</a:t>
            </a:r>
            <a:endParaRPr sz="600" dirty="0">
              <a:latin typeface="Microsoft Sans Serif"/>
              <a:cs typeface="Microsoft Sans Serif"/>
            </a:endParaRPr>
          </a:p>
        </p:txBody>
      </p:sp>
      <p:sp>
        <p:nvSpPr>
          <p:cNvPr id="18" name="object 12">
            <a:extLst>
              <a:ext uri="{FF2B5EF4-FFF2-40B4-BE49-F238E27FC236}">
                <a16:creationId xmlns:a16="http://schemas.microsoft.com/office/drawing/2014/main" id="{43C46362-C14E-01EB-648D-BCF2D3FFE92E}"/>
              </a:ext>
            </a:extLst>
          </p:cNvPr>
          <p:cNvSpPr txBox="1">
            <a:spLocks noGrp="1"/>
          </p:cNvSpPr>
          <p:nvPr>
            <p:ph type="dt" sz="half" idx="6"/>
          </p:nvPr>
        </p:nvSpPr>
        <p:spPr>
          <a:xfrm>
            <a:off x="1506396" y="3351784"/>
            <a:ext cx="570053" cy="8976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5"/>
              </a:lnSpc>
            </a:pPr>
            <a:r>
              <a:rPr lang="en-US" spc="10" dirty="0"/>
              <a:t>Summer 2026</a:t>
            </a:r>
            <a:endParaRPr spc="-20" dirty="0"/>
          </a:p>
        </p:txBody>
      </p:sp>
      <p:sp>
        <p:nvSpPr>
          <p:cNvPr id="19" name="Footer Placeholder 10">
            <a:extLst>
              <a:ext uri="{FF2B5EF4-FFF2-40B4-BE49-F238E27FC236}">
                <a16:creationId xmlns:a16="http://schemas.microsoft.com/office/drawing/2014/main" id="{A4DF63F0-2028-5E49-D178-C04CBE4F03CA}"/>
              </a:ext>
            </a:extLst>
          </p:cNvPr>
          <p:cNvSpPr>
            <a:spLocks noGrp="1"/>
          </p:cNvSpPr>
          <p:nvPr>
            <p:ph type="ftr" sz="quarter" idx="5"/>
          </p:nvPr>
        </p:nvSpPr>
        <p:spPr>
          <a:xfrm>
            <a:off x="346620" y="3351783"/>
            <a:ext cx="663029" cy="207391"/>
          </a:xfrm>
        </p:spPr>
        <p:txBody>
          <a:bodyPr/>
          <a:lstStyle/>
          <a:p>
            <a:pPr marL="12700">
              <a:lnSpc>
                <a:spcPts val="675"/>
              </a:lnSpc>
            </a:pPr>
            <a:r>
              <a:rPr lang="en-US" spc="-20" dirty="0"/>
              <a:t>By Hazem</a:t>
            </a:r>
            <a:r>
              <a:rPr lang="en-US" spc="-5" dirty="0"/>
              <a:t> </a:t>
            </a:r>
            <a:r>
              <a:rPr lang="en-US" dirty="0"/>
              <a:t>Nabil</a:t>
            </a:r>
          </a:p>
        </p:txBody>
      </p:sp>
      <p:sp>
        <p:nvSpPr>
          <p:cNvPr id="12" name="Slide Number Placeholder 14">
            <a:extLst>
              <a:ext uri="{FF2B5EF4-FFF2-40B4-BE49-F238E27FC236}">
                <a16:creationId xmlns:a16="http://schemas.microsoft.com/office/drawing/2014/main" id="{7EDE4A0F-8CC9-4429-143B-A450AEB6A611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>
          <a:xfrm>
            <a:off x="4246994" y="3351784"/>
            <a:ext cx="344804" cy="89768"/>
          </a:xfrm>
        </p:spPr>
        <p:txBody>
          <a:bodyPr/>
          <a:lstStyle/>
          <a:p>
            <a:pPr marL="38100">
              <a:lnSpc>
                <a:spcPts val="675"/>
              </a:lnSpc>
            </a:pPr>
            <a:fld id="{81D60167-4931-47E6-BA6A-407CBD079E47}" type="slidenum">
              <a:rPr lang="en-US" spc="-20" smtClean="0"/>
              <a:t>9</a:t>
            </a:fld>
            <a:r>
              <a:rPr lang="en-US" spc="20" dirty="0"/>
              <a:t> </a:t>
            </a:r>
            <a:r>
              <a:rPr lang="en-US" spc="150" dirty="0"/>
              <a:t>/</a:t>
            </a:r>
            <a:r>
              <a:rPr lang="en-US" spc="20" dirty="0"/>
              <a:t> </a:t>
            </a:r>
            <a:r>
              <a:rPr lang="en-US" spc="-20" dirty="0"/>
              <a:t>20</a:t>
            </a:r>
          </a:p>
        </p:txBody>
      </p:sp>
    </p:spTree>
  </p:cSld>
  <p:clrMapOvr>
    <a:masterClrMapping/>
  </p:clrMapOvr>
  <p:transition>
    <p:cut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303995" y="0"/>
            <a:ext cx="2304008" cy="366928"/>
          </a:xfrm>
          <a:prstGeom prst="rect">
            <a:avLst/>
          </a:prstGeom>
        </p:spPr>
      </p:pic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2200910">
              <a:lnSpc>
                <a:spcPct val="100000"/>
              </a:lnSpc>
              <a:spcBef>
                <a:spcPts val="95"/>
              </a:spcBef>
            </a:pPr>
            <a:r>
              <a:rPr lang="en-US" spc="-20" dirty="0"/>
              <a:t>G</a:t>
            </a:r>
            <a:r>
              <a:rPr spc="-20" dirty="0"/>
              <a:t>erman</a:t>
            </a:r>
            <a:r>
              <a:rPr spc="40" dirty="0"/>
              <a:t> </a:t>
            </a:r>
            <a:r>
              <a:rPr spc="-25" dirty="0"/>
              <a:t>University</a:t>
            </a:r>
            <a:r>
              <a:rPr spc="45" dirty="0"/>
              <a:t> </a:t>
            </a:r>
            <a:r>
              <a:rPr spc="-35" dirty="0"/>
              <a:t>in</a:t>
            </a:r>
            <a:r>
              <a:rPr spc="40" dirty="0"/>
              <a:t> </a:t>
            </a:r>
            <a:r>
              <a:rPr spc="-15" dirty="0"/>
              <a:t>Cairo</a:t>
            </a:r>
          </a:p>
        </p:txBody>
      </p:sp>
      <p:pic>
        <p:nvPicPr>
          <p:cNvPr id="5" name="object 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0" y="366911"/>
            <a:ext cx="4604410" cy="260646"/>
          </a:xfrm>
          <a:prstGeom prst="rect">
            <a:avLst/>
          </a:prstGeom>
        </p:spPr>
      </p:pic>
      <p:sp>
        <p:nvSpPr>
          <p:cNvPr id="6" name="object 6"/>
          <p:cNvSpPr txBox="1"/>
          <p:nvPr/>
        </p:nvSpPr>
        <p:spPr>
          <a:xfrm>
            <a:off x="197217" y="364347"/>
            <a:ext cx="1752409" cy="232756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en-US" sz="1400" spc="-50" dirty="0">
                <a:solidFill>
                  <a:srgbClr val="FFFFFF"/>
                </a:solidFill>
                <a:latin typeface="Trebuchet MS"/>
                <a:cs typeface="Trebuchet MS"/>
              </a:rPr>
              <a:t>Uses of Data Mining </a:t>
            </a:r>
          </a:p>
        </p:txBody>
      </p:sp>
      <p:graphicFrame>
        <p:nvGraphicFramePr>
          <p:cNvPr id="7" name="object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45686495"/>
              </p:ext>
            </p:extLst>
          </p:nvPr>
        </p:nvGraphicFramePr>
        <p:xfrm>
          <a:off x="247650" y="1033294"/>
          <a:ext cx="4190999" cy="1824426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69421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9678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55121">
                <a:tc>
                  <a:txBody>
                    <a:bodyPr/>
                    <a:lstStyle/>
                    <a:p>
                      <a:pPr marL="75565">
                        <a:lnSpc>
                          <a:spcPct val="100000"/>
                        </a:lnSpc>
                        <a:spcBef>
                          <a:spcPts val="190"/>
                        </a:spcBef>
                      </a:pPr>
                      <a:r>
                        <a:rPr lang="en-US" sz="1100" spc="-15" dirty="0">
                          <a:solidFill>
                            <a:schemeClr val="tx1"/>
                          </a:solidFill>
                          <a:latin typeface="Microsoft Sans Serif" panose="020B0604020202020204" pitchFamily="34" charset="0"/>
                          <a:ea typeface="Microsoft Sans Serif" panose="020B0604020202020204" pitchFamily="34" charset="0"/>
                          <a:cs typeface="Microsoft Sans Serif" panose="020B0604020202020204" pitchFamily="34" charset="0"/>
                        </a:rPr>
                        <a:t>Application</a:t>
                      </a:r>
                      <a:endParaRPr sz="1100" spc="-15" dirty="0">
                        <a:solidFill>
                          <a:schemeClr val="tx1"/>
                        </a:solidFill>
                        <a:latin typeface="Microsoft Sans Serif" panose="020B0604020202020204" pitchFamily="34" charset="0"/>
                        <a:ea typeface="Microsoft Sans Serif" panose="020B0604020202020204" pitchFamily="34" charset="0"/>
                        <a:cs typeface="Microsoft Sans Serif" panose="020B0604020202020204" pitchFamily="34" charset="0"/>
                      </a:endParaRPr>
                    </a:p>
                  </a:txBody>
                  <a:tcPr marL="0" marR="0" marT="0" marB="0"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75565">
                        <a:lnSpc>
                          <a:spcPct val="100000"/>
                        </a:lnSpc>
                        <a:spcBef>
                          <a:spcPts val="190"/>
                        </a:spcBef>
                      </a:pPr>
                      <a:r>
                        <a:rPr lang="en-US" sz="1100" spc="-15" dirty="0">
                          <a:solidFill>
                            <a:schemeClr val="tx1"/>
                          </a:solidFill>
                          <a:latin typeface="Microsoft Sans Serif" panose="020B0604020202020204" pitchFamily="34" charset="0"/>
                          <a:ea typeface="Microsoft Sans Serif" panose="020B0604020202020204" pitchFamily="34" charset="0"/>
                          <a:cs typeface="Microsoft Sans Serif" panose="020B0604020202020204" pitchFamily="34" charset="0"/>
                        </a:rPr>
                        <a:t>Technique</a:t>
                      </a:r>
                      <a:endParaRPr sz="1100" spc="-15" dirty="0">
                        <a:solidFill>
                          <a:schemeClr val="tx1"/>
                        </a:solidFill>
                        <a:latin typeface="Microsoft Sans Serif" panose="020B0604020202020204" pitchFamily="34" charset="0"/>
                        <a:ea typeface="Microsoft Sans Serif" panose="020B0604020202020204" pitchFamily="34" charset="0"/>
                        <a:cs typeface="Microsoft Sans Serif" panose="020B0604020202020204" pitchFamily="34" charset="0"/>
                      </a:endParaRPr>
                    </a:p>
                  </a:txBody>
                  <a:tcPr marL="0" marR="0" marT="0" marB="0"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6328">
                <a:tc>
                  <a:txBody>
                    <a:bodyPr/>
                    <a:lstStyle/>
                    <a:p>
                      <a:pPr marL="75565">
                        <a:lnSpc>
                          <a:spcPct val="100000"/>
                        </a:lnSpc>
                        <a:spcBef>
                          <a:spcPts val="190"/>
                        </a:spcBef>
                      </a:pPr>
                      <a:r>
                        <a:rPr lang="en-US" sz="1050" spc="-15" dirty="0">
                          <a:solidFill>
                            <a:schemeClr val="tx1"/>
                          </a:solidFill>
                          <a:latin typeface="Microsoft Sans Serif" panose="020B0604020202020204" pitchFamily="34" charset="0"/>
                          <a:ea typeface="Microsoft Sans Serif" panose="020B0604020202020204" pitchFamily="34" charset="0"/>
                          <a:cs typeface="Microsoft Sans Serif" panose="020B0604020202020204" pitchFamily="34" charset="0"/>
                        </a:rPr>
                        <a:t>Inventory Planning</a:t>
                      </a:r>
                      <a:endParaRPr sz="1050" spc="-15" dirty="0">
                        <a:solidFill>
                          <a:schemeClr val="tx1"/>
                        </a:solidFill>
                        <a:latin typeface="Microsoft Sans Serif" panose="020B0604020202020204" pitchFamily="34" charset="0"/>
                        <a:ea typeface="Microsoft Sans Serif" panose="020B0604020202020204" pitchFamily="34" charset="0"/>
                        <a:cs typeface="Microsoft Sans Serif" panose="020B0604020202020204" pitchFamily="34" charset="0"/>
                      </a:endParaRPr>
                    </a:p>
                  </a:txBody>
                  <a:tcPr marL="0" marR="0" marT="24130" marB="0">
                    <a:lnT w="9525">
                      <a:solidFill>
                        <a:srgbClr val="000000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L="75565">
                        <a:lnSpc>
                          <a:spcPct val="100000"/>
                        </a:lnSpc>
                        <a:spcBef>
                          <a:spcPts val="190"/>
                        </a:spcBef>
                      </a:pPr>
                      <a:r>
                        <a:rPr lang="en-US" sz="1050" spc="-15" dirty="0">
                          <a:solidFill>
                            <a:schemeClr val="tx1"/>
                          </a:solidFill>
                          <a:latin typeface="Microsoft Sans Serif" panose="020B0604020202020204" pitchFamily="34" charset="0"/>
                          <a:ea typeface="Microsoft Sans Serif" panose="020B0604020202020204" pitchFamily="34" charset="0"/>
                          <a:cs typeface="Microsoft Sans Serif" panose="020B0604020202020204" pitchFamily="34" charset="0"/>
                        </a:rPr>
                        <a:t>Forecasting</a:t>
                      </a:r>
                      <a:endParaRPr sz="1050" spc="-15" dirty="0">
                        <a:solidFill>
                          <a:schemeClr val="tx1"/>
                        </a:solidFill>
                        <a:latin typeface="Microsoft Sans Serif" panose="020B0604020202020204" pitchFamily="34" charset="0"/>
                        <a:ea typeface="Microsoft Sans Serif" panose="020B0604020202020204" pitchFamily="34" charset="0"/>
                        <a:cs typeface="Microsoft Sans Serif" panose="020B0604020202020204" pitchFamily="34" charset="0"/>
                      </a:endParaRPr>
                    </a:p>
                  </a:txBody>
                  <a:tcPr marL="0" marR="0" marT="24130" marB="0"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471">
                <a:tc>
                  <a:txBody>
                    <a:bodyPr/>
                    <a:lstStyle/>
                    <a:p>
                      <a:pPr marL="75565">
                        <a:lnSpc>
                          <a:spcPct val="100000"/>
                        </a:lnSpc>
                        <a:spcBef>
                          <a:spcPts val="190"/>
                        </a:spcBef>
                      </a:pPr>
                      <a:r>
                        <a:rPr lang="en-US" sz="1050" spc="-15" dirty="0">
                          <a:solidFill>
                            <a:schemeClr val="tx1"/>
                          </a:solidFill>
                          <a:latin typeface="Microsoft Sans Serif" panose="020B0604020202020204" pitchFamily="34" charset="0"/>
                          <a:ea typeface="Microsoft Sans Serif" panose="020B0604020202020204" pitchFamily="34" charset="0"/>
                          <a:cs typeface="Microsoft Sans Serif" panose="020B0604020202020204" pitchFamily="34" charset="0"/>
                        </a:rPr>
                        <a:t>Music/Video/Shopping Recommendations</a:t>
                      </a:r>
                      <a:endParaRPr sz="1050" spc="-15" dirty="0">
                        <a:solidFill>
                          <a:schemeClr val="tx1"/>
                        </a:solidFill>
                        <a:latin typeface="Microsoft Sans Serif" panose="020B0604020202020204" pitchFamily="34" charset="0"/>
                        <a:ea typeface="Microsoft Sans Serif" panose="020B0604020202020204" pitchFamily="34" charset="0"/>
                        <a:cs typeface="Microsoft Sans Serif" panose="020B0604020202020204" pitchFamily="34" charset="0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75565">
                        <a:lnSpc>
                          <a:spcPct val="100000"/>
                        </a:lnSpc>
                        <a:spcBef>
                          <a:spcPts val="190"/>
                        </a:spcBef>
                      </a:pPr>
                      <a:r>
                        <a:rPr lang="en-US" sz="1050" spc="-15" dirty="0">
                          <a:solidFill>
                            <a:schemeClr val="tx1"/>
                          </a:solidFill>
                          <a:latin typeface="Microsoft Sans Serif" panose="020B0604020202020204" pitchFamily="34" charset="0"/>
                          <a:ea typeface="Microsoft Sans Serif" panose="020B0604020202020204" pitchFamily="34" charset="0"/>
                          <a:cs typeface="Microsoft Sans Serif" panose="020B0604020202020204" pitchFamily="34" charset="0"/>
                        </a:rPr>
                        <a:t>Recommender Systems</a:t>
                      </a:r>
                      <a:endParaRPr sz="1050" spc="-15" dirty="0">
                        <a:solidFill>
                          <a:schemeClr val="tx1"/>
                        </a:solidFill>
                        <a:latin typeface="Microsoft Sans Serif" panose="020B0604020202020204" pitchFamily="34" charset="0"/>
                        <a:ea typeface="Microsoft Sans Serif" panose="020B0604020202020204" pitchFamily="34" charset="0"/>
                        <a:cs typeface="Microsoft Sans Serif" panose="020B0604020202020204" pitchFamily="34" charset="0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471">
                <a:tc>
                  <a:txBody>
                    <a:bodyPr/>
                    <a:lstStyle/>
                    <a:p>
                      <a:pPr marL="75565">
                        <a:lnSpc>
                          <a:spcPct val="100000"/>
                        </a:lnSpc>
                        <a:spcBef>
                          <a:spcPts val="190"/>
                        </a:spcBef>
                      </a:pPr>
                      <a:r>
                        <a:rPr lang="en-US" sz="1050" spc="-15" dirty="0">
                          <a:solidFill>
                            <a:schemeClr val="tx1"/>
                          </a:solidFill>
                          <a:latin typeface="Microsoft Sans Serif" panose="020B0604020202020204" pitchFamily="34" charset="0"/>
                          <a:ea typeface="Microsoft Sans Serif" panose="020B0604020202020204" pitchFamily="34" charset="0"/>
                          <a:cs typeface="Microsoft Sans Serif" panose="020B0604020202020204" pitchFamily="34" charset="0"/>
                        </a:rPr>
                        <a:t>Automated Product Bundling</a:t>
                      </a:r>
                      <a:endParaRPr sz="1050" spc="-15" dirty="0">
                        <a:solidFill>
                          <a:schemeClr val="tx1"/>
                        </a:solidFill>
                        <a:latin typeface="Microsoft Sans Serif" panose="020B0604020202020204" pitchFamily="34" charset="0"/>
                        <a:ea typeface="Microsoft Sans Serif" panose="020B0604020202020204" pitchFamily="34" charset="0"/>
                        <a:cs typeface="Microsoft Sans Serif" panose="020B0604020202020204" pitchFamily="34" charset="0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75565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19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50" spc="-15" dirty="0">
                          <a:solidFill>
                            <a:schemeClr val="tx1"/>
                          </a:solidFill>
                          <a:latin typeface="Microsoft Sans Serif" panose="020B0604020202020204" pitchFamily="34" charset="0"/>
                          <a:ea typeface="Microsoft Sans Serif" panose="020B0604020202020204" pitchFamily="34" charset="0"/>
                          <a:cs typeface="Microsoft Sans Serif" panose="020B0604020202020204" pitchFamily="34" charset="0"/>
                        </a:rPr>
                        <a:t>Association Rule Mining</a:t>
                      </a: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2805282179"/>
                  </a:ext>
                </a:extLst>
              </a:tr>
              <a:tr h="237479">
                <a:tc>
                  <a:txBody>
                    <a:bodyPr/>
                    <a:lstStyle/>
                    <a:p>
                      <a:pPr marL="75565">
                        <a:lnSpc>
                          <a:spcPts val="1175"/>
                        </a:lnSpc>
                      </a:pPr>
                      <a:r>
                        <a:rPr lang="en-US" sz="1050" spc="-15" dirty="0">
                          <a:latin typeface="Microsoft Sans Serif" panose="020B0604020202020204" pitchFamily="34" charset="0"/>
                          <a:ea typeface="Microsoft Sans Serif" panose="020B0604020202020204" pitchFamily="34" charset="0"/>
                          <a:cs typeface="Microsoft Sans Serif" panose="020B0604020202020204" pitchFamily="34" charset="0"/>
                        </a:rPr>
                        <a:t>Disease Prediction</a:t>
                      </a:r>
                      <a:endParaRPr sz="1050" dirty="0">
                        <a:latin typeface="Microsoft Sans Serif" panose="020B0604020202020204" pitchFamily="34" charset="0"/>
                        <a:ea typeface="Microsoft Sans Serif" panose="020B0604020202020204" pitchFamily="34" charset="0"/>
                        <a:cs typeface="Microsoft Sans Serif" panose="020B0604020202020204" pitchFamily="34" charset="0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75565" indent="0">
                        <a:lnSpc>
                          <a:spcPct val="100000"/>
                        </a:lnSpc>
                        <a:spcBef>
                          <a:spcPts val="190"/>
                        </a:spcBef>
                      </a:pPr>
                      <a:r>
                        <a:rPr lang="en-US" sz="1050" spc="-15" dirty="0">
                          <a:solidFill>
                            <a:schemeClr val="tx1"/>
                          </a:solidFill>
                          <a:latin typeface="Microsoft Sans Serif" panose="020B0604020202020204" pitchFamily="34" charset="0"/>
                          <a:ea typeface="Microsoft Sans Serif" panose="020B0604020202020204" pitchFamily="34" charset="0"/>
                          <a:cs typeface="Microsoft Sans Serif" panose="020B0604020202020204" pitchFamily="34" charset="0"/>
                        </a:rPr>
                        <a:t>Classification</a:t>
                      </a:r>
                      <a:endParaRPr sz="1050" spc="-15" dirty="0">
                        <a:solidFill>
                          <a:schemeClr val="tx1"/>
                        </a:solidFill>
                        <a:latin typeface="Microsoft Sans Serif" panose="020B0604020202020204" pitchFamily="34" charset="0"/>
                        <a:ea typeface="Microsoft Sans Serif" panose="020B0604020202020204" pitchFamily="34" charset="0"/>
                        <a:cs typeface="Microsoft Sans Serif" panose="020B0604020202020204" pitchFamily="34" charset="0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0278">
                <a:tc>
                  <a:txBody>
                    <a:bodyPr/>
                    <a:lstStyle/>
                    <a:p>
                      <a:pPr marL="75565">
                        <a:lnSpc>
                          <a:spcPts val="1175"/>
                        </a:lnSpc>
                      </a:pPr>
                      <a:r>
                        <a:rPr lang="en-US" sz="1050" spc="-35" dirty="0">
                          <a:latin typeface="Microsoft Sans Serif" panose="020B0604020202020204" pitchFamily="34" charset="0"/>
                          <a:ea typeface="Microsoft Sans Serif" panose="020B0604020202020204" pitchFamily="34" charset="0"/>
                          <a:cs typeface="Microsoft Sans Serif" panose="020B0604020202020204" pitchFamily="34" charset="0"/>
                        </a:rPr>
                        <a:t>Credit Card Fraud Detection</a:t>
                      </a:r>
                      <a:endParaRPr sz="1050" dirty="0">
                        <a:latin typeface="Microsoft Sans Serif" panose="020B0604020202020204" pitchFamily="34" charset="0"/>
                        <a:ea typeface="Microsoft Sans Serif" panose="020B0604020202020204" pitchFamily="34" charset="0"/>
                        <a:cs typeface="Microsoft Sans Serif" panose="020B0604020202020204" pitchFamily="34" charset="0"/>
                      </a:endParaRPr>
                    </a:p>
                  </a:txBody>
                  <a:tcPr marL="0" marR="0" marT="0" marB="0"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75565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19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50" spc="-15" dirty="0">
                          <a:solidFill>
                            <a:schemeClr val="tx1"/>
                          </a:solidFill>
                          <a:latin typeface="Microsoft Sans Serif" panose="020B0604020202020204" pitchFamily="34" charset="0"/>
                          <a:ea typeface="Microsoft Sans Serif" panose="020B0604020202020204" pitchFamily="34" charset="0"/>
                          <a:cs typeface="Microsoft Sans Serif" panose="020B0604020202020204" pitchFamily="34" charset="0"/>
                        </a:rPr>
                        <a:t>Anomaly Detection</a:t>
                      </a:r>
                    </a:p>
                  </a:txBody>
                  <a:tcPr marL="0" marR="0" marT="0" marB="0"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0278">
                <a:tc>
                  <a:txBody>
                    <a:bodyPr/>
                    <a:lstStyle/>
                    <a:p>
                      <a:pPr marL="75565">
                        <a:lnSpc>
                          <a:spcPts val="1175"/>
                        </a:lnSpc>
                      </a:pPr>
                      <a:r>
                        <a:rPr lang="en-US" sz="1050" dirty="0">
                          <a:latin typeface="Microsoft Sans Serif" panose="020B0604020202020204" pitchFamily="34" charset="0"/>
                          <a:ea typeface="Microsoft Sans Serif" panose="020B0604020202020204" pitchFamily="34" charset="0"/>
                          <a:cs typeface="Microsoft Sans Serif" panose="020B0604020202020204" pitchFamily="34" charset="0"/>
                        </a:rPr>
                        <a:t>Customer Segmentation</a:t>
                      </a:r>
                      <a:endParaRPr sz="1050" dirty="0">
                        <a:latin typeface="Microsoft Sans Serif" panose="020B0604020202020204" pitchFamily="34" charset="0"/>
                        <a:ea typeface="Microsoft Sans Serif" panose="020B0604020202020204" pitchFamily="34" charset="0"/>
                        <a:cs typeface="Microsoft Sans Serif" panose="020B0604020202020204" pitchFamily="34" charset="0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75565" indent="0">
                        <a:lnSpc>
                          <a:spcPct val="100000"/>
                        </a:lnSpc>
                        <a:spcBef>
                          <a:spcPts val="190"/>
                        </a:spcBef>
                      </a:pPr>
                      <a:r>
                        <a:rPr lang="en-US" sz="1050" spc="-15" dirty="0">
                          <a:solidFill>
                            <a:schemeClr val="tx1"/>
                          </a:solidFill>
                          <a:latin typeface="Microsoft Sans Serif" panose="020B0604020202020204" pitchFamily="34" charset="0"/>
                          <a:ea typeface="Microsoft Sans Serif" panose="020B0604020202020204" pitchFamily="34" charset="0"/>
                          <a:cs typeface="Microsoft Sans Serif" panose="020B0604020202020204" pitchFamily="34" charset="0"/>
                        </a:rPr>
                        <a:t>Clustering</a:t>
                      </a:r>
                      <a:endParaRPr sz="1050" spc="-15" dirty="0">
                        <a:solidFill>
                          <a:schemeClr val="tx1"/>
                        </a:solidFill>
                        <a:latin typeface="Microsoft Sans Serif" panose="020B0604020202020204" pitchFamily="34" charset="0"/>
                        <a:ea typeface="Microsoft Sans Serif" panose="020B0604020202020204" pitchFamily="34" charset="0"/>
                        <a:cs typeface="Microsoft Sans Serif" panose="020B0604020202020204" pitchFamily="34" charset="0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507814842"/>
                  </a:ext>
                </a:extLst>
              </a:tr>
            </a:tbl>
          </a:graphicData>
        </a:graphic>
      </p:graphicFrame>
      <p:grpSp>
        <p:nvGrpSpPr>
          <p:cNvPr id="8" name="object 8"/>
          <p:cNvGrpSpPr/>
          <p:nvPr/>
        </p:nvGrpSpPr>
        <p:grpSpPr>
          <a:xfrm>
            <a:off x="0" y="3346348"/>
            <a:ext cx="4608195" cy="109855"/>
            <a:chOff x="0" y="3346348"/>
            <a:chExt cx="4608195" cy="109855"/>
          </a:xfrm>
        </p:grpSpPr>
        <p:sp>
          <p:nvSpPr>
            <p:cNvPr id="9" name="object 9"/>
            <p:cNvSpPr/>
            <p:nvPr/>
          </p:nvSpPr>
          <p:spPr>
            <a:xfrm>
              <a:off x="0" y="3346348"/>
              <a:ext cx="2304415" cy="109855"/>
            </a:xfrm>
            <a:custGeom>
              <a:avLst/>
              <a:gdLst/>
              <a:ahLst/>
              <a:cxnLst/>
              <a:rect l="l" t="t" r="r" b="b"/>
              <a:pathLst>
                <a:path w="2304415" h="109854">
                  <a:moveTo>
                    <a:pt x="2304008" y="0"/>
                  </a:moveTo>
                  <a:lnTo>
                    <a:pt x="1152004" y="0"/>
                  </a:lnTo>
                  <a:lnTo>
                    <a:pt x="0" y="0"/>
                  </a:lnTo>
                  <a:lnTo>
                    <a:pt x="0" y="109651"/>
                  </a:lnTo>
                  <a:lnTo>
                    <a:pt x="1152004" y="109651"/>
                  </a:lnTo>
                  <a:lnTo>
                    <a:pt x="2304008" y="109651"/>
                  </a:lnTo>
                  <a:lnTo>
                    <a:pt x="2304008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2303995" y="3346348"/>
              <a:ext cx="2304415" cy="109855"/>
            </a:xfrm>
            <a:custGeom>
              <a:avLst/>
              <a:gdLst/>
              <a:ahLst/>
              <a:cxnLst/>
              <a:rect l="l" t="t" r="r" b="b"/>
              <a:pathLst>
                <a:path w="2304415" h="109854">
                  <a:moveTo>
                    <a:pt x="2303996" y="0"/>
                  </a:moveTo>
                  <a:lnTo>
                    <a:pt x="1920024" y="0"/>
                  </a:lnTo>
                  <a:lnTo>
                    <a:pt x="0" y="0"/>
                  </a:lnTo>
                  <a:lnTo>
                    <a:pt x="0" y="109651"/>
                  </a:lnTo>
                  <a:lnTo>
                    <a:pt x="1920024" y="109651"/>
                  </a:lnTo>
                  <a:lnTo>
                    <a:pt x="2303996" y="109651"/>
                  </a:lnTo>
                  <a:lnTo>
                    <a:pt x="2303996" y="0"/>
                  </a:lnTo>
                  <a:close/>
                </a:path>
              </a:pathLst>
            </a:custGeom>
            <a:solidFill>
              <a:srgbClr val="8C205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object 13"/>
          <p:cNvSpPr txBox="1"/>
          <p:nvPr/>
        </p:nvSpPr>
        <p:spPr>
          <a:xfrm>
            <a:off x="3086696" y="3351784"/>
            <a:ext cx="354965" cy="10223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5"/>
              </a:lnSpc>
            </a:pPr>
            <a:r>
              <a:rPr sz="600" spc="5" dirty="0">
                <a:solidFill>
                  <a:srgbClr val="FFFFFF"/>
                </a:solidFill>
                <a:latin typeface="Microsoft Sans Serif"/>
                <a:cs typeface="Microsoft Sans Serif"/>
              </a:rPr>
              <a:t>Tutorial</a:t>
            </a:r>
            <a:r>
              <a:rPr sz="600" spc="-10" dirty="0">
                <a:solidFill>
                  <a:srgbClr val="FFFFFF"/>
                </a:solidFill>
                <a:latin typeface="Microsoft Sans Serif"/>
                <a:cs typeface="Microsoft Sans Serif"/>
              </a:rPr>
              <a:t> </a:t>
            </a:r>
            <a:r>
              <a:rPr sz="600" spc="-20" dirty="0">
                <a:solidFill>
                  <a:srgbClr val="FFFFFF"/>
                </a:solidFill>
                <a:latin typeface="Microsoft Sans Serif"/>
                <a:cs typeface="Microsoft Sans Serif"/>
              </a:rPr>
              <a:t>1</a:t>
            </a:r>
            <a:endParaRPr sz="600" dirty="0">
              <a:latin typeface="Microsoft Sans Serif"/>
              <a:cs typeface="Microsoft Sans Serif"/>
            </a:endParaRPr>
          </a:p>
        </p:txBody>
      </p:sp>
      <p:sp>
        <p:nvSpPr>
          <p:cNvPr id="18" name="object 2">
            <a:extLst>
              <a:ext uri="{FF2B5EF4-FFF2-40B4-BE49-F238E27FC236}">
                <a16:creationId xmlns:a16="http://schemas.microsoft.com/office/drawing/2014/main" id="{2A1B34EF-2256-40D8-9A48-F4EF6640CDC3}"/>
              </a:ext>
            </a:extLst>
          </p:cNvPr>
          <p:cNvSpPr txBox="1"/>
          <p:nvPr/>
        </p:nvSpPr>
        <p:spPr>
          <a:xfrm>
            <a:off x="1268450" y="0"/>
            <a:ext cx="940435" cy="382270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441325" marR="5080" indent="73025" algn="r">
              <a:lnSpc>
                <a:spcPts val="700"/>
              </a:lnSpc>
              <a:spcBef>
                <a:spcPts val="135"/>
              </a:spcBef>
            </a:pPr>
            <a:r>
              <a:rPr sz="600" spc="10" dirty="0">
                <a:solidFill>
                  <a:srgbClr val="7F7F7F"/>
                </a:solidFill>
                <a:latin typeface="Microsoft Sans Serif"/>
                <a:cs typeface="Microsoft Sans Serif"/>
              </a:rPr>
              <a:t>Intr</a:t>
            </a:r>
            <a:r>
              <a:rPr sz="600" spc="30" dirty="0">
                <a:solidFill>
                  <a:srgbClr val="7F7F7F"/>
                </a:solidFill>
                <a:latin typeface="Microsoft Sans Serif"/>
                <a:cs typeface="Microsoft Sans Serif"/>
              </a:rPr>
              <a:t>o</a:t>
            </a:r>
            <a:r>
              <a:rPr sz="600" dirty="0">
                <a:solidFill>
                  <a:srgbClr val="7F7F7F"/>
                </a:solidFill>
                <a:latin typeface="Microsoft Sans Serif"/>
                <a:cs typeface="Microsoft Sans Serif"/>
              </a:rPr>
              <a:t>duction  </a:t>
            </a:r>
            <a:r>
              <a:rPr sz="600" spc="-30" dirty="0">
                <a:solidFill>
                  <a:srgbClr val="7F7F7F"/>
                </a:solidFill>
                <a:latin typeface="Microsoft Sans Serif"/>
                <a:cs typeface="Microsoft Sans Serif"/>
              </a:rPr>
              <a:t>Cours</a:t>
            </a:r>
            <a:r>
              <a:rPr sz="600" spc="-25" dirty="0">
                <a:solidFill>
                  <a:srgbClr val="7F7F7F"/>
                </a:solidFill>
                <a:latin typeface="Microsoft Sans Serif"/>
                <a:cs typeface="Microsoft Sans Serif"/>
              </a:rPr>
              <a:t>e</a:t>
            </a:r>
            <a:r>
              <a:rPr sz="600" spc="50" dirty="0">
                <a:solidFill>
                  <a:srgbClr val="7F7F7F"/>
                </a:solidFill>
                <a:latin typeface="Microsoft Sans Serif"/>
                <a:cs typeface="Microsoft Sans Serif"/>
              </a:rPr>
              <a:t> </a:t>
            </a:r>
            <a:r>
              <a:rPr sz="600" spc="-5" dirty="0">
                <a:solidFill>
                  <a:srgbClr val="7F7F7F"/>
                </a:solidFill>
                <a:latin typeface="Microsoft Sans Serif"/>
                <a:cs typeface="Microsoft Sans Serif"/>
              </a:rPr>
              <a:t>Details  </a:t>
            </a:r>
            <a:r>
              <a:rPr sz="600" spc="10" dirty="0">
                <a:solidFill>
                  <a:srgbClr val="FFFFFF"/>
                </a:solidFill>
                <a:latin typeface="Microsoft Sans Serif"/>
                <a:cs typeface="Microsoft Sans Serif"/>
              </a:rPr>
              <a:t>Motivation</a:t>
            </a:r>
            <a:endParaRPr sz="600" dirty="0">
              <a:latin typeface="Microsoft Sans Serif"/>
              <a:cs typeface="Microsoft Sans Serif"/>
            </a:endParaRPr>
          </a:p>
          <a:p>
            <a:pPr marR="5080" algn="r">
              <a:lnSpc>
                <a:spcPts val="670"/>
              </a:lnSpc>
            </a:pPr>
            <a:r>
              <a:rPr sz="600" spc="-25" dirty="0">
                <a:solidFill>
                  <a:srgbClr val="7F7F7F"/>
                </a:solidFill>
                <a:latin typeface="Microsoft Sans Serif"/>
                <a:cs typeface="Microsoft Sans Serif"/>
              </a:rPr>
              <a:t>Accessing</a:t>
            </a:r>
            <a:r>
              <a:rPr sz="600" spc="35" dirty="0">
                <a:solidFill>
                  <a:srgbClr val="7F7F7F"/>
                </a:solidFill>
                <a:latin typeface="Microsoft Sans Serif"/>
                <a:cs typeface="Microsoft Sans Serif"/>
              </a:rPr>
              <a:t> </a:t>
            </a:r>
            <a:r>
              <a:rPr sz="600" dirty="0">
                <a:solidFill>
                  <a:srgbClr val="7F7F7F"/>
                </a:solidFill>
                <a:latin typeface="Microsoft Sans Serif"/>
                <a:cs typeface="Microsoft Sans Serif"/>
              </a:rPr>
              <a:t>the</a:t>
            </a:r>
            <a:r>
              <a:rPr sz="600" spc="40" dirty="0">
                <a:solidFill>
                  <a:srgbClr val="7F7F7F"/>
                </a:solidFill>
                <a:latin typeface="Microsoft Sans Serif"/>
                <a:cs typeface="Microsoft Sans Serif"/>
              </a:rPr>
              <a:t> </a:t>
            </a:r>
            <a:r>
              <a:rPr sz="600" spc="-10" dirty="0">
                <a:solidFill>
                  <a:srgbClr val="7F7F7F"/>
                </a:solidFill>
                <a:latin typeface="Microsoft Sans Serif"/>
                <a:cs typeface="Microsoft Sans Serif"/>
              </a:rPr>
              <a:t>Lab</a:t>
            </a:r>
            <a:r>
              <a:rPr sz="600" spc="35" dirty="0">
                <a:solidFill>
                  <a:srgbClr val="7F7F7F"/>
                </a:solidFill>
                <a:latin typeface="Microsoft Sans Serif"/>
                <a:cs typeface="Microsoft Sans Serif"/>
              </a:rPr>
              <a:t> </a:t>
            </a:r>
            <a:r>
              <a:rPr sz="600" spc="5" dirty="0">
                <a:solidFill>
                  <a:srgbClr val="7F7F7F"/>
                </a:solidFill>
                <a:latin typeface="Microsoft Sans Serif"/>
                <a:cs typeface="Microsoft Sans Serif"/>
              </a:rPr>
              <a:t>Material</a:t>
            </a:r>
            <a:endParaRPr sz="600" dirty="0">
              <a:latin typeface="Microsoft Sans Serif"/>
              <a:cs typeface="Microsoft Sans Serif"/>
            </a:endParaRPr>
          </a:p>
        </p:txBody>
      </p:sp>
      <p:sp>
        <p:nvSpPr>
          <p:cNvPr id="2" name="object 12">
            <a:extLst>
              <a:ext uri="{FF2B5EF4-FFF2-40B4-BE49-F238E27FC236}">
                <a16:creationId xmlns:a16="http://schemas.microsoft.com/office/drawing/2014/main" id="{3081D173-7F4C-5A21-9858-133ACDF7EAEB}"/>
              </a:ext>
            </a:extLst>
          </p:cNvPr>
          <p:cNvSpPr txBox="1">
            <a:spLocks noGrp="1"/>
          </p:cNvSpPr>
          <p:nvPr>
            <p:ph type="dt" sz="half" idx="6"/>
          </p:nvPr>
        </p:nvSpPr>
        <p:spPr>
          <a:xfrm>
            <a:off x="1506396" y="3351784"/>
            <a:ext cx="570053" cy="8976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5"/>
              </a:lnSpc>
            </a:pPr>
            <a:r>
              <a:rPr lang="en-US" spc="10" dirty="0"/>
              <a:t>Summer 2026</a:t>
            </a:r>
            <a:endParaRPr spc="-20" dirty="0"/>
          </a:p>
        </p:txBody>
      </p:sp>
      <p:sp>
        <p:nvSpPr>
          <p:cNvPr id="14" name="Footer Placeholder 10">
            <a:extLst>
              <a:ext uri="{FF2B5EF4-FFF2-40B4-BE49-F238E27FC236}">
                <a16:creationId xmlns:a16="http://schemas.microsoft.com/office/drawing/2014/main" id="{FFE179D3-1FB1-0DC5-3BE3-9431B6BBA2EF}"/>
              </a:ext>
            </a:extLst>
          </p:cNvPr>
          <p:cNvSpPr>
            <a:spLocks noGrp="1"/>
          </p:cNvSpPr>
          <p:nvPr>
            <p:ph type="ftr" sz="quarter" idx="5"/>
          </p:nvPr>
        </p:nvSpPr>
        <p:spPr>
          <a:xfrm>
            <a:off x="346620" y="3351783"/>
            <a:ext cx="663029" cy="207391"/>
          </a:xfrm>
        </p:spPr>
        <p:txBody>
          <a:bodyPr/>
          <a:lstStyle/>
          <a:p>
            <a:pPr marL="12700">
              <a:lnSpc>
                <a:spcPts val="675"/>
              </a:lnSpc>
            </a:pPr>
            <a:r>
              <a:rPr lang="en-US" spc="-20" dirty="0"/>
              <a:t>By Hazem</a:t>
            </a:r>
            <a:r>
              <a:rPr lang="en-US" spc="-5" dirty="0"/>
              <a:t> </a:t>
            </a:r>
            <a:r>
              <a:rPr lang="en-US" dirty="0"/>
              <a:t>Nabil</a:t>
            </a:r>
          </a:p>
        </p:txBody>
      </p:sp>
      <p:sp>
        <p:nvSpPr>
          <p:cNvPr id="11" name="Slide Number Placeholder 14">
            <a:extLst>
              <a:ext uri="{FF2B5EF4-FFF2-40B4-BE49-F238E27FC236}">
                <a16:creationId xmlns:a16="http://schemas.microsoft.com/office/drawing/2014/main" id="{8C445413-B684-E33E-1A27-92B53025D867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>
          <a:xfrm>
            <a:off x="4246994" y="3351784"/>
            <a:ext cx="344804" cy="89768"/>
          </a:xfrm>
        </p:spPr>
        <p:txBody>
          <a:bodyPr/>
          <a:lstStyle/>
          <a:p>
            <a:pPr marL="38100">
              <a:lnSpc>
                <a:spcPts val="675"/>
              </a:lnSpc>
            </a:pPr>
            <a:fld id="{81D60167-4931-47E6-BA6A-407CBD079E47}" type="slidenum">
              <a:rPr lang="en-US" spc="-20" smtClean="0"/>
              <a:t>10</a:t>
            </a:fld>
            <a:r>
              <a:rPr lang="en-US" spc="20" dirty="0"/>
              <a:t> </a:t>
            </a:r>
            <a:r>
              <a:rPr lang="en-US" spc="150" dirty="0"/>
              <a:t>/</a:t>
            </a:r>
            <a:r>
              <a:rPr lang="en-US" spc="20" dirty="0"/>
              <a:t> </a:t>
            </a:r>
            <a:r>
              <a:rPr lang="en-US" spc="-20" dirty="0"/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2211356894"/>
      </p:ext>
    </p:extLst>
  </p:cSld>
  <p:clrMapOvr>
    <a:masterClrMapping/>
  </p:clrMapOvr>
  <p:transition>
    <p:cut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35E15AD0-C2B0-4B51-919A-2D950DBE54DE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lnSpc>
                <a:spcPts val="675"/>
              </a:lnSpc>
            </a:pPr>
            <a:r>
              <a:rPr lang="en-US" spc="-20"/>
              <a:t>By Hazem Nabil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8F37029-1316-4529-8980-B1BBD89C4C7A}"/>
              </a:ext>
            </a:extLst>
          </p:cNvPr>
          <p:cNvSpPr>
            <a:spLocks noGrp="1"/>
          </p:cNvSpPr>
          <p:nvPr>
            <p:ph type="dt" sz="half" idx="6"/>
          </p:nvPr>
        </p:nvSpPr>
        <p:spPr>
          <a:xfrm>
            <a:off x="1521714" y="3348757"/>
            <a:ext cx="443230" cy="89768"/>
          </a:xfrm>
        </p:spPr>
        <p:txBody>
          <a:bodyPr/>
          <a:lstStyle/>
          <a:p>
            <a:pPr marL="12700">
              <a:lnSpc>
                <a:spcPts val="675"/>
              </a:lnSpc>
            </a:pPr>
            <a:r>
              <a:rPr lang="en-US" spc="10" dirty="0"/>
              <a:t>Summer 26</a:t>
            </a:r>
            <a:endParaRPr lang="en-US" spc="-2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8B0C6C-F627-4761-9077-944FA79A07FF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pPr marL="38100">
              <a:lnSpc>
                <a:spcPts val="675"/>
              </a:lnSpc>
            </a:pPr>
            <a:fld id="{81D60167-4931-47E6-BA6A-407CBD079E47}" type="slidenum">
              <a:rPr lang="en-US" spc="-20" smtClean="0"/>
              <a:t>11</a:t>
            </a:fld>
            <a:r>
              <a:rPr lang="en-US" spc="20"/>
              <a:t> </a:t>
            </a:r>
            <a:r>
              <a:rPr lang="en-US" spc="150"/>
              <a:t>/</a:t>
            </a:r>
            <a:r>
              <a:rPr lang="en-US" spc="20"/>
              <a:t> </a:t>
            </a:r>
            <a:r>
              <a:rPr lang="en-US" spc="-20"/>
              <a:t>19</a:t>
            </a:r>
            <a:endParaRPr lang="en-US" spc="-2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4D587B6-0C0A-42BC-BA3B-2FE2595DD79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8162" y="587375"/>
            <a:ext cx="4278572" cy="2286000"/>
          </a:xfrm>
          <a:prstGeom prst="rect">
            <a:avLst/>
          </a:prstGeom>
        </p:spPr>
      </p:pic>
      <p:sp>
        <p:nvSpPr>
          <p:cNvPr id="7" name="object 2">
            <a:extLst>
              <a:ext uri="{FF2B5EF4-FFF2-40B4-BE49-F238E27FC236}">
                <a16:creationId xmlns:a16="http://schemas.microsoft.com/office/drawing/2014/main" id="{5FCAB749-5741-4EBE-A7F3-3DC98E200276}"/>
              </a:ext>
            </a:extLst>
          </p:cNvPr>
          <p:cNvSpPr txBox="1"/>
          <p:nvPr/>
        </p:nvSpPr>
        <p:spPr>
          <a:xfrm>
            <a:off x="1257794" y="-12446"/>
            <a:ext cx="940435" cy="382270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441325" marR="5080" indent="73025" algn="r">
              <a:lnSpc>
                <a:spcPts val="700"/>
              </a:lnSpc>
              <a:spcBef>
                <a:spcPts val="135"/>
              </a:spcBef>
            </a:pPr>
            <a:r>
              <a:rPr sz="600" spc="10" dirty="0">
                <a:solidFill>
                  <a:srgbClr val="7F7F7F"/>
                </a:solidFill>
                <a:latin typeface="Microsoft Sans Serif"/>
                <a:cs typeface="Microsoft Sans Serif"/>
              </a:rPr>
              <a:t>Intr</a:t>
            </a:r>
            <a:r>
              <a:rPr sz="600" spc="30" dirty="0">
                <a:solidFill>
                  <a:srgbClr val="7F7F7F"/>
                </a:solidFill>
                <a:latin typeface="Microsoft Sans Serif"/>
                <a:cs typeface="Microsoft Sans Serif"/>
              </a:rPr>
              <a:t>o</a:t>
            </a:r>
            <a:r>
              <a:rPr sz="600" dirty="0">
                <a:solidFill>
                  <a:srgbClr val="7F7F7F"/>
                </a:solidFill>
                <a:latin typeface="Microsoft Sans Serif"/>
                <a:cs typeface="Microsoft Sans Serif"/>
              </a:rPr>
              <a:t>duction  </a:t>
            </a:r>
            <a:r>
              <a:rPr sz="600" spc="-30" dirty="0">
                <a:solidFill>
                  <a:srgbClr val="7F7F7F"/>
                </a:solidFill>
                <a:latin typeface="Microsoft Sans Serif"/>
                <a:cs typeface="Microsoft Sans Serif"/>
              </a:rPr>
              <a:t>Cours</a:t>
            </a:r>
            <a:r>
              <a:rPr sz="600" spc="-25" dirty="0">
                <a:solidFill>
                  <a:srgbClr val="7F7F7F"/>
                </a:solidFill>
                <a:latin typeface="Microsoft Sans Serif"/>
                <a:cs typeface="Microsoft Sans Serif"/>
              </a:rPr>
              <a:t>e</a:t>
            </a:r>
            <a:r>
              <a:rPr sz="600" spc="50" dirty="0">
                <a:solidFill>
                  <a:srgbClr val="7F7F7F"/>
                </a:solidFill>
                <a:latin typeface="Microsoft Sans Serif"/>
                <a:cs typeface="Microsoft Sans Serif"/>
              </a:rPr>
              <a:t> </a:t>
            </a:r>
            <a:r>
              <a:rPr sz="600" spc="-5" dirty="0">
                <a:solidFill>
                  <a:srgbClr val="7F7F7F"/>
                </a:solidFill>
                <a:latin typeface="Microsoft Sans Serif"/>
                <a:cs typeface="Microsoft Sans Serif"/>
              </a:rPr>
              <a:t>Details  </a:t>
            </a:r>
            <a:r>
              <a:rPr sz="600" spc="10" dirty="0">
                <a:solidFill>
                  <a:srgbClr val="FFFFFF"/>
                </a:solidFill>
                <a:latin typeface="Microsoft Sans Serif"/>
                <a:cs typeface="Microsoft Sans Serif"/>
              </a:rPr>
              <a:t>Motivation</a:t>
            </a:r>
            <a:endParaRPr sz="600" dirty="0">
              <a:latin typeface="Microsoft Sans Serif"/>
              <a:cs typeface="Microsoft Sans Serif"/>
            </a:endParaRPr>
          </a:p>
          <a:p>
            <a:pPr marR="5080" algn="r">
              <a:lnSpc>
                <a:spcPts val="670"/>
              </a:lnSpc>
            </a:pPr>
            <a:r>
              <a:rPr sz="600" spc="-25" dirty="0">
                <a:solidFill>
                  <a:srgbClr val="7F7F7F"/>
                </a:solidFill>
                <a:latin typeface="Microsoft Sans Serif"/>
                <a:cs typeface="Microsoft Sans Serif"/>
              </a:rPr>
              <a:t>Accessing</a:t>
            </a:r>
            <a:r>
              <a:rPr sz="600" spc="35" dirty="0">
                <a:solidFill>
                  <a:srgbClr val="7F7F7F"/>
                </a:solidFill>
                <a:latin typeface="Microsoft Sans Serif"/>
                <a:cs typeface="Microsoft Sans Serif"/>
              </a:rPr>
              <a:t> </a:t>
            </a:r>
            <a:r>
              <a:rPr sz="600" dirty="0">
                <a:solidFill>
                  <a:srgbClr val="7F7F7F"/>
                </a:solidFill>
                <a:latin typeface="Microsoft Sans Serif"/>
                <a:cs typeface="Microsoft Sans Serif"/>
              </a:rPr>
              <a:t>the</a:t>
            </a:r>
            <a:r>
              <a:rPr sz="600" spc="40" dirty="0">
                <a:solidFill>
                  <a:srgbClr val="7F7F7F"/>
                </a:solidFill>
                <a:latin typeface="Microsoft Sans Serif"/>
                <a:cs typeface="Microsoft Sans Serif"/>
              </a:rPr>
              <a:t> </a:t>
            </a:r>
            <a:r>
              <a:rPr sz="600" spc="-10" dirty="0">
                <a:solidFill>
                  <a:srgbClr val="7F7F7F"/>
                </a:solidFill>
                <a:latin typeface="Microsoft Sans Serif"/>
                <a:cs typeface="Microsoft Sans Serif"/>
              </a:rPr>
              <a:t>Lab</a:t>
            </a:r>
            <a:r>
              <a:rPr sz="600" spc="35" dirty="0">
                <a:solidFill>
                  <a:srgbClr val="7F7F7F"/>
                </a:solidFill>
                <a:latin typeface="Microsoft Sans Serif"/>
                <a:cs typeface="Microsoft Sans Serif"/>
              </a:rPr>
              <a:t> </a:t>
            </a:r>
            <a:r>
              <a:rPr sz="600" spc="5" dirty="0">
                <a:solidFill>
                  <a:srgbClr val="7F7F7F"/>
                </a:solidFill>
                <a:latin typeface="Microsoft Sans Serif"/>
                <a:cs typeface="Microsoft Sans Serif"/>
              </a:rPr>
              <a:t>Material</a:t>
            </a:r>
            <a:endParaRPr sz="600" dirty="0">
              <a:latin typeface="Microsoft Sans Serif"/>
              <a:cs typeface="Microsoft Sans Serif"/>
            </a:endParaRPr>
          </a:p>
        </p:txBody>
      </p:sp>
      <p:pic>
        <p:nvPicPr>
          <p:cNvPr id="8" name="object 3">
            <a:extLst>
              <a:ext uri="{FF2B5EF4-FFF2-40B4-BE49-F238E27FC236}">
                <a16:creationId xmlns:a16="http://schemas.microsoft.com/office/drawing/2014/main" id="{4498F31D-6DBE-485E-A9B7-8A9B90BE834F}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2303995" y="0"/>
            <a:ext cx="2304008" cy="366928"/>
          </a:xfrm>
          <a:prstGeom prst="rect">
            <a:avLst/>
          </a:prstGeom>
        </p:spPr>
      </p:pic>
      <p:sp>
        <p:nvSpPr>
          <p:cNvPr id="10" name="object 4">
            <a:extLst>
              <a:ext uri="{FF2B5EF4-FFF2-40B4-BE49-F238E27FC236}">
                <a16:creationId xmlns:a16="http://schemas.microsoft.com/office/drawing/2014/main" id="{84CA754A-0533-41D0-80F7-2B5034082FD6}"/>
              </a:ext>
            </a:extLst>
          </p:cNvPr>
          <p:cNvSpPr txBox="1"/>
          <p:nvPr/>
        </p:nvSpPr>
        <p:spPr>
          <a:xfrm>
            <a:off x="2533650" y="108966"/>
            <a:ext cx="1438910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900" b="1" spc="-20" dirty="0">
                <a:solidFill>
                  <a:srgbClr val="FFFFFF"/>
                </a:solidFill>
                <a:latin typeface="Trebuchet MS"/>
                <a:cs typeface="Trebuchet MS"/>
              </a:rPr>
              <a:t>German</a:t>
            </a:r>
            <a:r>
              <a:rPr sz="900" b="1" spc="40" dirty="0">
                <a:solidFill>
                  <a:srgbClr val="FFFFFF"/>
                </a:solidFill>
                <a:latin typeface="Trebuchet MS"/>
                <a:cs typeface="Trebuchet MS"/>
              </a:rPr>
              <a:t> </a:t>
            </a:r>
            <a:r>
              <a:rPr sz="900" b="1" spc="-25" dirty="0">
                <a:solidFill>
                  <a:srgbClr val="FFFFFF"/>
                </a:solidFill>
                <a:latin typeface="Trebuchet MS"/>
                <a:cs typeface="Trebuchet MS"/>
              </a:rPr>
              <a:t>University</a:t>
            </a:r>
            <a:r>
              <a:rPr sz="900" b="1" spc="45" dirty="0">
                <a:solidFill>
                  <a:srgbClr val="FFFFFF"/>
                </a:solidFill>
                <a:latin typeface="Trebuchet MS"/>
                <a:cs typeface="Trebuchet MS"/>
              </a:rPr>
              <a:t> </a:t>
            </a:r>
            <a:r>
              <a:rPr sz="900" b="1" spc="-35" dirty="0">
                <a:solidFill>
                  <a:srgbClr val="FFFFFF"/>
                </a:solidFill>
                <a:latin typeface="Trebuchet MS"/>
                <a:cs typeface="Trebuchet MS"/>
              </a:rPr>
              <a:t>in</a:t>
            </a:r>
            <a:r>
              <a:rPr sz="900" b="1" spc="40" dirty="0">
                <a:solidFill>
                  <a:srgbClr val="FFFFFF"/>
                </a:solidFill>
                <a:latin typeface="Trebuchet MS"/>
                <a:cs typeface="Trebuchet MS"/>
              </a:rPr>
              <a:t> </a:t>
            </a:r>
            <a:r>
              <a:rPr sz="900" b="1" spc="-15" dirty="0">
                <a:solidFill>
                  <a:srgbClr val="FFFFFF"/>
                </a:solidFill>
                <a:latin typeface="Trebuchet MS"/>
                <a:cs typeface="Trebuchet MS"/>
              </a:rPr>
              <a:t>Cairo</a:t>
            </a:r>
            <a:endParaRPr sz="900" dirty="0">
              <a:latin typeface="Trebuchet MS"/>
              <a:cs typeface="Trebuchet MS"/>
            </a:endParaRPr>
          </a:p>
        </p:txBody>
      </p:sp>
      <p:grpSp>
        <p:nvGrpSpPr>
          <p:cNvPr id="11" name="object 8">
            <a:extLst>
              <a:ext uri="{FF2B5EF4-FFF2-40B4-BE49-F238E27FC236}">
                <a16:creationId xmlns:a16="http://schemas.microsoft.com/office/drawing/2014/main" id="{89721AEA-12F7-441B-96BF-8EEC241C2A70}"/>
              </a:ext>
            </a:extLst>
          </p:cNvPr>
          <p:cNvGrpSpPr/>
          <p:nvPr/>
        </p:nvGrpSpPr>
        <p:grpSpPr>
          <a:xfrm>
            <a:off x="0" y="3346348"/>
            <a:ext cx="4608195" cy="109855"/>
            <a:chOff x="0" y="3346348"/>
            <a:chExt cx="4608195" cy="109855"/>
          </a:xfrm>
        </p:grpSpPr>
        <p:sp>
          <p:nvSpPr>
            <p:cNvPr id="12" name="object 9">
              <a:extLst>
                <a:ext uri="{FF2B5EF4-FFF2-40B4-BE49-F238E27FC236}">
                  <a16:creationId xmlns:a16="http://schemas.microsoft.com/office/drawing/2014/main" id="{E6018F8D-683E-4F95-BD84-2DEE5D3BC1E8}"/>
                </a:ext>
              </a:extLst>
            </p:cNvPr>
            <p:cNvSpPr/>
            <p:nvPr/>
          </p:nvSpPr>
          <p:spPr>
            <a:xfrm>
              <a:off x="0" y="3346348"/>
              <a:ext cx="2304415" cy="109855"/>
            </a:xfrm>
            <a:custGeom>
              <a:avLst/>
              <a:gdLst/>
              <a:ahLst/>
              <a:cxnLst/>
              <a:rect l="l" t="t" r="r" b="b"/>
              <a:pathLst>
                <a:path w="2304415" h="109854">
                  <a:moveTo>
                    <a:pt x="2304008" y="0"/>
                  </a:moveTo>
                  <a:lnTo>
                    <a:pt x="1152004" y="0"/>
                  </a:lnTo>
                  <a:lnTo>
                    <a:pt x="0" y="0"/>
                  </a:lnTo>
                  <a:lnTo>
                    <a:pt x="0" y="109651"/>
                  </a:lnTo>
                  <a:lnTo>
                    <a:pt x="1152004" y="109651"/>
                  </a:lnTo>
                  <a:lnTo>
                    <a:pt x="2304008" y="109651"/>
                  </a:lnTo>
                  <a:lnTo>
                    <a:pt x="2304008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0">
              <a:extLst>
                <a:ext uri="{FF2B5EF4-FFF2-40B4-BE49-F238E27FC236}">
                  <a16:creationId xmlns:a16="http://schemas.microsoft.com/office/drawing/2014/main" id="{2068A7FA-0A8A-46AA-B7B4-1D9E8B012431}"/>
                </a:ext>
              </a:extLst>
            </p:cNvPr>
            <p:cNvSpPr/>
            <p:nvPr/>
          </p:nvSpPr>
          <p:spPr>
            <a:xfrm>
              <a:off x="2303995" y="3346348"/>
              <a:ext cx="2304415" cy="109855"/>
            </a:xfrm>
            <a:custGeom>
              <a:avLst/>
              <a:gdLst/>
              <a:ahLst/>
              <a:cxnLst/>
              <a:rect l="l" t="t" r="r" b="b"/>
              <a:pathLst>
                <a:path w="2304415" h="109854">
                  <a:moveTo>
                    <a:pt x="2303996" y="0"/>
                  </a:moveTo>
                  <a:lnTo>
                    <a:pt x="1920024" y="0"/>
                  </a:lnTo>
                  <a:lnTo>
                    <a:pt x="0" y="0"/>
                  </a:lnTo>
                  <a:lnTo>
                    <a:pt x="0" y="109651"/>
                  </a:lnTo>
                  <a:lnTo>
                    <a:pt x="1920024" y="109651"/>
                  </a:lnTo>
                  <a:lnTo>
                    <a:pt x="2303996" y="109651"/>
                  </a:lnTo>
                  <a:lnTo>
                    <a:pt x="2303996" y="0"/>
                  </a:lnTo>
                  <a:close/>
                </a:path>
              </a:pathLst>
            </a:custGeom>
            <a:solidFill>
              <a:srgbClr val="8C205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4" name="object 13">
            <a:extLst>
              <a:ext uri="{FF2B5EF4-FFF2-40B4-BE49-F238E27FC236}">
                <a16:creationId xmlns:a16="http://schemas.microsoft.com/office/drawing/2014/main" id="{370F2FBA-9187-4D3C-895C-2266CF2AD199}"/>
              </a:ext>
            </a:extLst>
          </p:cNvPr>
          <p:cNvSpPr txBox="1"/>
          <p:nvPr/>
        </p:nvSpPr>
        <p:spPr>
          <a:xfrm>
            <a:off x="3086696" y="3351784"/>
            <a:ext cx="354965" cy="10223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5"/>
              </a:lnSpc>
            </a:pPr>
            <a:r>
              <a:rPr sz="600" spc="5" dirty="0">
                <a:solidFill>
                  <a:srgbClr val="FFFFFF"/>
                </a:solidFill>
                <a:latin typeface="Microsoft Sans Serif"/>
                <a:cs typeface="Microsoft Sans Serif"/>
              </a:rPr>
              <a:t>Tutorial</a:t>
            </a:r>
            <a:r>
              <a:rPr sz="600" spc="-10" dirty="0">
                <a:solidFill>
                  <a:srgbClr val="FFFFFF"/>
                </a:solidFill>
                <a:latin typeface="Microsoft Sans Serif"/>
                <a:cs typeface="Microsoft Sans Serif"/>
              </a:rPr>
              <a:t> </a:t>
            </a:r>
            <a:r>
              <a:rPr sz="600" spc="-20" dirty="0">
                <a:solidFill>
                  <a:srgbClr val="FFFFFF"/>
                </a:solidFill>
                <a:latin typeface="Microsoft Sans Serif"/>
                <a:cs typeface="Microsoft Sans Serif"/>
              </a:rPr>
              <a:t>1</a:t>
            </a:r>
            <a:endParaRPr sz="600" dirty="0">
              <a:latin typeface="Microsoft Sans Serif"/>
              <a:cs typeface="Microsoft Sans Serif"/>
            </a:endParaRPr>
          </a:p>
        </p:txBody>
      </p:sp>
      <p:sp>
        <p:nvSpPr>
          <p:cNvPr id="16" name="Footer Placeholder 10">
            <a:extLst>
              <a:ext uri="{FF2B5EF4-FFF2-40B4-BE49-F238E27FC236}">
                <a16:creationId xmlns:a16="http://schemas.microsoft.com/office/drawing/2014/main" id="{D1CB1A41-CF32-4F5F-8288-2159059206D4}"/>
              </a:ext>
            </a:extLst>
          </p:cNvPr>
          <p:cNvSpPr txBox="1">
            <a:spLocks/>
          </p:cNvSpPr>
          <p:nvPr/>
        </p:nvSpPr>
        <p:spPr>
          <a:xfrm>
            <a:off x="346620" y="3351783"/>
            <a:ext cx="663029" cy="20739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600" b="0" i="0" kern="1200">
                <a:solidFill>
                  <a:schemeClr val="bg1"/>
                </a:solidFill>
                <a:latin typeface="Microsoft Sans Serif"/>
                <a:ea typeface="+mn-ea"/>
                <a:cs typeface="Microsoft Sans Serif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2700">
              <a:lnSpc>
                <a:spcPts val="675"/>
              </a:lnSpc>
            </a:pPr>
            <a:r>
              <a:rPr lang="en-US" spc="-20"/>
              <a:t>By Hazem</a:t>
            </a:r>
            <a:r>
              <a:rPr lang="en-US" spc="-5"/>
              <a:t> </a:t>
            </a:r>
            <a:r>
              <a:rPr lang="en-US"/>
              <a:t>Nabil</a:t>
            </a:r>
            <a:endParaRPr lang="en-US" dirty="0"/>
          </a:p>
        </p:txBody>
      </p:sp>
      <p:sp>
        <p:nvSpPr>
          <p:cNvPr id="17" name="Slide Number Placeholder 14">
            <a:extLst>
              <a:ext uri="{FF2B5EF4-FFF2-40B4-BE49-F238E27FC236}">
                <a16:creationId xmlns:a16="http://schemas.microsoft.com/office/drawing/2014/main" id="{9B613127-0E97-4749-9876-70680F5F563B}"/>
              </a:ext>
            </a:extLst>
          </p:cNvPr>
          <p:cNvSpPr txBox="1">
            <a:spLocks/>
          </p:cNvSpPr>
          <p:nvPr/>
        </p:nvSpPr>
        <p:spPr>
          <a:xfrm>
            <a:off x="4246994" y="3351784"/>
            <a:ext cx="344804" cy="8976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600" b="0" i="0" kern="1200">
                <a:solidFill>
                  <a:schemeClr val="bg1"/>
                </a:solidFill>
                <a:latin typeface="Microsoft Sans Serif"/>
                <a:ea typeface="+mn-ea"/>
                <a:cs typeface="Microsoft Sans Serif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8100">
              <a:lnSpc>
                <a:spcPts val="675"/>
              </a:lnSpc>
            </a:pPr>
            <a:fld id="{81D60167-4931-47E6-BA6A-407CBD079E47}" type="slidenum">
              <a:rPr lang="en-US" spc="-20" smtClean="0"/>
              <a:pPr marL="38100">
                <a:lnSpc>
                  <a:spcPts val="675"/>
                </a:lnSpc>
              </a:pPr>
              <a:t>11</a:t>
            </a:fld>
            <a:r>
              <a:rPr lang="en-US" spc="20"/>
              <a:t> </a:t>
            </a:r>
            <a:r>
              <a:rPr lang="en-US" spc="150"/>
              <a:t>/</a:t>
            </a:r>
            <a:r>
              <a:rPr lang="en-US" spc="20"/>
              <a:t> </a:t>
            </a:r>
            <a:r>
              <a:rPr lang="en-US" spc="-20"/>
              <a:t>20</a:t>
            </a:r>
            <a:endParaRPr lang="en-US" spc="-20" dirty="0"/>
          </a:p>
        </p:txBody>
      </p:sp>
      <p:sp>
        <p:nvSpPr>
          <p:cNvPr id="5" name="object 12">
            <a:extLst>
              <a:ext uri="{FF2B5EF4-FFF2-40B4-BE49-F238E27FC236}">
                <a16:creationId xmlns:a16="http://schemas.microsoft.com/office/drawing/2014/main" id="{66D8C548-28E6-DC93-700F-2D27D7C0CCB6}"/>
              </a:ext>
            </a:extLst>
          </p:cNvPr>
          <p:cNvSpPr txBox="1">
            <a:spLocks/>
          </p:cNvSpPr>
          <p:nvPr/>
        </p:nvSpPr>
        <p:spPr>
          <a:xfrm>
            <a:off x="1506396" y="3351784"/>
            <a:ext cx="570053" cy="8976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600" b="0" i="0" kern="1200">
                <a:solidFill>
                  <a:schemeClr val="bg1"/>
                </a:solidFill>
                <a:latin typeface="Microsoft Sans Serif"/>
                <a:ea typeface="+mn-ea"/>
                <a:cs typeface="Microsoft Sans Serif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2700">
              <a:lnSpc>
                <a:spcPts val="675"/>
              </a:lnSpc>
            </a:pPr>
            <a:r>
              <a:rPr lang="en-US" spc="10"/>
              <a:t>Summer 2026</a:t>
            </a:r>
            <a:endParaRPr lang="en-US" spc="-20" dirty="0"/>
          </a:p>
        </p:txBody>
      </p:sp>
    </p:spTree>
    <p:extLst>
      <p:ext uri="{BB962C8B-B14F-4D97-AF65-F5344CB8AC3E}">
        <p14:creationId xmlns:p14="http://schemas.microsoft.com/office/powerpoint/2010/main" val="63871870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268450" y="0"/>
            <a:ext cx="940435" cy="382270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441325" marR="5080" indent="73025" algn="r">
              <a:lnSpc>
                <a:spcPts val="700"/>
              </a:lnSpc>
              <a:spcBef>
                <a:spcPts val="135"/>
              </a:spcBef>
            </a:pPr>
            <a:r>
              <a:rPr sz="600" spc="10" dirty="0">
                <a:solidFill>
                  <a:srgbClr val="7F7F7F"/>
                </a:solidFill>
                <a:latin typeface="Microsoft Sans Serif"/>
                <a:cs typeface="Microsoft Sans Serif"/>
              </a:rPr>
              <a:t>Intr</a:t>
            </a:r>
            <a:r>
              <a:rPr sz="600" spc="30" dirty="0">
                <a:solidFill>
                  <a:srgbClr val="7F7F7F"/>
                </a:solidFill>
                <a:latin typeface="Microsoft Sans Serif"/>
                <a:cs typeface="Microsoft Sans Serif"/>
              </a:rPr>
              <a:t>o</a:t>
            </a:r>
            <a:r>
              <a:rPr sz="600" dirty="0">
                <a:solidFill>
                  <a:srgbClr val="7F7F7F"/>
                </a:solidFill>
                <a:latin typeface="Microsoft Sans Serif"/>
                <a:cs typeface="Microsoft Sans Serif"/>
              </a:rPr>
              <a:t>duction  </a:t>
            </a:r>
            <a:r>
              <a:rPr sz="600" spc="-30" dirty="0">
                <a:solidFill>
                  <a:srgbClr val="7F7F7F"/>
                </a:solidFill>
                <a:latin typeface="Microsoft Sans Serif"/>
                <a:cs typeface="Microsoft Sans Serif"/>
              </a:rPr>
              <a:t>Cours</a:t>
            </a:r>
            <a:r>
              <a:rPr sz="600" spc="-25" dirty="0">
                <a:solidFill>
                  <a:srgbClr val="7F7F7F"/>
                </a:solidFill>
                <a:latin typeface="Microsoft Sans Serif"/>
                <a:cs typeface="Microsoft Sans Serif"/>
              </a:rPr>
              <a:t>e</a:t>
            </a:r>
            <a:r>
              <a:rPr sz="600" spc="50" dirty="0">
                <a:solidFill>
                  <a:srgbClr val="7F7F7F"/>
                </a:solidFill>
                <a:latin typeface="Microsoft Sans Serif"/>
                <a:cs typeface="Microsoft Sans Serif"/>
              </a:rPr>
              <a:t> </a:t>
            </a:r>
            <a:r>
              <a:rPr sz="600" spc="-5" dirty="0">
                <a:solidFill>
                  <a:srgbClr val="7F7F7F"/>
                </a:solidFill>
                <a:latin typeface="Microsoft Sans Serif"/>
                <a:cs typeface="Microsoft Sans Serif"/>
              </a:rPr>
              <a:t>Details  </a:t>
            </a:r>
            <a:r>
              <a:rPr sz="600" spc="10" dirty="0">
                <a:solidFill>
                  <a:srgbClr val="FFFFFF"/>
                </a:solidFill>
                <a:latin typeface="Microsoft Sans Serif"/>
                <a:cs typeface="Microsoft Sans Serif"/>
              </a:rPr>
              <a:t>Motivation</a:t>
            </a:r>
            <a:endParaRPr sz="600" dirty="0">
              <a:latin typeface="Microsoft Sans Serif"/>
              <a:cs typeface="Microsoft Sans Serif"/>
            </a:endParaRPr>
          </a:p>
          <a:p>
            <a:pPr marR="5080" algn="r">
              <a:lnSpc>
                <a:spcPts val="670"/>
              </a:lnSpc>
            </a:pPr>
            <a:r>
              <a:rPr sz="600" spc="-25" dirty="0">
                <a:solidFill>
                  <a:srgbClr val="7F7F7F"/>
                </a:solidFill>
                <a:latin typeface="Microsoft Sans Serif"/>
                <a:cs typeface="Microsoft Sans Serif"/>
              </a:rPr>
              <a:t>Accessing</a:t>
            </a:r>
            <a:r>
              <a:rPr sz="600" spc="35" dirty="0">
                <a:solidFill>
                  <a:srgbClr val="7F7F7F"/>
                </a:solidFill>
                <a:latin typeface="Microsoft Sans Serif"/>
                <a:cs typeface="Microsoft Sans Serif"/>
              </a:rPr>
              <a:t> </a:t>
            </a:r>
            <a:r>
              <a:rPr sz="600" dirty="0">
                <a:solidFill>
                  <a:srgbClr val="7F7F7F"/>
                </a:solidFill>
                <a:latin typeface="Microsoft Sans Serif"/>
                <a:cs typeface="Microsoft Sans Serif"/>
              </a:rPr>
              <a:t>the</a:t>
            </a:r>
            <a:r>
              <a:rPr sz="600" spc="40" dirty="0">
                <a:solidFill>
                  <a:srgbClr val="7F7F7F"/>
                </a:solidFill>
                <a:latin typeface="Microsoft Sans Serif"/>
                <a:cs typeface="Microsoft Sans Serif"/>
              </a:rPr>
              <a:t> </a:t>
            </a:r>
            <a:r>
              <a:rPr sz="600" spc="-10" dirty="0">
                <a:solidFill>
                  <a:srgbClr val="7F7F7F"/>
                </a:solidFill>
                <a:latin typeface="Microsoft Sans Serif"/>
                <a:cs typeface="Microsoft Sans Serif"/>
              </a:rPr>
              <a:t>Lab</a:t>
            </a:r>
            <a:r>
              <a:rPr sz="600" spc="35" dirty="0">
                <a:solidFill>
                  <a:srgbClr val="7F7F7F"/>
                </a:solidFill>
                <a:latin typeface="Microsoft Sans Serif"/>
                <a:cs typeface="Microsoft Sans Serif"/>
              </a:rPr>
              <a:t> </a:t>
            </a:r>
            <a:r>
              <a:rPr sz="600" spc="5" dirty="0">
                <a:solidFill>
                  <a:srgbClr val="7F7F7F"/>
                </a:solidFill>
                <a:latin typeface="Microsoft Sans Serif"/>
                <a:cs typeface="Microsoft Sans Serif"/>
              </a:rPr>
              <a:t>Material</a:t>
            </a:r>
            <a:endParaRPr sz="600" dirty="0">
              <a:latin typeface="Microsoft Sans Serif"/>
              <a:cs typeface="Microsoft Sans Serif"/>
            </a:endParaRPr>
          </a:p>
        </p:txBody>
      </p:sp>
      <p:pic>
        <p:nvPicPr>
          <p:cNvPr id="3" name="object 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2303995" y="0"/>
            <a:ext cx="2304008" cy="366928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2679966" y="129636"/>
            <a:ext cx="1438910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900" b="1" spc="-20" dirty="0">
                <a:solidFill>
                  <a:srgbClr val="FFFFFF"/>
                </a:solidFill>
                <a:latin typeface="Trebuchet MS"/>
                <a:cs typeface="Trebuchet MS"/>
              </a:rPr>
              <a:t>German</a:t>
            </a:r>
            <a:r>
              <a:rPr sz="900" b="1" spc="40" dirty="0">
                <a:solidFill>
                  <a:srgbClr val="FFFFFF"/>
                </a:solidFill>
                <a:latin typeface="Trebuchet MS"/>
                <a:cs typeface="Trebuchet MS"/>
              </a:rPr>
              <a:t> </a:t>
            </a:r>
            <a:r>
              <a:rPr sz="900" b="1" spc="-25" dirty="0">
                <a:solidFill>
                  <a:srgbClr val="FFFFFF"/>
                </a:solidFill>
                <a:latin typeface="Trebuchet MS"/>
                <a:cs typeface="Trebuchet MS"/>
              </a:rPr>
              <a:t>University</a:t>
            </a:r>
            <a:r>
              <a:rPr sz="900" b="1" spc="45" dirty="0">
                <a:solidFill>
                  <a:srgbClr val="FFFFFF"/>
                </a:solidFill>
                <a:latin typeface="Trebuchet MS"/>
                <a:cs typeface="Trebuchet MS"/>
              </a:rPr>
              <a:t> </a:t>
            </a:r>
            <a:r>
              <a:rPr sz="900" b="1" spc="-35" dirty="0">
                <a:solidFill>
                  <a:srgbClr val="FFFFFF"/>
                </a:solidFill>
                <a:latin typeface="Trebuchet MS"/>
                <a:cs typeface="Trebuchet MS"/>
              </a:rPr>
              <a:t>in</a:t>
            </a:r>
            <a:r>
              <a:rPr sz="900" b="1" spc="40" dirty="0">
                <a:solidFill>
                  <a:srgbClr val="FFFFFF"/>
                </a:solidFill>
                <a:latin typeface="Trebuchet MS"/>
                <a:cs typeface="Trebuchet MS"/>
              </a:rPr>
              <a:t> </a:t>
            </a:r>
            <a:r>
              <a:rPr sz="900" b="1" spc="-15" dirty="0">
                <a:solidFill>
                  <a:srgbClr val="FFFFFF"/>
                </a:solidFill>
                <a:latin typeface="Trebuchet MS"/>
                <a:cs typeface="Trebuchet MS"/>
              </a:rPr>
              <a:t>Cairo</a:t>
            </a:r>
            <a:endParaRPr sz="900">
              <a:latin typeface="Trebuchet MS"/>
              <a:cs typeface="Trebuchet MS"/>
            </a:endParaRPr>
          </a:p>
        </p:txBody>
      </p:sp>
      <p:pic>
        <p:nvPicPr>
          <p:cNvPr id="5" name="object 5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0" y="366911"/>
            <a:ext cx="4604410" cy="260646"/>
          </a:xfrm>
          <a:prstGeom prst="rect">
            <a:avLst/>
          </a:prstGeom>
        </p:spPr>
      </p:pic>
      <p:sp>
        <p:nvSpPr>
          <p:cNvPr id="6" name="object 6"/>
          <p:cNvSpPr txBox="1"/>
          <p:nvPr/>
        </p:nvSpPr>
        <p:spPr>
          <a:xfrm>
            <a:off x="197218" y="364347"/>
            <a:ext cx="1419225" cy="24447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400" spc="-10" dirty="0">
                <a:solidFill>
                  <a:srgbClr val="FFFFFF"/>
                </a:solidFill>
                <a:latin typeface="Trebuchet MS"/>
                <a:cs typeface="Trebuchet MS"/>
              </a:rPr>
              <a:t>Data</a:t>
            </a:r>
            <a:r>
              <a:rPr sz="1400" spc="25" dirty="0">
                <a:solidFill>
                  <a:srgbClr val="FFFFFF"/>
                </a:solidFill>
                <a:latin typeface="Trebuchet MS"/>
                <a:cs typeface="Trebuchet MS"/>
              </a:rPr>
              <a:t> </a:t>
            </a:r>
            <a:r>
              <a:rPr sz="1400" spc="-5" dirty="0">
                <a:solidFill>
                  <a:srgbClr val="FFFFFF"/>
                </a:solidFill>
                <a:latin typeface="Trebuchet MS"/>
                <a:cs typeface="Trebuchet MS"/>
              </a:rPr>
              <a:t>Mining</a:t>
            </a:r>
            <a:r>
              <a:rPr sz="1400" spc="30" dirty="0">
                <a:solidFill>
                  <a:srgbClr val="FFFFFF"/>
                </a:solidFill>
                <a:latin typeface="Trebuchet MS"/>
                <a:cs typeface="Trebuchet MS"/>
              </a:rPr>
              <a:t> </a:t>
            </a:r>
            <a:r>
              <a:rPr sz="1400" spc="-35" dirty="0">
                <a:solidFill>
                  <a:srgbClr val="FFFFFF"/>
                </a:solidFill>
                <a:latin typeface="Trebuchet MS"/>
                <a:cs typeface="Trebuchet MS"/>
              </a:rPr>
              <a:t>Tools</a:t>
            </a:r>
            <a:endParaRPr sz="1400">
              <a:latin typeface="Trebuchet MS"/>
              <a:cs typeface="Trebuchet MS"/>
            </a:endParaRPr>
          </a:p>
        </p:txBody>
      </p:sp>
      <p:sp>
        <p:nvSpPr>
          <p:cNvPr id="7" name="object 7"/>
          <p:cNvSpPr/>
          <p:nvPr/>
        </p:nvSpPr>
        <p:spPr>
          <a:xfrm>
            <a:off x="309193" y="958544"/>
            <a:ext cx="1967864" cy="384175"/>
          </a:xfrm>
          <a:custGeom>
            <a:avLst/>
            <a:gdLst/>
            <a:ahLst/>
            <a:cxnLst/>
            <a:rect l="l" t="t" r="r" b="b"/>
            <a:pathLst>
              <a:path w="1967864" h="384175">
                <a:moveTo>
                  <a:pt x="1917048" y="0"/>
                </a:moveTo>
                <a:lnTo>
                  <a:pt x="50800" y="0"/>
                </a:lnTo>
                <a:lnTo>
                  <a:pt x="31075" y="4008"/>
                </a:lnTo>
                <a:lnTo>
                  <a:pt x="14922" y="14922"/>
                </a:lnTo>
                <a:lnTo>
                  <a:pt x="4008" y="31075"/>
                </a:lnTo>
                <a:lnTo>
                  <a:pt x="0" y="50800"/>
                </a:lnTo>
                <a:lnTo>
                  <a:pt x="0" y="383940"/>
                </a:lnTo>
                <a:lnTo>
                  <a:pt x="1967849" y="383940"/>
                </a:lnTo>
                <a:lnTo>
                  <a:pt x="1967849" y="50800"/>
                </a:lnTo>
                <a:lnTo>
                  <a:pt x="1963840" y="31075"/>
                </a:lnTo>
                <a:lnTo>
                  <a:pt x="1952926" y="14922"/>
                </a:lnTo>
                <a:lnTo>
                  <a:pt x="1936773" y="4008"/>
                </a:lnTo>
                <a:lnTo>
                  <a:pt x="1917048" y="0"/>
                </a:lnTo>
                <a:close/>
              </a:path>
            </a:pathLst>
          </a:custGeom>
          <a:solidFill>
            <a:srgbClr val="69183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 txBox="1"/>
          <p:nvPr/>
        </p:nvSpPr>
        <p:spPr>
          <a:xfrm>
            <a:off x="347294" y="937549"/>
            <a:ext cx="1572260" cy="384810"/>
          </a:xfrm>
          <a:prstGeom prst="rect">
            <a:avLst/>
          </a:prstGeom>
        </p:spPr>
        <p:txBody>
          <a:bodyPr vert="horz" wrap="square" lIns="0" tIns="22860" rIns="0" bIns="0" rtlCol="0">
            <a:spAutoFit/>
          </a:bodyPr>
          <a:lstStyle/>
          <a:p>
            <a:pPr marL="12700" marR="5080">
              <a:lnSpc>
                <a:spcPts val="1390"/>
              </a:lnSpc>
              <a:spcBef>
                <a:spcPts val="180"/>
              </a:spcBef>
            </a:pPr>
            <a:r>
              <a:rPr sz="1200" spc="-70" dirty="0">
                <a:solidFill>
                  <a:srgbClr val="FFFFFF"/>
                </a:solidFill>
                <a:latin typeface="Trebuchet MS"/>
                <a:cs typeface="Trebuchet MS"/>
              </a:rPr>
              <a:t>Graphical</a:t>
            </a:r>
            <a:r>
              <a:rPr sz="1200" spc="-5" dirty="0">
                <a:solidFill>
                  <a:srgbClr val="FFFFFF"/>
                </a:solidFill>
                <a:latin typeface="Trebuchet MS"/>
                <a:cs typeface="Trebuchet MS"/>
              </a:rPr>
              <a:t> </a:t>
            </a:r>
            <a:r>
              <a:rPr sz="1200" spc="-60" dirty="0">
                <a:solidFill>
                  <a:srgbClr val="FFFFFF"/>
                </a:solidFill>
                <a:latin typeface="Trebuchet MS"/>
                <a:cs typeface="Trebuchet MS"/>
              </a:rPr>
              <a:t>User</a:t>
            </a:r>
            <a:r>
              <a:rPr sz="1200" dirty="0">
                <a:solidFill>
                  <a:srgbClr val="FFFFFF"/>
                </a:solidFill>
                <a:latin typeface="Trebuchet MS"/>
                <a:cs typeface="Trebuchet MS"/>
              </a:rPr>
              <a:t> </a:t>
            </a:r>
            <a:r>
              <a:rPr sz="1200" spc="-75" dirty="0">
                <a:solidFill>
                  <a:srgbClr val="FFFFFF"/>
                </a:solidFill>
                <a:latin typeface="Trebuchet MS"/>
                <a:cs typeface="Trebuchet MS"/>
              </a:rPr>
              <a:t>Interfaces </a:t>
            </a:r>
            <a:r>
              <a:rPr sz="1200" spc="-345" dirty="0">
                <a:solidFill>
                  <a:srgbClr val="FFFFFF"/>
                </a:solidFill>
                <a:latin typeface="Trebuchet MS"/>
                <a:cs typeface="Trebuchet MS"/>
              </a:rPr>
              <a:t> </a:t>
            </a:r>
            <a:r>
              <a:rPr sz="1200" spc="-10" dirty="0">
                <a:solidFill>
                  <a:srgbClr val="FFFFFF"/>
                </a:solidFill>
                <a:latin typeface="Trebuchet MS"/>
                <a:cs typeface="Trebuchet MS"/>
              </a:rPr>
              <a:t>(GUIs)</a:t>
            </a:r>
            <a:endParaRPr sz="1200" dirty="0">
              <a:latin typeface="Trebuchet MS"/>
              <a:cs typeface="Trebuchet MS"/>
            </a:endParaRPr>
          </a:p>
        </p:txBody>
      </p:sp>
      <p:grpSp>
        <p:nvGrpSpPr>
          <p:cNvPr id="9" name="object 9"/>
          <p:cNvGrpSpPr/>
          <p:nvPr/>
        </p:nvGrpSpPr>
        <p:grpSpPr>
          <a:xfrm>
            <a:off x="309193" y="1329829"/>
            <a:ext cx="1967864" cy="1925320"/>
            <a:chOff x="309193" y="1329829"/>
            <a:chExt cx="1967864" cy="1925320"/>
          </a:xfrm>
        </p:grpSpPr>
        <p:pic>
          <p:nvPicPr>
            <p:cNvPr id="10" name="object 10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309194" y="1329829"/>
              <a:ext cx="1967848" cy="50609"/>
            </a:xfrm>
            <a:prstGeom prst="rect">
              <a:avLst/>
            </a:prstGeom>
          </p:spPr>
        </p:pic>
        <p:sp>
          <p:nvSpPr>
            <p:cNvPr id="11" name="object 11"/>
            <p:cNvSpPr/>
            <p:nvPr/>
          </p:nvSpPr>
          <p:spPr>
            <a:xfrm>
              <a:off x="309193" y="1374083"/>
              <a:ext cx="1967864" cy="1880870"/>
            </a:xfrm>
            <a:custGeom>
              <a:avLst/>
              <a:gdLst/>
              <a:ahLst/>
              <a:cxnLst/>
              <a:rect l="l" t="t" r="r" b="b"/>
              <a:pathLst>
                <a:path w="1967864" h="1880870">
                  <a:moveTo>
                    <a:pt x="1967849" y="0"/>
                  </a:moveTo>
                  <a:lnTo>
                    <a:pt x="0" y="0"/>
                  </a:lnTo>
                  <a:lnTo>
                    <a:pt x="0" y="1830063"/>
                  </a:lnTo>
                  <a:lnTo>
                    <a:pt x="4008" y="1849787"/>
                  </a:lnTo>
                  <a:lnTo>
                    <a:pt x="14922" y="1865940"/>
                  </a:lnTo>
                  <a:lnTo>
                    <a:pt x="31075" y="1876855"/>
                  </a:lnTo>
                  <a:lnTo>
                    <a:pt x="50800" y="1880863"/>
                  </a:lnTo>
                  <a:lnTo>
                    <a:pt x="1917048" y="1880863"/>
                  </a:lnTo>
                  <a:lnTo>
                    <a:pt x="1936773" y="1876855"/>
                  </a:lnTo>
                  <a:lnTo>
                    <a:pt x="1952926" y="1865940"/>
                  </a:lnTo>
                  <a:lnTo>
                    <a:pt x="1963840" y="1849787"/>
                  </a:lnTo>
                  <a:lnTo>
                    <a:pt x="1967849" y="1830063"/>
                  </a:lnTo>
                  <a:lnTo>
                    <a:pt x="1967849" y="0"/>
                  </a:lnTo>
                  <a:close/>
                </a:path>
              </a:pathLst>
            </a:custGeom>
            <a:solidFill>
              <a:srgbClr val="F0E7E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2" name="object 12"/>
          <p:cNvSpPr txBox="1"/>
          <p:nvPr/>
        </p:nvSpPr>
        <p:spPr>
          <a:xfrm>
            <a:off x="321894" y="1308301"/>
            <a:ext cx="1797050" cy="1887054"/>
          </a:xfrm>
          <a:prstGeom prst="rect">
            <a:avLst/>
          </a:prstGeom>
        </p:spPr>
        <p:txBody>
          <a:bodyPr vert="horz" wrap="square" lIns="0" tIns="55244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434"/>
              </a:spcBef>
            </a:pPr>
            <a:r>
              <a:rPr sz="1100" spc="-85" dirty="0">
                <a:latin typeface="Microsoft Sans Serif"/>
                <a:cs typeface="Microsoft Sans Serif"/>
              </a:rPr>
              <a:t>Free</a:t>
            </a:r>
            <a:r>
              <a:rPr sz="1100" spc="55" dirty="0">
                <a:latin typeface="Microsoft Sans Serif"/>
                <a:cs typeface="Microsoft Sans Serif"/>
              </a:rPr>
              <a:t> </a:t>
            </a:r>
            <a:r>
              <a:rPr sz="1100" spc="-65" dirty="0">
                <a:latin typeface="Microsoft Sans Serif"/>
                <a:cs typeface="Microsoft Sans Serif"/>
              </a:rPr>
              <a:t>and</a:t>
            </a:r>
            <a:r>
              <a:rPr sz="1100" spc="60" dirty="0">
                <a:latin typeface="Microsoft Sans Serif"/>
                <a:cs typeface="Microsoft Sans Serif"/>
              </a:rPr>
              <a:t> </a:t>
            </a:r>
            <a:r>
              <a:rPr sz="1100" spc="-65" dirty="0">
                <a:latin typeface="Microsoft Sans Serif"/>
                <a:cs typeface="Microsoft Sans Serif"/>
              </a:rPr>
              <a:t>open-source</a:t>
            </a:r>
            <a:r>
              <a:rPr sz="1100" spc="55" dirty="0">
                <a:latin typeface="Microsoft Sans Serif"/>
                <a:cs typeface="Microsoft Sans Serif"/>
              </a:rPr>
              <a:t> </a:t>
            </a:r>
            <a:r>
              <a:rPr sz="1100" spc="-50" dirty="0">
                <a:latin typeface="Microsoft Sans Serif"/>
                <a:cs typeface="Microsoft Sans Serif"/>
              </a:rPr>
              <a:t>(FOSS)</a:t>
            </a:r>
            <a:endParaRPr sz="1100" dirty="0">
              <a:latin typeface="Microsoft Sans Serif"/>
              <a:cs typeface="Microsoft Sans Serif"/>
            </a:endParaRPr>
          </a:p>
          <a:p>
            <a:pPr marL="314960" indent="-139065">
              <a:lnSpc>
                <a:spcPct val="100000"/>
              </a:lnSpc>
              <a:spcBef>
                <a:spcPts val="334"/>
              </a:spcBef>
              <a:buClr>
                <a:srgbClr val="8C2054"/>
              </a:buClr>
              <a:buFont typeface="Arial"/>
              <a:buChar char="•"/>
              <a:tabLst>
                <a:tab pos="315595" algn="l"/>
              </a:tabLst>
            </a:pPr>
            <a:r>
              <a:rPr sz="1100" spc="-20" dirty="0">
                <a:latin typeface="Microsoft Sans Serif"/>
                <a:cs typeface="Microsoft Sans Serif"/>
              </a:rPr>
              <a:t>WEKA</a:t>
            </a:r>
            <a:endParaRPr sz="1100" dirty="0">
              <a:latin typeface="Microsoft Sans Serif"/>
              <a:cs typeface="Microsoft Sans Serif"/>
            </a:endParaRPr>
          </a:p>
          <a:p>
            <a:pPr marL="314960" indent="-139065">
              <a:lnSpc>
                <a:spcPct val="100000"/>
              </a:lnSpc>
              <a:spcBef>
                <a:spcPts val="330"/>
              </a:spcBef>
              <a:buClr>
                <a:srgbClr val="8C2054"/>
              </a:buClr>
              <a:buFont typeface="Arial"/>
              <a:buChar char="•"/>
              <a:tabLst>
                <a:tab pos="315595" algn="l"/>
              </a:tabLst>
            </a:pPr>
            <a:r>
              <a:rPr sz="1100" spc="-10" dirty="0">
                <a:latin typeface="Microsoft Sans Serif"/>
                <a:cs typeface="Microsoft Sans Serif"/>
              </a:rPr>
              <a:t>KNIME</a:t>
            </a:r>
            <a:endParaRPr lang="en-US" sz="1100" dirty="0">
              <a:latin typeface="Microsoft Sans Serif"/>
              <a:cs typeface="Microsoft Sans Serif"/>
            </a:endParaRPr>
          </a:p>
          <a:p>
            <a:pPr marL="314960" indent="-139065">
              <a:lnSpc>
                <a:spcPct val="100000"/>
              </a:lnSpc>
              <a:spcBef>
                <a:spcPts val="330"/>
              </a:spcBef>
              <a:buClr>
                <a:srgbClr val="8C2054"/>
              </a:buClr>
              <a:buFont typeface="Arial"/>
              <a:buChar char="•"/>
              <a:tabLst>
                <a:tab pos="315595" algn="l"/>
              </a:tabLst>
            </a:pPr>
            <a:r>
              <a:rPr sz="1100" spc="-65" dirty="0">
                <a:latin typeface="Microsoft Sans Serif"/>
                <a:cs typeface="Microsoft Sans Serif"/>
              </a:rPr>
              <a:t>Orange</a:t>
            </a:r>
            <a:endParaRPr lang="en-US" sz="1100" spc="-65" dirty="0">
              <a:latin typeface="Microsoft Sans Serif"/>
              <a:cs typeface="Microsoft Sans Serif"/>
            </a:endParaRPr>
          </a:p>
          <a:p>
            <a:pPr marL="57150">
              <a:lnSpc>
                <a:spcPct val="100000"/>
              </a:lnSpc>
              <a:spcBef>
                <a:spcPts val="330"/>
              </a:spcBef>
              <a:buClr>
                <a:srgbClr val="8C2054"/>
              </a:buClr>
              <a:tabLst>
                <a:tab pos="315595" algn="l"/>
              </a:tabLst>
            </a:pPr>
            <a:r>
              <a:rPr sz="1100" spc="-35" dirty="0">
                <a:latin typeface="Microsoft Sans Serif"/>
                <a:cs typeface="Microsoft Sans Serif"/>
              </a:rPr>
              <a:t>Commercial/Proprietary</a:t>
            </a:r>
            <a:endParaRPr sz="1100" dirty="0">
              <a:latin typeface="Microsoft Sans Serif"/>
              <a:cs typeface="Microsoft Sans Serif"/>
            </a:endParaRPr>
          </a:p>
          <a:p>
            <a:pPr marL="314960" indent="-139065">
              <a:lnSpc>
                <a:spcPct val="100000"/>
              </a:lnSpc>
              <a:spcBef>
                <a:spcPts val="335"/>
              </a:spcBef>
              <a:buClr>
                <a:srgbClr val="8C2054"/>
              </a:buClr>
              <a:buFont typeface="Arial"/>
              <a:buChar char="•"/>
              <a:tabLst>
                <a:tab pos="315595" algn="l"/>
              </a:tabLst>
            </a:pPr>
            <a:r>
              <a:rPr sz="1100" spc="-90" dirty="0">
                <a:latin typeface="Microsoft Sans Serif"/>
                <a:cs typeface="Microsoft Sans Serif"/>
              </a:rPr>
              <a:t>SAS</a:t>
            </a:r>
            <a:r>
              <a:rPr sz="1100" spc="40" dirty="0">
                <a:latin typeface="Microsoft Sans Serif"/>
                <a:cs typeface="Microsoft Sans Serif"/>
              </a:rPr>
              <a:t> </a:t>
            </a:r>
            <a:r>
              <a:rPr sz="1100" spc="-50" dirty="0">
                <a:latin typeface="Microsoft Sans Serif"/>
                <a:cs typeface="Microsoft Sans Serif"/>
              </a:rPr>
              <a:t>Enterprise</a:t>
            </a:r>
            <a:r>
              <a:rPr sz="1100" spc="40" dirty="0">
                <a:latin typeface="Microsoft Sans Serif"/>
                <a:cs typeface="Microsoft Sans Serif"/>
              </a:rPr>
              <a:t> </a:t>
            </a:r>
            <a:r>
              <a:rPr sz="1100" spc="-25" dirty="0">
                <a:latin typeface="Microsoft Sans Serif"/>
                <a:cs typeface="Microsoft Sans Serif"/>
              </a:rPr>
              <a:t>Miner</a:t>
            </a:r>
            <a:endParaRPr sz="1100" dirty="0">
              <a:latin typeface="Microsoft Sans Serif"/>
              <a:cs typeface="Microsoft Sans Serif"/>
            </a:endParaRPr>
          </a:p>
          <a:p>
            <a:pPr marL="314960" indent="-139065">
              <a:lnSpc>
                <a:spcPct val="100000"/>
              </a:lnSpc>
              <a:spcBef>
                <a:spcPts val="335"/>
              </a:spcBef>
              <a:buClr>
                <a:srgbClr val="8C2054"/>
              </a:buClr>
              <a:buFont typeface="Arial"/>
              <a:buChar char="•"/>
              <a:tabLst>
                <a:tab pos="315595" algn="l"/>
              </a:tabLst>
            </a:pPr>
            <a:r>
              <a:rPr sz="1100" spc="5" dirty="0">
                <a:latin typeface="Microsoft Sans Serif"/>
                <a:cs typeface="Microsoft Sans Serif"/>
              </a:rPr>
              <a:t>IBM</a:t>
            </a:r>
            <a:r>
              <a:rPr sz="1100" spc="45" dirty="0">
                <a:latin typeface="Microsoft Sans Serif"/>
                <a:cs typeface="Microsoft Sans Serif"/>
              </a:rPr>
              <a:t> </a:t>
            </a:r>
            <a:r>
              <a:rPr sz="1100" spc="-110" dirty="0">
                <a:latin typeface="Microsoft Sans Serif"/>
                <a:cs typeface="Microsoft Sans Serif"/>
              </a:rPr>
              <a:t>SPSS</a:t>
            </a:r>
            <a:r>
              <a:rPr sz="1100" spc="45" dirty="0">
                <a:latin typeface="Microsoft Sans Serif"/>
                <a:cs typeface="Microsoft Sans Serif"/>
              </a:rPr>
              <a:t> </a:t>
            </a:r>
            <a:r>
              <a:rPr sz="1100" spc="-35" dirty="0">
                <a:latin typeface="Microsoft Sans Serif"/>
                <a:cs typeface="Microsoft Sans Serif"/>
              </a:rPr>
              <a:t>Modeller</a:t>
            </a:r>
            <a:endParaRPr sz="1100" dirty="0">
              <a:latin typeface="Microsoft Sans Serif"/>
              <a:cs typeface="Microsoft Sans Serif"/>
            </a:endParaRPr>
          </a:p>
          <a:p>
            <a:pPr marL="314960" indent="-139065">
              <a:lnSpc>
                <a:spcPct val="100000"/>
              </a:lnSpc>
              <a:spcBef>
                <a:spcPts val="334"/>
              </a:spcBef>
              <a:buClr>
                <a:srgbClr val="8C2054"/>
              </a:buClr>
              <a:buFont typeface="Arial"/>
              <a:buChar char="•"/>
              <a:tabLst>
                <a:tab pos="315595" algn="l"/>
              </a:tabLst>
            </a:pPr>
            <a:r>
              <a:rPr sz="1100" spc="5" dirty="0">
                <a:latin typeface="Microsoft Sans Serif"/>
                <a:cs typeface="Microsoft Sans Serif"/>
              </a:rPr>
              <a:t>IBM</a:t>
            </a:r>
            <a:r>
              <a:rPr sz="1100" spc="30" dirty="0">
                <a:latin typeface="Microsoft Sans Serif"/>
                <a:cs typeface="Microsoft Sans Serif"/>
              </a:rPr>
              <a:t> </a:t>
            </a:r>
            <a:r>
              <a:rPr sz="1100" spc="-50" dirty="0">
                <a:latin typeface="Microsoft Sans Serif"/>
                <a:cs typeface="Microsoft Sans Serif"/>
              </a:rPr>
              <a:t>Watson</a:t>
            </a:r>
            <a:endParaRPr sz="1100" dirty="0">
              <a:latin typeface="Microsoft Sans Serif"/>
              <a:cs typeface="Microsoft Sans Serif"/>
            </a:endParaRPr>
          </a:p>
          <a:p>
            <a:pPr marL="314960" indent="-139065">
              <a:lnSpc>
                <a:spcPct val="100000"/>
              </a:lnSpc>
              <a:spcBef>
                <a:spcPts val="330"/>
              </a:spcBef>
              <a:buClr>
                <a:srgbClr val="8C2054"/>
              </a:buClr>
              <a:buFont typeface="Arial"/>
              <a:buChar char="•"/>
              <a:tabLst>
                <a:tab pos="315595" algn="l"/>
              </a:tabLst>
            </a:pPr>
            <a:r>
              <a:rPr sz="1100" spc="-50" dirty="0">
                <a:latin typeface="Microsoft Sans Serif"/>
                <a:cs typeface="Microsoft Sans Serif"/>
              </a:rPr>
              <a:t>Rapidminer</a:t>
            </a:r>
            <a:endParaRPr sz="1100" dirty="0">
              <a:latin typeface="Microsoft Sans Serif"/>
              <a:cs typeface="Microsoft Sans Serif"/>
            </a:endParaRPr>
          </a:p>
        </p:txBody>
      </p:sp>
      <p:sp>
        <p:nvSpPr>
          <p:cNvPr id="13" name="object 13"/>
          <p:cNvSpPr/>
          <p:nvPr/>
        </p:nvSpPr>
        <p:spPr>
          <a:xfrm>
            <a:off x="2330970" y="958544"/>
            <a:ext cx="1967864" cy="384175"/>
          </a:xfrm>
          <a:custGeom>
            <a:avLst/>
            <a:gdLst/>
            <a:ahLst/>
            <a:cxnLst/>
            <a:rect l="l" t="t" r="r" b="b"/>
            <a:pathLst>
              <a:path w="1967864" h="384175">
                <a:moveTo>
                  <a:pt x="1917048" y="0"/>
                </a:moveTo>
                <a:lnTo>
                  <a:pt x="50800" y="0"/>
                </a:lnTo>
                <a:lnTo>
                  <a:pt x="31075" y="4008"/>
                </a:lnTo>
                <a:lnTo>
                  <a:pt x="14922" y="14922"/>
                </a:lnTo>
                <a:lnTo>
                  <a:pt x="4008" y="31075"/>
                </a:lnTo>
                <a:lnTo>
                  <a:pt x="0" y="50800"/>
                </a:lnTo>
                <a:lnTo>
                  <a:pt x="0" y="383940"/>
                </a:lnTo>
                <a:lnTo>
                  <a:pt x="1967849" y="383940"/>
                </a:lnTo>
                <a:lnTo>
                  <a:pt x="1967849" y="50800"/>
                </a:lnTo>
                <a:lnTo>
                  <a:pt x="1963840" y="31075"/>
                </a:lnTo>
                <a:lnTo>
                  <a:pt x="1952926" y="14922"/>
                </a:lnTo>
                <a:lnTo>
                  <a:pt x="1936773" y="4008"/>
                </a:lnTo>
                <a:lnTo>
                  <a:pt x="1917048" y="0"/>
                </a:lnTo>
                <a:close/>
              </a:path>
            </a:pathLst>
          </a:custGeom>
          <a:solidFill>
            <a:srgbClr val="69183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/>
          <p:cNvSpPr txBox="1"/>
          <p:nvPr/>
        </p:nvSpPr>
        <p:spPr>
          <a:xfrm>
            <a:off x="2369083" y="937549"/>
            <a:ext cx="1544320" cy="384810"/>
          </a:xfrm>
          <a:prstGeom prst="rect">
            <a:avLst/>
          </a:prstGeom>
        </p:spPr>
        <p:txBody>
          <a:bodyPr vert="horz" wrap="square" lIns="0" tIns="22860" rIns="0" bIns="0" rtlCol="0">
            <a:spAutoFit/>
          </a:bodyPr>
          <a:lstStyle/>
          <a:p>
            <a:pPr marL="12700" marR="5080">
              <a:lnSpc>
                <a:spcPts val="1390"/>
              </a:lnSpc>
              <a:spcBef>
                <a:spcPts val="180"/>
              </a:spcBef>
            </a:pPr>
            <a:r>
              <a:rPr sz="1200" spc="-55" dirty="0">
                <a:solidFill>
                  <a:srgbClr val="FFFFFF"/>
                </a:solidFill>
                <a:latin typeface="Trebuchet MS"/>
                <a:cs typeface="Trebuchet MS"/>
              </a:rPr>
              <a:t>Programmatic</a:t>
            </a:r>
            <a:r>
              <a:rPr sz="1200" spc="-15" dirty="0">
                <a:solidFill>
                  <a:srgbClr val="FFFFFF"/>
                </a:solidFill>
                <a:latin typeface="Trebuchet MS"/>
                <a:cs typeface="Trebuchet MS"/>
              </a:rPr>
              <a:t> </a:t>
            </a:r>
            <a:r>
              <a:rPr sz="1200" spc="-75" dirty="0">
                <a:solidFill>
                  <a:srgbClr val="FFFFFF"/>
                </a:solidFill>
                <a:latin typeface="Trebuchet MS"/>
                <a:cs typeface="Trebuchet MS"/>
              </a:rPr>
              <a:t>Interfaces </a:t>
            </a:r>
            <a:r>
              <a:rPr sz="1200" spc="-350" dirty="0">
                <a:solidFill>
                  <a:srgbClr val="FFFFFF"/>
                </a:solidFill>
                <a:latin typeface="Trebuchet MS"/>
                <a:cs typeface="Trebuchet MS"/>
              </a:rPr>
              <a:t> </a:t>
            </a:r>
            <a:r>
              <a:rPr sz="1200" spc="15" dirty="0">
                <a:solidFill>
                  <a:srgbClr val="FFFFFF"/>
                </a:solidFill>
                <a:latin typeface="Trebuchet MS"/>
                <a:cs typeface="Trebuchet MS"/>
              </a:rPr>
              <a:t>(APIs)</a:t>
            </a:r>
            <a:endParaRPr sz="1200" dirty="0">
              <a:latin typeface="Trebuchet MS"/>
              <a:cs typeface="Trebuchet MS"/>
            </a:endParaRPr>
          </a:p>
        </p:txBody>
      </p:sp>
      <p:grpSp>
        <p:nvGrpSpPr>
          <p:cNvPr id="15" name="object 15"/>
          <p:cNvGrpSpPr/>
          <p:nvPr/>
        </p:nvGrpSpPr>
        <p:grpSpPr>
          <a:xfrm>
            <a:off x="2330982" y="1329829"/>
            <a:ext cx="1967864" cy="1268095"/>
            <a:chOff x="2330982" y="1329829"/>
            <a:chExt cx="1967864" cy="1268095"/>
          </a:xfrm>
        </p:grpSpPr>
        <p:pic>
          <p:nvPicPr>
            <p:cNvPr id="16" name="object 16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2330983" y="1329829"/>
              <a:ext cx="1967848" cy="50609"/>
            </a:xfrm>
            <a:prstGeom prst="rect">
              <a:avLst/>
            </a:prstGeom>
          </p:spPr>
        </p:pic>
        <p:sp>
          <p:nvSpPr>
            <p:cNvPr id="17" name="object 17"/>
            <p:cNvSpPr/>
            <p:nvPr/>
          </p:nvSpPr>
          <p:spPr>
            <a:xfrm>
              <a:off x="2330982" y="1374094"/>
              <a:ext cx="1967864" cy="1224280"/>
            </a:xfrm>
            <a:custGeom>
              <a:avLst/>
              <a:gdLst/>
              <a:ahLst/>
              <a:cxnLst/>
              <a:rect l="l" t="t" r="r" b="b"/>
              <a:pathLst>
                <a:path w="1967864" h="1224280">
                  <a:moveTo>
                    <a:pt x="1967849" y="0"/>
                  </a:moveTo>
                  <a:lnTo>
                    <a:pt x="0" y="0"/>
                  </a:lnTo>
                  <a:lnTo>
                    <a:pt x="0" y="1173017"/>
                  </a:lnTo>
                  <a:lnTo>
                    <a:pt x="4008" y="1192742"/>
                  </a:lnTo>
                  <a:lnTo>
                    <a:pt x="14922" y="1208895"/>
                  </a:lnTo>
                  <a:lnTo>
                    <a:pt x="31075" y="1219809"/>
                  </a:lnTo>
                  <a:lnTo>
                    <a:pt x="50800" y="1223818"/>
                  </a:lnTo>
                  <a:lnTo>
                    <a:pt x="1917048" y="1223818"/>
                  </a:lnTo>
                  <a:lnTo>
                    <a:pt x="1936773" y="1219809"/>
                  </a:lnTo>
                  <a:lnTo>
                    <a:pt x="1952926" y="1208895"/>
                  </a:lnTo>
                  <a:lnTo>
                    <a:pt x="1963840" y="1192742"/>
                  </a:lnTo>
                  <a:lnTo>
                    <a:pt x="1967849" y="1173017"/>
                  </a:lnTo>
                  <a:lnTo>
                    <a:pt x="1967849" y="0"/>
                  </a:lnTo>
                  <a:close/>
                </a:path>
              </a:pathLst>
            </a:custGeom>
            <a:solidFill>
              <a:srgbClr val="F0E7E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8" name="object 18"/>
          <p:cNvSpPr txBox="1"/>
          <p:nvPr/>
        </p:nvSpPr>
        <p:spPr>
          <a:xfrm>
            <a:off x="2343683" y="1324112"/>
            <a:ext cx="1797050" cy="1196481"/>
          </a:xfrm>
          <a:prstGeom prst="rect">
            <a:avLst/>
          </a:prstGeom>
        </p:spPr>
        <p:txBody>
          <a:bodyPr vert="horz" wrap="square" lIns="0" tIns="3937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310"/>
              </a:spcBef>
            </a:pPr>
            <a:r>
              <a:rPr sz="1100" spc="-85" dirty="0">
                <a:latin typeface="Microsoft Sans Serif"/>
                <a:cs typeface="Microsoft Sans Serif"/>
              </a:rPr>
              <a:t>Free</a:t>
            </a:r>
            <a:r>
              <a:rPr sz="1100" spc="55" dirty="0">
                <a:latin typeface="Microsoft Sans Serif"/>
                <a:cs typeface="Microsoft Sans Serif"/>
              </a:rPr>
              <a:t> </a:t>
            </a:r>
            <a:r>
              <a:rPr sz="1100" spc="-65" dirty="0">
                <a:latin typeface="Microsoft Sans Serif"/>
                <a:cs typeface="Microsoft Sans Serif"/>
              </a:rPr>
              <a:t>and</a:t>
            </a:r>
            <a:r>
              <a:rPr sz="1100" spc="60" dirty="0">
                <a:latin typeface="Microsoft Sans Serif"/>
                <a:cs typeface="Microsoft Sans Serif"/>
              </a:rPr>
              <a:t> </a:t>
            </a:r>
            <a:r>
              <a:rPr sz="1100" spc="-65" dirty="0">
                <a:latin typeface="Microsoft Sans Serif"/>
                <a:cs typeface="Microsoft Sans Serif"/>
              </a:rPr>
              <a:t>open-source</a:t>
            </a:r>
            <a:r>
              <a:rPr sz="1100" spc="55" dirty="0">
                <a:latin typeface="Microsoft Sans Serif"/>
                <a:cs typeface="Microsoft Sans Serif"/>
              </a:rPr>
              <a:t> </a:t>
            </a:r>
            <a:r>
              <a:rPr sz="1100" spc="-50" dirty="0">
                <a:latin typeface="Microsoft Sans Serif"/>
                <a:cs typeface="Microsoft Sans Serif"/>
              </a:rPr>
              <a:t>(FOSS)</a:t>
            </a:r>
            <a:endParaRPr sz="1100" dirty="0">
              <a:latin typeface="Microsoft Sans Serif"/>
              <a:cs typeface="Microsoft Sans Serif"/>
            </a:endParaRPr>
          </a:p>
          <a:p>
            <a:pPr marL="314960" indent="-139065">
              <a:lnSpc>
                <a:spcPct val="100000"/>
              </a:lnSpc>
              <a:spcBef>
                <a:spcPts val="210"/>
              </a:spcBef>
              <a:buClr>
                <a:srgbClr val="8C2054"/>
              </a:buClr>
              <a:buFont typeface="Arial"/>
              <a:buChar char="•"/>
              <a:tabLst>
                <a:tab pos="315595" algn="l"/>
              </a:tabLst>
            </a:pPr>
            <a:r>
              <a:rPr sz="1100" spc="-30" dirty="0">
                <a:latin typeface="Microsoft Sans Serif"/>
                <a:cs typeface="Microsoft Sans Serif"/>
              </a:rPr>
              <a:t>R</a:t>
            </a:r>
            <a:endParaRPr lang="en-US" sz="1100" spc="-30" dirty="0">
              <a:latin typeface="Microsoft Sans Serif"/>
              <a:cs typeface="Microsoft Sans Serif"/>
            </a:endParaRPr>
          </a:p>
          <a:p>
            <a:pPr marL="314960" indent="-139065">
              <a:lnSpc>
                <a:spcPct val="100000"/>
              </a:lnSpc>
              <a:spcBef>
                <a:spcPts val="210"/>
              </a:spcBef>
              <a:buClr>
                <a:srgbClr val="8C2054"/>
              </a:buClr>
              <a:buFont typeface="Arial"/>
              <a:buChar char="•"/>
              <a:tabLst>
                <a:tab pos="315595" algn="l"/>
              </a:tabLst>
            </a:pPr>
            <a:r>
              <a:rPr sz="1100" spc="-30" dirty="0">
                <a:latin typeface="Microsoft Sans Serif"/>
                <a:cs typeface="Microsoft Sans Serif"/>
              </a:rPr>
              <a:t>Python</a:t>
            </a:r>
            <a:r>
              <a:rPr sz="1100" spc="55" dirty="0">
                <a:latin typeface="Microsoft Sans Serif"/>
                <a:cs typeface="Microsoft Sans Serif"/>
              </a:rPr>
              <a:t> </a:t>
            </a:r>
            <a:r>
              <a:rPr sz="1100" spc="-40" dirty="0">
                <a:latin typeface="Microsoft Sans Serif"/>
                <a:cs typeface="Microsoft Sans Serif"/>
              </a:rPr>
              <a:t>(using</a:t>
            </a:r>
            <a:r>
              <a:rPr sz="1100" spc="60" dirty="0">
                <a:latin typeface="Microsoft Sans Serif"/>
                <a:cs typeface="Microsoft Sans Serif"/>
              </a:rPr>
              <a:t> </a:t>
            </a:r>
            <a:r>
              <a:rPr sz="1100" spc="-40" dirty="0">
                <a:latin typeface="Microsoft Sans Serif"/>
                <a:cs typeface="Microsoft Sans Serif"/>
              </a:rPr>
              <a:t>libraries)</a:t>
            </a:r>
            <a:endParaRPr lang="en-US" sz="1100" dirty="0">
              <a:latin typeface="Microsoft Sans Serif"/>
              <a:cs typeface="Microsoft Sans Serif"/>
            </a:endParaRPr>
          </a:p>
          <a:p>
            <a:pPr marL="314960" indent="-139065">
              <a:lnSpc>
                <a:spcPct val="100000"/>
              </a:lnSpc>
              <a:spcBef>
                <a:spcPts val="210"/>
              </a:spcBef>
              <a:buClr>
                <a:srgbClr val="8C2054"/>
              </a:buClr>
              <a:buFont typeface="Arial"/>
              <a:buChar char="•"/>
              <a:tabLst>
                <a:tab pos="315595" algn="l"/>
              </a:tabLst>
            </a:pPr>
            <a:r>
              <a:rPr sz="1100" spc="-20" dirty="0">
                <a:latin typeface="Microsoft Sans Serif"/>
                <a:cs typeface="Microsoft Sans Serif"/>
              </a:rPr>
              <a:t>WEKA</a:t>
            </a:r>
            <a:r>
              <a:rPr sz="1100" spc="-15" dirty="0">
                <a:latin typeface="Microsoft Sans Serif"/>
                <a:cs typeface="Microsoft Sans Serif"/>
              </a:rPr>
              <a:t> </a:t>
            </a:r>
            <a:r>
              <a:rPr sz="1100" spc="-50" dirty="0">
                <a:latin typeface="Microsoft Sans Serif"/>
                <a:cs typeface="Microsoft Sans Serif"/>
              </a:rPr>
              <a:t>APIs</a:t>
            </a:r>
            <a:endParaRPr lang="en-US" sz="1100" spc="-50" dirty="0">
              <a:latin typeface="Microsoft Sans Serif"/>
              <a:cs typeface="Microsoft Sans Serif"/>
            </a:endParaRPr>
          </a:p>
          <a:p>
            <a:pPr marL="57150">
              <a:lnSpc>
                <a:spcPct val="100000"/>
              </a:lnSpc>
              <a:spcBef>
                <a:spcPts val="210"/>
              </a:spcBef>
              <a:buClr>
                <a:srgbClr val="8C2054"/>
              </a:buClr>
              <a:tabLst>
                <a:tab pos="315595" algn="l"/>
              </a:tabLst>
            </a:pPr>
            <a:r>
              <a:rPr sz="1100" spc="-35" dirty="0">
                <a:latin typeface="Microsoft Sans Serif"/>
                <a:cs typeface="Microsoft Sans Serif"/>
              </a:rPr>
              <a:t>Commercial/Proprietary</a:t>
            </a:r>
            <a:endParaRPr sz="1100" dirty="0">
              <a:latin typeface="Microsoft Sans Serif"/>
              <a:cs typeface="Microsoft Sans Serif"/>
            </a:endParaRPr>
          </a:p>
          <a:p>
            <a:pPr marL="314960" indent="-139065">
              <a:lnSpc>
                <a:spcPct val="100000"/>
              </a:lnSpc>
              <a:spcBef>
                <a:spcPts val="335"/>
              </a:spcBef>
              <a:buClr>
                <a:srgbClr val="8C2054"/>
              </a:buClr>
              <a:buFont typeface="Arial"/>
              <a:buChar char="•"/>
              <a:tabLst>
                <a:tab pos="315595" algn="l"/>
              </a:tabLst>
            </a:pPr>
            <a:r>
              <a:rPr sz="1100" spc="-90" dirty="0">
                <a:latin typeface="Microsoft Sans Serif"/>
                <a:cs typeface="Microsoft Sans Serif"/>
              </a:rPr>
              <a:t>SAS</a:t>
            </a:r>
            <a:r>
              <a:rPr sz="1100" spc="30" dirty="0">
                <a:latin typeface="Microsoft Sans Serif"/>
                <a:cs typeface="Microsoft Sans Serif"/>
              </a:rPr>
              <a:t> </a:t>
            </a:r>
            <a:r>
              <a:rPr sz="1100" spc="-50" dirty="0">
                <a:latin typeface="Microsoft Sans Serif"/>
                <a:cs typeface="Microsoft Sans Serif"/>
              </a:rPr>
              <a:t>APIs</a:t>
            </a:r>
            <a:endParaRPr sz="1100" dirty="0">
              <a:latin typeface="Microsoft Sans Serif"/>
              <a:cs typeface="Microsoft Sans Serif"/>
            </a:endParaRPr>
          </a:p>
        </p:txBody>
      </p:sp>
      <p:grpSp>
        <p:nvGrpSpPr>
          <p:cNvPr id="19" name="object 19"/>
          <p:cNvGrpSpPr/>
          <p:nvPr/>
        </p:nvGrpSpPr>
        <p:grpSpPr>
          <a:xfrm>
            <a:off x="0" y="3346348"/>
            <a:ext cx="4608195" cy="109855"/>
            <a:chOff x="0" y="3346348"/>
            <a:chExt cx="4608195" cy="109855"/>
          </a:xfrm>
        </p:grpSpPr>
        <p:sp>
          <p:nvSpPr>
            <p:cNvPr id="20" name="object 20"/>
            <p:cNvSpPr/>
            <p:nvPr/>
          </p:nvSpPr>
          <p:spPr>
            <a:xfrm>
              <a:off x="0" y="3346348"/>
              <a:ext cx="2304415" cy="109855"/>
            </a:xfrm>
            <a:custGeom>
              <a:avLst/>
              <a:gdLst/>
              <a:ahLst/>
              <a:cxnLst/>
              <a:rect l="l" t="t" r="r" b="b"/>
              <a:pathLst>
                <a:path w="2304415" h="109854">
                  <a:moveTo>
                    <a:pt x="2304008" y="0"/>
                  </a:moveTo>
                  <a:lnTo>
                    <a:pt x="1152004" y="0"/>
                  </a:lnTo>
                  <a:lnTo>
                    <a:pt x="0" y="0"/>
                  </a:lnTo>
                  <a:lnTo>
                    <a:pt x="0" y="109651"/>
                  </a:lnTo>
                  <a:lnTo>
                    <a:pt x="1152004" y="109651"/>
                  </a:lnTo>
                  <a:lnTo>
                    <a:pt x="2304008" y="109651"/>
                  </a:lnTo>
                  <a:lnTo>
                    <a:pt x="2304008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2303995" y="3346348"/>
              <a:ext cx="2304415" cy="109855"/>
            </a:xfrm>
            <a:custGeom>
              <a:avLst/>
              <a:gdLst/>
              <a:ahLst/>
              <a:cxnLst/>
              <a:rect l="l" t="t" r="r" b="b"/>
              <a:pathLst>
                <a:path w="2304415" h="109854">
                  <a:moveTo>
                    <a:pt x="2303996" y="0"/>
                  </a:moveTo>
                  <a:lnTo>
                    <a:pt x="1920024" y="0"/>
                  </a:lnTo>
                  <a:lnTo>
                    <a:pt x="0" y="0"/>
                  </a:lnTo>
                  <a:lnTo>
                    <a:pt x="0" y="109651"/>
                  </a:lnTo>
                  <a:lnTo>
                    <a:pt x="1920024" y="109651"/>
                  </a:lnTo>
                  <a:lnTo>
                    <a:pt x="2303996" y="109651"/>
                  </a:lnTo>
                  <a:lnTo>
                    <a:pt x="2303996" y="0"/>
                  </a:lnTo>
                  <a:close/>
                </a:path>
              </a:pathLst>
            </a:custGeom>
            <a:solidFill>
              <a:srgbClr val="8C205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4" name="object 24"/>
          <p:cNvSpPr txBox="1"/>
          <p:nvPr/>
        </p:nvSpPr>
        <p:spPr>
          <a:xfrm>
            <a:off x="3086696" y="3351784"/>
            <a:ext cx="354965" cy="10223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5"/>
              </a:lnSpc>
            </a:pPr>
            <a:r>
              <a:rPr sz="600" spc="5" dirty="0">
                <a:solidFill>
                  <a:srgbClr val="FFFFFF"/>
                </a:solidFill>
                <a:latin typeface="Microsoft Sans Serif"/>
                <a:cs typeface="Microsoft Sans Serif"/>
              </a:rPr>
              <a:t>Tutorial</a:t>
            </a:r>
            <a:r>
              <a:rPr sz="600" spc="-10" dirty="0">
                <a:solidFill>
                  <a:srgbClr val="FFFFFF"/>
                </a:solidFill>
                <a:latin typeface="Microsoft Sans Serif"/>
                <a:cs typeface="Microsoft Sans Serif"/>
              </a:rPr>
              <a:t> </a:t>
            </a:r>
            <a:r>
              <a:rPr sz="600" spc="-20" dirty="0">
                <a:solidFill>
                  <a:srgbClr val="FFFFFF"/>
                </a:solidFill>
                <a:latin typeface="Microsoft Sans Serif"/>
                <a:cs typeface="Microsoft Sans Serif"/>
              </a:rPr>
              <a:t>1</a:t>
            </a:r>
            <a:endParaRPr sz="600" dirty="0">
              <a:latin typeface="Microsoft Sans Serif"/>
              <a:cs typeface="Microsoft Sans Serif"/>
            </a:endParaRPr>
          </a:p>
        </p:txBody>
      </p:sp>
      <p:sp>
        <p:nvSpPr>
          <p:cNvPr id="25" name="object 12">
            <a:extLst>
              <a:ext uri="{FF2B5EF4-FFF2-40B4-BE49-F238E27FC236}">
                <a16:creationId xmlns:a16="http://schemas.microsoft.com/office/drawing/2014/main" id="{36989DC9-9399-D50E-C9D2-884414446BAE}"/>
              </a:ext>
            </a:extLst>
          </p:cNvPr>
          <p:cNvSpPr txBox="1">
            <a:spLocks noGrp="1"/>
          </p:cNvSpPr>
          <p:nvPr>
            <p:ph type="dt" sz="half" idx="6"/>
          </p:nvPr>
        </p:nvSpPr>
        <p:spPr>
          <a:xfrm>
            <a:off x="1506396" y="3351784"/>
            <a:ext cx="612548" cy="8976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5"/>
              </a:lnSpc>
            </a:pPr>
            <a:r>
              <a:rPr lang="en-US" spc="10" dirty="0"/>
              <a:t>Summer 2026</a:t>
            </a:r>
            <a:endParaRPr spc="-20" dirty="0"/>
          </a:p>
        </p:txBody>
      </p:sp>
      <p:sp>
        <p:nvSpPr>
          <p:cNvPr id="27" name="Footer Placeholder 10">
            <a:extLst>
              <a:ext uri="{FF2B5EF4-FFF2-40B4-BE49-F238E27FC236}">
                <a16:creationId xmlns:a16="http://schemas.microsoft.com/office/drawing/2014/main" id="{99F3B2BA-AF7E-26EC-804D-CD6BCC5F6BCA}"/>
              </a:ext>
            </a:extLst>
          </p:cNvPr>
          <p:cNvSpPr>
            <a:spLocks noGrp="1"/>
          </p:cNvSpPr>
          <p:nvPr>
            <p:ph type="ftr" sz="quarter" idx="5"/>
          </p:nvPr>
        </p:nvSpPr>
        <p:spPr>
          <a:xfrm>
            <a:off x="346620" y="3351783"/>
            <a:ext cx="663029" cy="207391"/>
          </a:xfrm>
        </p:spPr>
        <p:txBody>
          <a:bodyPr/>
          <a:lstStyle/>
          <a:p>
            <a:pPr marL="12700">
              <a:lnSpc>
                <a:spcPts val="675"/>
              </a:lnSpc>
            </a:pPr>
            <a:r>
              <a:rPr lang="en-US" spc="-20" dirty="0"/>
              <a:t>By Hazem</a:t>
            </a:r>
            <a:r>
              <a:rPr lang="en-US" spc="-5" dirty="0"/>
              <a:t> </a:t>
            </a:r>
            <a:r>
              <a:rPr lang="en-US" dirty="0"/>
              <a:t>Nabil</a:t>
            </a:r>
          </a:p>
        </p:txBody>
      </p:sp>
      <p:sp>
        <p:nvSpPr>
          <p:cNvPr id="22" name="Slide Number Placeholder 14">
            <a:extLst>
              <a:ext uri="{FF2B5EF4-FFF2-40B4-BE49-F238E27FC236}">
                <a16:creationId xmlns:a16="http://schemas.microsoft.com/office/drawing/2014/main" id="{2DBD8CC1-82CB-F016-5703-45CD57A0818A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>
          <a:xfrm>
            <a:off x="4246994" y="3351784"/>
            <a:ext cx="344804" cy="89768"/>
          </a:xfrm>
        </p:spPr>
        <p:txBody>
          <a:bodyPr/>
          <a:lstStyle/>
          <a:p>
            <a:pPr marL="38100">
              <a:lnSpc>
                <a:spcPts val="675"/>
              </a:lnSpc>
            </a:pPr>
            <a:fld id="{81D60167-4931-47E6-BA6A-407CBD079E47}" type="slidenum">
              <a:rPr lang="en-US" spc="-20" smtClean="0"/>
              <a:t>12</a:t>
            </a:fld>
            <a:r>
              <a:rPr lang="en-US" spc="20" dirty="0"/>
              <a:t> </a:t>
            </a:r>
            <a:r>
              <a:rPr lang="en-US" spc="150" dirty="0"/>
              <a:t>/</a:t>
            </a:r>
            <a:r>
              <a:rPr lang="en-US" spc="20" dirty="0"/>
              <a:t> </a:t>
            </a:r>
            <a:r>
              <a:rPr lang="en-US" spc="-20" dirty="0"/>
              <a:t>20</a:t>
            </a:r>
          </a:p>
        </p:txBody>
      </p:sp>
    </p:spTree>
  </p:cSld>
  <p:clrMapOvr>
    <a:masterClrMapping/>
  </p:clrMapOvr>
  <p:transition>
    <p:cut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268450" y="0"/>
            <a:ext cx="940435" cy="382270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441325" marR="5080" indent="73025" algn="r">
              <a:lnSpc>
                <a:spcPts val="700"/>
              </a:lnSpc>
              <a:spcBef>
                <a:spcPts val="135"/>
              </a:spcBef>
            </a:pPr>
            <a:r>
              <a:rPr sz="600" spc="10" dirty="0">
                <a:solidFill>
                  <a:srgbClr val="7F7F7F"/>
                </a:solidFill>
                <a:latin typeface="Microsoft Sans Serif"/>
                <a:cs typeface="Microsoft Sans Serif"/>
              </a:rPr>
              <a:t>Intr</a:t>
            </a:r>
            <a:r>
              <a:rPr sz="600" spc="30" dirty="0">
                <a:solidFill>
                  <a:srgbClr val="7F7F7F"/>
                </a:solidFill>
                <a:latin typeface="Microsoft Sans Serif"/>
                <a:cs typeface="Microsoft Sans Serif"/>
              </a:rPr>
              <a:t>o</a:t>
            </a:r>
            <a:r>
              <a:rPr sz="600" dirty="0">
                <a:solidFill>
                  <a:srgbClr val="7F7F7F"/>
                </a:solidFill>
                <a:latin typeface="Microsoft Sans Serif"/>
                <a:cs typeface="Microsoft Sans Serif"/>
              </a:rPr>
              <a:t>duction  </a:t>
            </a:r>
            <a:r>
              <a:rPr sz="600" spc="-30" dirty="0">
                <a:solidFill>
                  <a:srgbClr val="7F7F7F"/>
                </a:solidFill>
                <a:latin typeface="Microsoft Sans Serif"/>
                <a:cs typeface="Microsoft Sans Serif"/>
              </a:rPr>
              <a:t>Cours</a:t>
            </a:r>
            <a:r>
              <a:rPr sz="600" spc="-25" dirty="0">
                <a:solidFill>
                  <a:srgbClr val="7F7F7F"/>
                </a:solidFill>
                <a:latin typeface="Microsoft Sans Serif"/>
                <a:cs typeface="Microsoft Sans Serif"/>
              </a:rPr>
              <a:t>e</a:t>
            </a:r>
            <a:r>
              <a:rPr sz="600" spc="50" dirty="0">
                <a:solidFill>
                  <a:srgbClr val="7F7F7F"/>
                </a:solidFill>
                <a:latin typeface="Microsoft Sans Serif"/>
                <a:cs typeface="Microsoft Sans Serif"/>
              </a:rPr>
              <a:t> </a:t>
            </a:r>
            <a:r>
              <a:rPr sz="600" spc="-5" dirty="0">
                <a:solidFill>
                  <a:srgbClr val="7F7F7F"/>
                </a:solidFill>
                <a:latin typeface="Microsoft Sans Serif"/>
                <a:cs typeface="Microsoft Sans Serif"/>
              </a:rPr>
              <a:t>Details  </a:t>
            </a:r>
            <a:r>
              <a:rPr sz="600" spc="10" dirty="0">
                <a:solidFill>
                  <a:srgbClr val="FFFFFF"/>
                </a:solidFill>
                <a:latin typeface="Microsoft Sans Serif"/>
                <a:cs typeface="Microsoft Sans Serif"/>
              </a:rPr>
              <a:t>Motivation</a:t>
            </a:r>
            <a:endParaRPr sz="600" dirty="0">
              <a:latin typeface="Microsoft Sans Serif"/>
              <a:cs typeface="Microsoft Sans Serif"/>
            </a:endParaRPr>
          </a:p>
          <a:p>
            <a:pPr marR="5080" algn="r">
              <a:lnSpc>
                <a:spcPts val="670"/>
              </a:lnSpc>
            </a:pPr>
            <a:r>
              <a:rPr sz="600" spc="-25" dirty="0">
                <a:solidFill>
                  <a:srgbClr val="7F7F7F"/>
                </a:solidFill>
                <a:latin typeface="Microsoft Sans Serif"/>
                <a:cs typeface="Microsoft Sans Serif"/>
              </a:rPr>
              <a:t>Accessing</a:t>
            </a:r>
            <a:r>
              <a:rPr sz="600" spc="35" dirty="0">
                <a:solidFill>
                  <a:srgbClr val="7F7F7F"/>
                </a:solidFill>
                <a:latin typeface="Microsoft Sans Serif"/>
                <a:cs typeface="Microsoft Sans Serif"/>
              </a:rPr>
              <a:t> </a:t>
            </a:r>
            <a:r>
              <a:rPr sz="600" dirty="0">
                <a:solidFill>
                  <a:srgbClr val="7F7F7F"/>
                </a:solidFill>
                <a:latin typeface="Microsoft Sans Serif"/>
                <a:cs typeface="Microsoft Sans Serif"/>
              </a:rPr>
              <a:t>the</a:t>
            </a:r>
            <a:r>
              <a:rPr sz="600" spc="40" dirty="0">
                <a:solidFill>
                  <a:srgbClr val="7F7F7F"/>
                </a:solidFill>
                <a:latin typeface="Microsoft Sans Serif"/>
                <a:cs typeface="Microsoft Sans Serif"/>
              </a:rPr>
              <a:t> </a:t>
            </a:r>
            <a:r>
              <a:rPr sz="600" spc="-10" dirty="0">
                <a:solidFill>
                  <a:srgbClr val="7F7F7F"/>
                </a:solidFill>
                <a:latin typeface="Microsoft Sans Serif"/>
                <a:cs typeface="Microsoft Sans Serif"/>
              </a:rPr>
              <a:t>Lab</a:t>
            </a:r>
            <a:r>
              <a:rPr sz="600" spc="35" dirty="0">
                <a:solidFill>
                  <a:srgbClr val="7F7F7F"/>
                </a:solidFill>
                <a:latin typeface="Microsoft Sans Serif"/>
                <a:cs typeface="Microsoft Sans Serif"/>
              </a:rPr>
              <a:t> </a:t>
            </a:r>
            <a:r>
              <a:rPr sz="600" spc="5" dirty="0">
                <a:solidFill>
                  <a:srgbClr val="7F7F7F"/>
                </a:solidFill>
                <a:latin typeface="Microsoft Sans Serif"/>
                <a:cs typeface="Microsoft Sans Serif"/>
              </a:rPr>
              <a:t>Material</a:t>
            </a:r>
            <a:endParaRPr sz="600" dirty="0">
              <a:latin typeface="Microsoft Sans Serif"/>
              <a:cs typeface="Microsoft Sans Serif"/>
            </a:endParaRP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303995" y="0"/>
            <a:ext cx="2304008" cy="366928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2679966" y="129636"/>
            <a:ext cx="1438910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900" b="1" spc="-20" dirty="0">
                <a:solidFill>
                  <a:srgbClr val="FFFFFF"/>
                </a:solidFill>
                <a:latin typeface="Trebuchet MS"/>
                <a:cs typeface="Trebuchet MS"/>
              </a:rPr>
              <a:t>German</a:t>
            </a:r>
            <a:r>
              <a:rPr sz="900" b="1" spc="40" dirty="0">
                <a:solidFill>
                  <a:srgbClr val="FFFFFF"/>
                </a:solidFill>
                <a:latin typeface="Trebuchet MS"/>
                <a:cs typeface="Trebuchet MS"/>
              </a:rPr>
              <a:t> </a:t>
            </a:r>
            <a:r>
              <a:rPr sz="900" b="1" spc="-25" dirty="0">
                <a:solidFill>
                  <a:srgbClr val="FFFFFF"/>
                </a:solidFill>
                <a:latin typeface="Trebuchet MS"/>
                <a:cs typeface="Trebuchet MS"/>
              </a:rPr>
              <a:t>University</a:t>
            </a:r>
            <a:r>
              <a:rPr sz="900" b="1" spc="45" dirty="0">
                <a:solidFill>
                  <a:srgbClr val="FFFFFF"/>
                </a:solidFill>
                <a:latin typeface="Trebuchet MS"/>
                <a:cs typeface="Trebuchet MS"/>
              </a:rPr>
              <a:t> </a:t>
            </a:r>
            <a:r>
              <a:rPr sz="900" b="1" spc="-35" dirty="0">
                <a:solidFill>
                  <a:srgbClr val="FFFFFF"/>
                </a:solidFill>
                <a:latin typeface="Trebuchet MS"/>
                <a:cs typeface="Trebuchet MS"/>
              </a:rPr>
              <a:t>in</a:t>
            </a:r>
            <a:r>
              <a:rPr sz="900" b="1" spc="40" dirty="0">
                <a:solidFill>
                  <a:srgbClr val="FFFFFF"/>
                </a:solidFill>
                <a:latin typeface="Trebuchet MS"/>
                <a:cs typeface="Trebuchet MS"/>
              </a:rPr>
              <a:t> </a:t>
            </a:r>
            <a:r>
              <a:rPr sz="900" b="1" spc="-15" dirty="0">
                <a:solidFill>
                  <a:srgbClr val="FFFFFF"/>
                </a:solidFill>
                <a:latin typeface="Trebuchet MS"/>
                <a:cs typeface="Trebuchet MS"/>
              </a:rPr>
              <a:t>Cairo</a:t>
            </a:r>
            <a:endParaRPr sz="900">
              <a:latin typeface="Trebuchet MS"/>
              <a:cs typeface="Trebuchet MS"/>
            </a:endParaRPr>
          </a:p>
        </p:txBody>
      </p:sp>
      <p:pic>
        <p:nvPicPr>
          <p:cNvPr id="5" name="object 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0" y="366911"/>
            <a:ext cx="4604410" cy="260646"/>
          </a:xfrm>
          <a:prstGeom prst="rect">
            <a:avLst/>
          </a:prstGeom>
        </p:spPr>
      </p:pic>
      <p:sp>
        <p:nvSpPr>
          <p:cNvPr id="6" name="object 6"/>
          <p:cNvSpPr txBox="1"/>
          <p:nvPr/>
        </p:nvSpPr>
        <p:spPr>
          <a:xfrm>
            <a:off x="197218" y="364347"/>
            <a:ext cx="2971800" cy="24447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400" spc="-10" dirty="0">
                <a:solidFill>
                  <a:srgbClr val="FFFFFF"/>
                </a:solidFill>
                <a:latin typeface="Trebuchet MS"/>
                <a:cs typeface="Trebuchet MS"/>
              </a:rPr>
              <a:t>Data</a:t>
            </a:r>
            <a:r>
              <a:rPr sz="1400" spc="45" dirty="0">
                <a:solidFill>
                  <a:srgbClr val="FFFFFF"/>
                </a:solidFill>
                <a:latin typeface="Trebuchet MS"/>
                <a:cs typeface="Trebuchet MS"/>
              </a:rPr>
              <a:t> </a:t>
            </a:r>
            <a:r>
              <a:rPr sz="1400" spc="-5" dirty="0">
                <a:solidFill>
                  <a:srgbClr val="FFFFFF"/>
                </a:solidFill>
                <a:latin typeface="Trebuchet MS"/>
                <a:cs typeface="Trebuchet MS"/>
              </a:rPr>
              <a:t>Mining</a:t>
            </a:r>
            <a:r>
              <a:rPr sz="1400" spc="45" dirty="0">
                <a:solidFill>
                  <a:srgbClr val="FFFFFF"/>
                </a:solidFill>
                <a:latin typeface="Trebuchet MS"/>
                <a:cs typeface="Trebuchet MS"/>
              </a:rPr>
              <a:t> </a:t>
            </a:r>
            <a:r>
              <a:rPr sz="1400" spc="-35" dirty="0">
                <a:solidFill>
                  <a:srgbClr val="FFFFFF"/>
                </a:solidFill>
                <a:latin typeface="Trebuchet MS"/>
                <a:cs typeface="Trebuchet MS"/>
              </a:rPr>
              <a:t>Tools</a:t>
            </a:r>
            <a:r>
              <a:rPr sz="1400" spc="45" dirty="0">
                <a:solidFill>
                  <a:srgbClr val="FFFFFF"/>
                </a:solidFill>
                <a:latin typeface="Trebuchet MS"/>
                <a:cs typeface="Trebuchet MS"/>
              </a:rPr>
              <a:t> </a:t>
            </a:r>
            <a:r>
              <a:rPr sz="1400" spc="-50" dirty="0">
                <a:solidFill>
                  <a:srgbClr val="FFFFFF"/>
                </a:solidFill>
                <a:latin typeface="Trebuchet MS"/>
                <a:cs typeface="Trebuchet MS"/>
              </a:rPr>
              <a:t>-</a:t>
            </a:r>
            <a:r>
              <a:rPr sz="1400" spc="50" dirty="0">
                <a:solidFill>
                  <a:srgbClr val="FFFFFF"/>
                </a:solidFill>
                <a:latin typeface="Trebuchet MS"/>
                <a:cs typeface="Trebuchet MS"/>
              </a:rPr>
              <a:t> </a:t>
            </a:r>
            <a:r>
              <a:rPr sz="1400" spc="-35" dirty="0">
                <a:solidFill>
                  <a:srgbClr val="FFFFFF"/>
                </a:solidFill>
                <a:latin typeface="Trebuchet MS"/>
                <a:cs typeface="Trebuchet MS"/>
              </a:rPr>
              <a:t>Visual</a:t>
            </a:r>
            <a:r>
              <a:rPr sz="1400" spc="45" dirty="0">
                <a:solidFill>
                  <a:srgbClr val="FFFFFF"/>
                </a:solidFill>
                <a:latin typeface="Trebuchet MS"/>
                <a:cs typeface="Trebuchet MS"/>
              </a:rPr>
              <a:t> </a:t>
            </a:r>
            <a:r>
              <a:rPr sz="1400" spc="-50" dirty="0">
                <a:solidFill>
                  <a:srgbClr val="FFFFFF"/>
                </a:solidFill>
                <a:latin typeface="Trebuchet MS"/>
                <a:cs typeface="Trebuchet MS"/>
              </a:rPr>
              <a:t>Comparison</a:t>
            </a:r>
            <a:endParaRPr sz="1400">
              <a:latin typeface="Trebuchet MS"/>
              <a:cs typeface="Trebuchet MS"/>
            </a:endParaRPr>
          </a:p>
        </p:txBody>
      </p:sp>
      <p:sp>
        <p:nvSpPr>
          <p:cNvPr id="7" name="object 7"/>
          <p:cNvSpPr/>
          <p:nvPr/>
        </p:nvSpPr>
        <p:spPr>
          <a:xfrm>
            <a:off x="309193" y="1348993"/>
            <a:ext cx="1967864" cy="198755"/>
          </a:xfrm>
          <a:custGeom>
            <a:avLst/>
            <a:gdLst/>
            <a:ahLst/>
            <a:cxnLst/>
            <a:rect l="l" t="t" r="r" b="b"/>
            <a:pathLst>
              <a:path w="1967864" h="198755">
                <a:moveTo>
                  <a:pt x="1917048" y="0"/>
                </a:moveTo>
                <a:lnTo>
                  <a:pt x="50800" y="0"/>
                </a:lnTo>
                <a:lnTo>
                  <a:pt x="31075" y="4008"/>
                </a:lnTo>
                <a:lnTo>
                  <a:pt x="14922" y="14922"/>
                </a:lnTo>
                <a:lnTo>
                  <a:pt x="4008" y="31075"/>
                </a:lnTo>
                <a:lnTo>
                  <a:pt x="0" y="50800"/>
                </a:lnTo>
                <a:lnTo>
                  <a:pt x="0" y="198367"/>
                </a:lnTo>
                <a:lnTo>
                  <a:pt x="1967849" y="198367"/>
                </a:lnTo>
                <a:lnTo>
                  <a:pt x="1967849" y="50800"/>
                </a:lnTo>
                <a:lnTo>
                  <a:pt x="1963840" y="31075"/>
                </a:lnTo>
                <a:lnTo>
                  <a:pt x="1952926" y="14922"/>
                </a:lnTo>
                <a:lnTo>
                  <a:pt x="1936773" y="4008"/>
                </a:lnTo>
                <a:lnTo>
                  <a:pt x="1917048" y="0"/>
                </a:lnTo>
                <a:close/>
              </a:path>
            </a:pathLst>
          </a:custGeom>
          <a:solidFill>
            <a:srgbClr val="69183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 txBox="1"/>
          <p:nvPr/>
        </p:nvSpPr>
        <p:spPr>
          <a:xfrm>
            <a:off x="347294" y="1327998"/>
            <a:ext cx="1451610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spc="-15" dirty="0">
                <a:solidFill>
                  <a:srgbClr val="FFFFFF"/>
                </a:solidFill>
                <a:latin typeface="Trebuchet MS"/>
                <a:cs typeface="Trebuchet MS"/>
              </a:rPr>
              <a:t>GUI</a:t>
            </a:r>
            <a:r>
              <a:rPr sz="1200" spc="10" dirty="0">
                <a:solidFill>
                  <a:srgbClr val="FFFFFF"/>
                </a:solidFill>
                <a:latin typeface="Trebuchet MS"/>
                <a:cs typeface="Trebuchet MS"/>
              </a:rPr>
              <a:t> </a:t>
            </a:r>
            <a:r>
              <a:rPr sz="1200" spc="-65" dirty="0">
                <a:solidFill>
                  <a:srgbClr val="FFFFFF"/>
                </a:solidFill>
                <a:latin typeface="Trebuchet MS"/>
                <a:cs typeface="Trebuchet MS"/>
              </a:rPr>
              <a:t>Example</a:t>
            </a:r>
            <a:r>
              <a:rPr sz="1200" spc="10" dirty="0">
                <a:solidFill>
                  <a:srgbClr val="FFFFFF"/>
                </a:solidFill>
                <a:latin typeface="Trebuchet MS"/>
                <a:cs typeface="Trebuchet MS"/>
              </a:rPr>
              <a:t> </a:t>
            </a:r>
            <a:r>
              <a:rPr sz="1200" spc="-55" dirty="0">
                <a:solidFill>
                  <a:srgbClr val="FFFFFF"/>
                </a:solidFill>
                <a:latin typeface="Trebuchet MS"/>
                <a:cs typeface="Trebuchet MS"/>
              </a:rPr>
              <a:t>-</a:t>
            </a:r>
            <a:r>
              <a:rPr sz="1200" spc="10" dirty="0">
                <a:solidFill>
                  <a:srgbClr val="FFFFFF"/>
                </a:solidFill>
                <a:latin typeface="Trebuchet MS"/>
                <a:cs typeface="Trebuchet MS"/>
              </a:rPr>
              <a:t> </a:t>
            </a:r>
            <a:r>
              <a:rPr sz="1200" spc="70" dirty="0">
                <a:solidFill>
                  <a:srgbClr val="FFFFFF"/>
                </a:solidFill>
                <a:latin typeface="Trebuchet MS"/>
                <a:cs typeface="Trebuchet MS"/>
              </a:rPr>
              <a:t>KNIME</a:t>
            </a:r>
            <a:endParaRPr sz="1200">
              <a:latin typeface="Trebuchet MS"/>
              <a:cs typeface="Trebuchet MS"/>
            </a:endParaRPr>
          </a:p>
        </p:txBody>
      </p:sp>
      <p:grpSp>
        <p:nvGrpSpPr>
          <p:cNvPr id="9" name="object 9"/>
          <p:cNvGrpSpPr/>
          <p:nvPr/>
        </p:nvGrpSpPr>
        <p:grpSpPr>
          <a:xfrm>
            <a:off x="309193" y="1534706"/>
            <a:ext cx="1967864" cy="1134745"/>
            <a:chOff x="309193" y="1534706"/>
            <a:chExt cx="1967864" cy="1134745"/>
          </a:xfrm>
        </p:grpSpPr>
        <p:pic>
          <p:nvPicPr>
            <p:cNvPr id="10" name="object 10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309194" y="1534706"/>
              <a:ext cx="1967848" cy="50609"/>
            </a:xfrm>
            <a:prstGeom prst="rect">
              <a:avLst/>
            </a:prstGeom>
          </p:spPr>
        </p:pic>
        <p:sp>
          <p:nvSpPr>
            <p:cNvPr id="11" name="object 11"/>
            <p:cNvSpPr/>
            <p:nvPr/>
          </p:nvSpPr>
          <p:spPr>
            <a:xfrm>
              <a:off x="309193" y="1578977"/>
              <a:ext cx="1967864" cy="1090295"/>
            </a:xfrm>
            <a:custGeom>
              <a:avLst/>
              <a:gdLst/>
              <a:ahLst/>
              <a:cxnLst/>
              <a:rect l="l" t="t" r="r" b="b"/>
              <a:pathLst>
                <a:path w="1967864" h="1090295">
                  <a:moveTo>
                    <a:pt x="1967849" y="0"/>
                  </a:moveTo>
                  <a:lnTo>
                    <a:pt x="0" y="0"/>
                  </a:lnTo>
                  <a:lnTo>
                    <a:pt x="0" y="1039496"/>
                  </a:lnTo>
                  <a:lnTo>
                    <a:pt x="4008" y="1059221"/>
                  </a:lnTo>
                  <a:lnTo>
                    <a:pt x="14922" y="1075373"/>
                  </a:lnTo>
                  <a:lnTo>
                    <a:pt x="31075" y="1086288"/>
                  </a:lnTo>
                  <a:lnTo>
                    <a:pt x="50800" y="1090296"/>
                  </a:lnTo>
                  <a:lnTo>
                    <a:pt x="1917048" y="1090296"/>
                  </a:lnTo>
                  <a:lnTo>
                    <a:pt x="1936773" y="1086288"/>
                  </a:lnTo>
                  <a:lnTo>
                    <a:pt x="1952926" y="1075373"/>
                  </a:lnTo>
                  <a:lnTo>
                    <a:pt x="1963840" y="1059221"/>
                  </a:lnTo>
                  <a:lnTo>
                    <a:pt x="1967849" y="1039496"/>
                  </a:lnTo>
                  <a:lnTo>
                    <a:pt x="1967849" y="0"/>
                  </a:lnTo>
                  <a:close/>
                </a:path>
              </a:pathLst>
            </a:custGeom>
            <a:solidFill>
              <a:srgbClr val="F0E7E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2" name="object 12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359994" y="1604294"/>
              <a:ext cx="1866156" cy="1020554"/>
            </a:xfrm>
            <a:prstGeom prst="rect">
              <a:avLst/>
            </a:prstGeom>
          </p:spPr>
        </p:pic>
      </p:grpSp>
      <p:sp>
        <p:nvSpPr>
          <p:cNvPr id="13" name="object 13"/>
          <p:cNvSpPr/>
          <p:nvPr/>
        </p:nvSpPr>
        <p:spPr>
          <a:xfrm>
            <a:off x="2330970" y="1348993"/>
            <a:ext cx="1967864" cy="198755"/>
          </a:xfrm>
          <a:custGeom>
            <a:avLst/>
            <a:gdLst/>
            <a:ahLst/>
            <a:cxnLst/>
            <a:rect l="l" t="t" r="r" b="b"/>
            <a:pathLst>
              <a:path w="1967864" h="198755">
                <a:moveTo>
                  <a:pt x="1917048" y="0"/>
                </a:moveTo>
                <a:lnTo>
                  <a:pt x="50800" y="0"/>
                </a:lnTo>
                <a:lnTo>
                  <a:pt x="31075" y="4008"/>
                </a:lnTo>
                <a:lnTo>
                  <a:pt x="14922" y="14922"/>
                </a:lnTo>
                <a:lnTo>
                  <a:pt x="4008" y="31075"/>
                </a:lnTo>
                <a:lnTo>
                  <a:pt x="0" y="50800"/>
                </a:lnTo>
                <a:lnTo>
                  <a:pt x="0" y="198367"/>
                </a:lnTo>
                <a:lnTo>
                  <a:pt x="1967849" y="198367"/>
                </a:lnTo>
                <a:lnTo>
                  <a:pt x="1967849" y="50800"/>
                </a:lnTo>
                <a:lnTo>
                  <a:pt x="1963840" y="31075"/>
                </a:lnTo>
                <a:lnTo>
                  <a:pt x="1952926" y="14922"/>
                </a:lnTo>
                <a:lnTo>
                  <a:pt x="1936773" y="4008"/>
                </a:lnTo>
                <a:lnTo>
                  <a:pt x="1917048" y="0"/>
                </a:lnTo>
                <a:close/>
              </a:path>
            </a:pathLst>
          </a:custGeom>
          <a:solidFill>
            <a:srgbClr val="69183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/>
          <p:cNvSpPr txBox="1"/>
          <p:nvPr/>
        </p:nvSpPr>
        <p:spPr>
          <a:xfrm>
            <a:off x="2369083" y="1327998"/>
            <a:ext cx="1422400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spc="40" dirty="0">
                <a:solidFill>
                  <a:srgbClr val="FFFFFF"/>
                </a:solidFill>
                <a:latin typeface="Trebuchet MS"/>
                <a:cs typeface="Trebuchet MS"/>
              </a:rPr>
              <a:t>API</a:t>
            </a:r>
            <a:r>
              <a:rPr sz="1200" dirty="0">
                <a:solidFill>
                  <a:srgbClr val="FFFFFF"/>
                </a:solidFill>
                <a:latin typeface="Trebuchet MS"/>
                <a:cs typeface="Trebuchet MS"/>
              </a:rPr>
              <a:t> </a:t>
            </a:r>
            <a:r>
              <a:rPr sz="1200" spc="-65" dirty="0">
                <a:solidFill>
                  <a:srgbClr val="FFFFFF"/>
                </a:solidFill>
                <a:latin typeface="Trebuchet MS"/>
                <a:cs typeface="Trebuchet MS"/>
              </a:rPr>
              <a:t>Example</a:t>
            </a:r>
            <a:r>
              <a:rPr sz="1200" spc="5" dirty="0">
                <a:solidFill>
                  <a:srgbClr val="FFFFFF"/>
                </a:solidFill>
                <a:latin typeface="Trebuchet MS"/>
                <a:cs typeface="Trebuchet MS"/>
              </a:rPr>
              <a:t> </a:t>
            </a:r>
            <a:r>
              <a:rPr sz="1200" spc="-55" dirty="0">
                <a:solidFill>
                  <a:srgbClr val="FFFFFF"/>
                </a:solidFill>
                <a:latin typeface="Trebuchet MS"/>
                <a:cs typeface="Trebuchet MS"/>
              </a:rPr>
              <a:t>-</a:t>
            </a:r>
            <a:r>
              <a:rPr sz="1200" spc="5" dirty="0">
                <a:solidFill>
                  <a:srgbClr val="FFFFFF"/>
                </a:solidFill>
                <a:latin typeface="Trebuchet MS"/>
                <a:cs typeface="Trebuchet MS"/>
              </a:rPr>
              <a:t> </a:t>
            </a:r>
            <a:r>
              <a:rPr sz="1200" spc="-35" dirty="0">
                <a:solidFill>
                  <a:srgbClr val="FFFFFF"/>
                </a:solidFill>
                <a:latin typeface="Trebuchet MS"/>
                <a:cs typeface="Trebuchet MS"/>
              </a:rPr>
              <a:t>Python</a:t>
            </a:r>
            <a:endParaRPr sz="1200">
              <a:latin typeface="Trebuchet MS"/>
              <a:cs typeface="Trebuchet MS"/>
            </a:endParaRPr>
          </a:p>
        </p:txBody>
      </p:sp>
      <p:grpSp>
        <p:nvGrpSpPr>
          <p:cNvPr id="15" name="object 15"/>
          <p:cNvGrpSpPr/>
          <p:nvPr/>
        </p:nvGrpSpPr>
        <p:grpSpPr>
          <a:xfrm>
            <a:off x="2330982" y="1534706"/>
            <a:ext cx="1967864" cy="1078230"/>
            <a:chOff x="2330982" y="1534706"/>
            <a:chExt cx="1967864" cy="1078230"/>
          </a:xfrm>
        </p:grpSpPr>
        <p:pic>
          <p:nvPicPr>
            <p:cNvPr id="16" name="object 16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2330983" y="1534706"/>
              <a:ext cx="1967848" cy="50609"/>
            </a:xfrm>
            <a:prstGeom prst="rect">
              <a:avLst/>
            </a:prstGeom>
          </p:spPr>
        </p:pic>
        <p:sp>
          <p:nvSpPr>
            <p:cNvPr id="17" name="object 17"/>
            <p:cNvSpPr/>
            <p:nvPr/>
          </p:nvSpPr>
          <p:spPr>
            <a:xfrm>
              <a:off x="2330982" y="1578984"/>
              <a:ext cx="1967864" cy="1033780"/>
            </a:xfrm>
            <a:custGeom>
              <a:avLst/>
              <a:gdLst/>
              <a:ahLst/>
              <a:cxnLst/>
              <a:rect l="l" t="t" r="r" b="b"/>
              <a:pathLst>
                <a:path w="1967864" h="1033780">
                  <a:moveTo>
                    <a:pt x="1967849" y="0"/>
                  </a:moveTo>
                  <a:lnTo>
                    <a:pt x="0" y="0"/>
                  </a:lnTo>
                  <a:lnTo>
                    <a:pt x="0" y="982974"/>
                  </a:lnTo>
                  <a:lnTo>
                    <a:pt x="4008" y="1002699"/>
                  </a:lnTo>
                  <a:lnTo>
                    <a:pt x="14922" y="1018851"/>
                  </a:lnTo>
                  <a:lnTo>
                    <a:pt x="31075" y="1029766"/>
                  </a:lnTo>
                  <a:lnTo>
                    <a:pt x="50800" y="1033774"/>
                  </a:lnTo>
                  <a:lnTo>
                    <a:pt x="1917048" y="1033774"/>
                  </a:lnTo>
                  <a:lnTo>
                    <a:pt x="1936773" y="1029766"/>
                  </a:lnTo>
                  <a:lnTo>
                    <a:pt x="1952926" y="1018851"/>
                  </a:lnTo>
                  <a:lnTo>
                    <a:pt x="1963840" y="1002699"/>
                  </a:lnTo>
                  <a:lnTo>
                    <a:pt x="1967849" y="982974"/>
                  </a:lnTo>
                  <a:lnTo>
                    <a:pt x="1967849" y="0"/>
                  </a:lnTo>
                  <a:close/>
                </a:path>
              </a:pathLst>
            </a:custGeom>
            <a:solidFill>
              <a:srgbClr val="F0E7E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8" name="object 18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2381783" y="1604290"/>
              <a:ext cx="1866233" cy="964042"/>
            </a:xfrm>
            <a:prstGeom prst="rect">
              <a:avLst/>
            </a:prstGeom>
          </p:spPr>
        </p:pic>
      </p:grpSp>
      <p:grpSp>
        <p:nvGrpSpPr>
          <p:cNvPr id="19" name="object 19"/>
          <p:cNvGrpSpPr/>
          <p:nvPr/>
        </p:nvGrpSpPr>
        <p:grpSpPr>
          <a:xfrm>
            <a:off x="0" y="3346348"/>
            <a:ext cx="4608195" cy="109855"/>
            <a:chOff x="0" y="3346348"/>
            <a:chExt cx="4608195" cy="109855"/>
          </a:xfrm>
        </p:grpSpPr>
        <p:sp>
          <p:nvSpPr>
            <p:cNvPr id="20" name="object 20"/>
            <p:cNvSpPr/>
            <p:nvPr/>
          </p:nvSpPr>
          <p:spPr>
            <a:xfrm>
              <a:off x="0" y="3346348"/>
              <a:ext cx="2304415" cy="109855"/>
            </a:xfrm>
            <a:custGeom>
              <a:avLst/>
              <a:gdLst/>
              <a:ahLst/>
              <a:cxnLst/>
              <a:rect l="l" t="t" r="r" b="b"/>
              <a:pathLst>
                <a:path w="2304415" h="109854">
                  <a:moveTo>
                    <a:pt x="2304008" y="0"/>
                  </a:moveTo>
                  <a:lnTo>
                    <a:pt x="1152004" y="0"/>
                  </a:lnTo>
                  <a:lnTo>
                    <a:pt x="0" y="0"/>
                  </a:lnTo>
                  <a:lnTo>
                    <a:pt x="0" y="109651"/>
                  </a:lnTo>
                  <a:lnTo>
                    <a:pt x="1152004" y="109651"/>
                  </a:lnTo>
                  <a:lnTo>
                    <a:pt x="2304008" y="109651"/>
                  </a:lnTo>
                  <a:lnTo>
                    <a:pt x="2304008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2303995" y="3346348"/>
              <a:ext cx="2304415" cy="109855"/>
            </a:xfrm>
            <a:custGeom>
              <a:avLst/>
              <a:gdLst/>
              <a:ahLst/>
              <a:cxnLst/>
              <a:rect l="l" t="t" r="r" b="b"/>
              <a:pathLst>
                <a:path w="2304415" h="109854">
                  <a:moveTo>
                    <a:pt x="2303996" y="0"/>
                  </a:moveTo>
                  <a:lnTo>
                    <a:pt x="1920024" y="0"/>
                  </a:lnTo>
                  <a:lnTo>
                    <a:pt x="0" y="0"/>
                  </a:lnTo>
                  <a:lnTo>
                    <a:pt x="0" y="109651"/>
                  </a:lnTo>
                  <a:lnTo>
                    <a:pt x="1920024" y="109651"/>
                  </a:lnTo>
                  <a:lnTo>
                    <a:pt x="2303996" y="109651"/>
                  </a:lnTo>
                  <a:lnTo>
                    <a:pt x="2303996" y="0"/>
                  </a:lnTo>
                  <a:close/>
                </a:path>
              </a:pathLst>
            </a:custGeom>
            <a:solidFill>
              <a:srgbClr val="8C205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4" name="object 24"/>
          <p:cNvSpPr txBox="1"/>
          <p:nvPr/>
        </p:nvSpPr>
        <p:spPr>
          <a:xfrm>
            <a:off x="3086696" y="3351784"/>
            <a:ext cx="354965" cy="10223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5"/>
              </a:lnSpc>
            </a:pPr>
            <a:r>
              <a:rPr sz="600" spc="5" dirty="0">
                <a:solidFill>
                  <a:srgbClr val="FFFFFF"/>
                </a:solidFill>
                <a:latin typeface="Microsoft Sans Serif"/>
                <a:cs typeface="Microsoft Sans Serif"/>
              </a:rPr>
              <a:t>Tutorial</a:t>
            </a:r>
            <a:r>
              <a:rPr sz="600" spc="-10" dirty="0">
                <a:solidFill>
                  <a:srgbClr val="FFFFFF"/>
                </a:solidFill>
                <a:latin typeface="Microsoft Sans Serif"/>
                <a:cs typeface="Microsoft Sans Serif"/>
              </a:rPr>
              <a:t> </a:t>
            </a:r>
            <a:r>
              <a:rPr sz="600" spc="-20" dirty="0">
                <a:solidFill>
                  <a:srgbClr val="FFFFFF"/>
                </a:solidFill>
                <a:latin typeface="Microsoft Sans Serif"/>
                <a:cs typeface="Microsoft Sans Serif"/>
              </a:rPr>
              <a:t>1</a:t>
            </a:r>
            <a:endParaRPr sz="600" dirty="0">
              <a:latin typeface="Microsoft Sans Serif"/>
              <a:cs typeface="Microsoft Sans Serif"/>
            </a:endParaRPr>
          </a:p>
        </p:txBody>
      </p:sp>
      <p:sp>
        <p:nvSpPr>
          <p:cNvPr id="25" name="object 12">
            <a:extLst>
              <a:ext uri="{FF2B5EF4-FFF2-40B4-BE49-F238E27FC236}">
                <a16:creationId xmlns:a16="http://schemas.microsoft.com/office/drawing/2014/main" id="{8CADDEF2-8C31-11CC-6DC4-CEC5E1D104F4}"/>
              </a:ext>
            </a:extLst>
          </p:cNvPr>
          <p:cNvSpPr txBox="1">
            <a:spLocks noGrp="1"/>
          </p:cNvSpPr>
          <p:nvPr>
            <p:ph type="dt" sz="half" idx="6"/>
          </p:nvPr>
        </p:nvSpPr>
        <p:spPr>
          <a:xfrm>
            <a:off x="1506396" y="3351784"/>
            <a:ext cx="570053" cy="8976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5"/>
              </a:lnSpc>
            </a:pPr>
            <a:r>
              <a:rPr lang="en-US" spc="10" dirty="0"/>
              <a:t>Summer 2026</a:t>
            </a:r>
            <a:endParaRPr spc="-20" dirty="0"/>
          </a:p>
        </p:txBody>
      </p:sp>
      <p:sp>
        <p:nvSpPr>
          <p:cNvPr id="27" name="Footer Placeholder 10">
            <a:extLst>
              <a:ext uri="{FF2B5EF4-FFF2-40B4-BE49-F238E27FC236}">
                <a16:creationId xmlns:a16="http://schemas.microsoft.com/office/drawing/2014/main" id="{BF90A8D8-3F92-DB79-E167-80DB916EADBE}"/>
              </a:ext>
            </a:extLst>
          </p:cNvPr>
          <p:cNvSpPr>
            <a:spLocks noGrp="1"/>
          </p:cNvSpPr>
          <p:nvPr>
            <p:ph type="ftr" sz="quarter" idx="5"/>
          </p:nvPr>
        </p:nvSpPr>
        <p:spPr>
          <a:xfrm>
            <a:off x="346620" y="3351783"/>
            <a:ext cx="663029" cy="207391"/>
          </a:xfrm>
        </p:spPr>
        <p:txBody>
          <a:bodyPr/>
          <a:lstStyle/>
          <a:p>
            <a:pPr marL="12700">
              <a:lnSpc>
                <a:spcPts val="675"/>
              </a:lnSpc>
            </a:pPr>
            <a:r>
              <a:rPr lang="en-US" spc="-20" dirty="0"/>
              <a:t>By Hazem</a:t>
            </a:r>
            <a:r>
              <a:rPr lang="en-US" spc="-5" dirty="0"/>
              <a:t> </a:t>
            </a:r>
            <a:r>
              <a:rPr lang="en-US" dirty="0"/>
              <a:t>Nabil</a:t>
            </a:r>
          </a:p>
        </p:txBody>
      </p:sp>
      <p:sp>
        <p:nvSpPr>
          <p:cNvPr id="22" name="Slide Number Placeholder 14">
            <a:extLst>
              <a:ext uri="{FF2B5EF4-FFF2-40B4-BE49-F238E27FC236}">
                <a16:creationId xmlns:a16="http://schemas.microsoft.com/office/drawing/2014/main" id="{8517BF94-D4C0-6892-D4DE-E6EB810AB236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>
          <a:xfrm>
            <a:off x="4246994" y="3351784"/>
            <a:ext cx="344804" cy="89768"/>
          </a:xfrm>
        </p:spPr>
        <p:txBody>
          <a:bodyPr/>
          <a:lstStyle/>
          <a:p>
            <a:pPr marL="38100">
              <a:lnSpc>
                <a:spcPts val="675"/>
              </a:lnSpc>
            </a:pPr>
            <a:fld id="{81D60167-4931-47E6-BA6A-407CBD079E47}" type="slidenum">
              <a:rPr lang="en-US" spc="-20" smtClean="0"/>
              <a:t>13</a:t>
            </a:fld>
            <a:r>
              <a:rPr lang="en-US" spc="20" dirty="0"/>
              <a:t> </a:t>
            </a:r>
            <a:r>
              <a:rPr lang="en-US" spc="150" dirty="0"/>
              <a:t>/</a:t>
            </a:r>
            <a:r>
              <a:rPr lang="en-US" spc="20" dirty="0"/>
              <a:t> </a:t>
            </a:r>
            <a:r>
              <a:rPr lang="en-US" spc="-20" dirty="0"/>
              <a:t>20</a:t>
            </a:r>
          </a:p>
        </p:txBody>
      </p:sp>
    </p:spTree>
  </p:cSld>
  <p:clrMapOvr>
    <a:masterClrMapping/>
  </p:clrMapOvr>
  <p:transition>
    <p:cut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268450" y="0"/>
            <a:ext cx="940435" cy="382270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441325" marR="5080" indent="73025" algn="r">
              <a:lnSpc>
                <a:spcPts val="700"/>
              </a:lnSpc>
              <a:spcBef>
                <a:spcPts val="135"/>
              </a:spcBef>
            </a:pPr>
            <a:r>
              <a:rPr sz="600" spc="10" dirty="0">
                <a:solidFill>
                  <a:srgbClr val="7F7F7F"/>
                </a:solidFill>
                <a:latin typeface="Microsoft Sans Serif"/>
                <a:cs typeface="Microsoft Sans Serif"/>
              </a:rPr>
              <a:t>Intr</a:t>
            </a:r>
            <a:r>
              <a:rPr sz="600" spc="30" dirty="0">
                <a:solidFill>
                  <a:srgbClr val="7F7F7F"/>
                </a:solidFill>
                <a:latin typeface="Microsoft Sans Serif"/>
                <a:cs typeface="Microsoft Sans Serif"/>
              </a:rPr>
              <a:t>o</a:t>
            </a:r>
            <a:r>
              <a:rPr sz="600" dirty="0">
                <a:solidFill>
                  <a:srgbClr val="7F7F7F"/>
                </a:solidFill>
                <a:latin typeface="Microsoft Sans Serif"/>
                <a:cs typeface="Microsoft Sans Serif"/>
              </a:rPr>
              <a:t>duction  </a:t>
            </a:r>
            <a:r>
              <a:rPr sz="600" spc="-30" dirty="0">
                <a:solidFill>
                  <a:srgbClr val="7F7F7F"/>
                </a:solidFill>
                <a:latin typeface="Microsoft Sans Serif"/>
                <a:cs typeface="Microsoft Sans Serif"/>
              </a:rPr>
              <a:t>Cours</a:t>
            </a:r>
            <a:r>
              <a:rPr sz="600" spc="-25" dirty="0">
                <a:solidFill>
                  <a:srgbClr val="7F7F7F"/>
                </a:solidFill>
                <a:latin typeface="Microsoft Sans Serif"/>
                <a:cs typeface="Microsoft Sans Serif"/>
              </a:rPr>
              <a:t>e</a:t>
            </a:r>
            <a:r>
              <a:rPr sz="600" spc="50" dirty="0">
                <a:solidFill>
                  <a:srgbClr val="7F7F7F"/>
                </a:solidFill>
                <a:latin typeface="Microsoft Sans Serif"/>
                <a:cs typeface="Microsoft Sans Serif"/>
              </a:rPr>
              <a:t> </a:t>
            </a:r>
            <a:r>
              <a:rPr sz="600" spc="-5" dirty="0">
                <a:solidFill>
                  <a:srgbClr val="7F7F7F"/>
                </a:solidFill>
                <a:latin typeface="Microsoft Sans Serif"/>
                <a:cs typeface="Microsoft Sans Serif"/>
              </a:rPr>
              <a:t>Details  </a:t>
            </a:r>
            <a:r>
              <a:rPr sz="600" spc="10" dirty="0">
                <a:solidFill>
                  <a:srgbClr val="FFFFFF"/>
                </a:solidFill>
                <a:latin typeface="Microsoft Sans Serif"/>
                <a:cs typeface="Microsoft Sans Serif"/>
              </a:rPr>
              <a:t>Motivation</a:t>
            </a:r>
            <a:endParaRPr sz="600" dirty="0">
              <a:latin typeface="Microsoft Sans Serif"/>
              <a:cs typeface="Microsoft Sans Serif"/>
            </a:endParaRPr>
          </a:p>
          <a:p>
            <a:pPr marR="5080" algn="r">
              <a:lnSpc>
                <a:spcPts val="670"/>
              </a:lnSpc>
            </a:pPr>
            <a:r>
              <a:rPr sz="600" spc="-25" dirty="0">
                <a:solidFill>
                  <a:srgbClr val="7F7F7F"/>
                </a:solidFill>
                <a:latin typeface="Microsoft Sans Serif"/>
                <a:cs typeface="Microsoft Sans Serif"/>
              </a:rPr>
              <a:t>Accessing</a:t>
            </a:r>
            <a:r>
              <a:rPr sz="600" spc="35" dirty="0">
                <a:solidFill>
                  <a:srgbClr val="7F7F7F"/>
                </a:solidFill>
                <a:latin typeface="Microsoft Sans Serif"/>
                <a:cs typeface="Microsoft Sans Serif"/>
              </a:rPr>
              <a:t> </a:t>
            </a:r>
            <a:r>
              <a:rPr sz="600" dirty="0">
                <a:solidFill>
                  <a:srgbClr val="7F7F7F"/>
                </a:solidFill>
                <a:latin typeface="Microsoft Sans Serif"/>
                <a:cs typeface="Microsoft Sans Serif"/>
              </a:rPr>
              <a:t>the</a:t>
            </a:r>
            <a:r>
              <a:rPr sz="600" spc="40" dirty="0">
                <a:solidFill>
                  <a:srgbClr val="7F7F7F"/>
                </a:solidFill>
                <a:latin typeface="Microsoft Sans Serif"/>
                <a:cs typeface="Microsoft Sans Serif"/>
              </a:rPr>
              <a:t> </a:t>
            </a:r>
            <a:r>
              <a:rPr sz="600" spc="-10" dirty="0">
                <a:solidFill>
                  <a:srgbClr val="7F7F7F"/>
                </a:solidFill>
                <a:latin typeface="Microsoft Sans Serif"/>
                <a:cs typeface="Microsoft Sans Serif"/>
              </a:rPr>
              <a:t>Lab</a:t>
            </a:r>
            <a:r>
              <a:rPr sz="600" spc="35" dirty="0">
                <a:solidFill>
                  <a:srgbClr val="7F7F7F"/>
                </a:solidFill>
                <a:latin typeface="Microsoft Sans Serif"/>
                <a:cs typeface="Microsoft Sans Serif"/>
              </a:rPr>
              <a:t> </a:t>
            </a:r>
            <a:r>
              <a:rPr sz="600" spc="5" dirty="0">
                <a:solidFill>
                  <a:srgbClr val="7F7F7F"/>
                </a:solidFill>
                <a:latin typeface="Microsoft Sans Serif"/>
                <a:cs typeface="Microsoft Sans Serif"/>
              </a:rPr>
              <a:t>Material</a:t>
            </a:r>
            <a:endParaRPr sz="600" dirty="0">
              <a:latin typeface="Microsoft Sans Serif"/>
              <a:cs typeface="Microsoft Sans Serif"/>
            </a:endParaRP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303995" y="0"/>
            <a:ext cx="2304008" cy="366928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2679966" y="129636"/>
            <a:ext cx="1438910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900" b="1" spc="-20" dirty="0">
                <a:solidFill>
                  <a:srgbClr val="FFFFFF"/>
                </a:solidFill>
                <a:latin typeface="Trebuchet MS"/>
                <a:cs typeface="Trebuchet MS"/>
              </a:rPr>
              <a:t>German</a:t>
            </a:r>
            <a:r>
              <a:rPr sz="900" b="1" spc="40" dirty="0">
                <a:solidFill>
                  <a:srgbClr val="FFFFFF"/>
                </a:solidFill>
                <a:latin typeface="Trebuchet MS"/>
                <a:cs typeface="Trebuchet MS"/>
              </a:rPr>
              <a:t> </a:t>
            </a:r>
            <a:r>
              <a:rPr sz="900" b="1" spc="-25" dirty="0">
                <a:solidFill>
                  <a:srgbClr val="FFFFFF"/>
                </a:solidFill>
                <a:latin typeface="Trebuchet MS"/>
                <a:cs typeface="Trebuchet MS"/>
              </a:rPr>
              <a:t>University</a:t>
            </a:r>
            <a:r>
              <a:rPr sz="900" b="1" spc="45" dirty="0">
                <a:solidFill>
                  <a:srgbClr val="FFFFFF"/>
                </a:solidFill>
                <a:latin typeface="Trebuchet MS"/>
                <a:cs typeface="Trebuchet MS"/>
              </a:rPr>
              <a:t> </a:t>
            </a:r>
            <a:r>
              <a:rPr sz="900" b="1" spc="-35" dirty="0">
                <a:solidFill>
                  <a:srgbClr val="FFFFFF"/>
                </a:solidFill>
                <a:latin typeface="Trebuchet MS"/>
                <a:cs typeface="Trebuchet MS"/>
              </a:rPr>
              <a:t>in</a:t>
            </a:r>
            <a:r>
              <a:rPr sz="900" b="1" spc="40" dirty="0">
                <a:solidFill>
                  <a:srgbClr val="FFFFFF"/>
                </a:solidFill>
                <a:latin typeface="Trebuchet MS"/>
                <a:cs typeface="Trebuchet MS"/>
              </a:rPr>
              <a:t> </a:t>
            </a:r>
            <a:r>
              <a:rPr sz="900" b="1" spc="-15" dirty="0">
                <a:solidFill>
                  <a:srgbClr val="FFFFFF"/>
                </a:solidFill>
                <a:latin typeface="Trebuchet MS"/>
                <a:cs typeface="Trebuchet MS"/>
              </a:rPr>
              <a:t>Cairo</a:t>
            </a:r>
            <a:endParaRPr sz="900">
              <a:latin typeface="Trebuchet MS"/>
              <a:cs typeface="Trebuchet MS"/>
            </a:endParaRPr>
          </a:p>
        </p:txBody>
      </p:sp>
      <p:pic>
        <p:nvPicPr>
          <p:cNvPr id="5" name="object 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0" y="366911"/>
            <a:ext cx="4604410" cy="260646"/>
          </a:xfrm>
          <a:prstGeom prst="rect">
            <a:avLst/>
          </a:prstGeom>
        </p:spPr>
      </p:pic>
      <p:sp>
        <p:nvSpPr>
          <p:cNvPr id="6" name="object 6"/>
          <p:cNvSpPr txBox="1"/>
          <p:nvPr/>
        </p:nvSpPr>
        <p:spPr>
          <a:xfrm>
            <a:off x="197218" y="364347"/>
            <a:ext cx="3036570" cy="24447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400" spc="-30" dirty="0">
                <a:solidFill>
                  <a:srgbClr val="FFFFFF"/>
                </a:solidFill>
                <a:latin typeface="Trebuchet MS"/>
                <a:cs typeface="Trebuchet MS"/>
              </a:rPr>
              <a:t>Tool</a:t>
            </a:r>
            <a:r>
              <a:rPr sz="1400" spc="35" dirty="0">
                <a:solidFill>
                  <a:srgbClr val="FFFFFF"/>
                </a:solidFill>
                <a:latin typeface="Trebuchet MS"/>
                <a:cs typeface="Trebuchet MS"/>
              </a:rPr>
              <a:t> </a:t>
            </a:r>
            <a:r>
              <a:rPr sz="1400" spc="-50" dirty="0">
                <a:solidFill>
                  <a:srgbClr val="FFFFFF"/>
                </a:solidFill>
                <a:latin typeface="Trebuchet MS"/>
                <a:cs typeface="Trebuchet MS"/>
              </a:rPr>
              <a:t>to</a:t>
            </a:r>
            <a:r>
              <a:rPr sz="1400" spc="40" dirty="0">
                <a:solidFill>
                  <a:srgbClr val="FFFFFF"/>
                </a:solidFill>
                <a:latin typeface="Trebuchet MS"/>
                <a:cs typeface="Trebuchet MS"/>
              </a:rPr>
              <a:t> </a:t>
            </a:r>
            <a:r>
              <a:rPr sz="1400" spc="-80" dirty="0">
                <a:solidFill>
                  <a:srgbClr val="FFFFFF"/>
                </a:solidFill>
                <a:latin typeface="Trebuchet MS"/>
                <a:cs typeface="Trebuchet MS"/>
              </a:rPr>
              <a:t>be</a:t>
            </a:r>
            <a:r>
              <a:rPr sz="1400" spc="40" dirty="0">
                <a:solidFill>
                  <a:srgbClr val="FFFFFF"/>
                </a:solidFill>
                <a:latin typeface="Trebuchet MS"/>
                <a:cs typeface="Trebuchet MS"/>
              </a:rPr>
              <a:t> </a:t>
            </a:r>
            <a:r>
              <a:rPr sz="1400" spc="-70" dirty="0">
                <a:solidFill>
                  <a:srgbClr val="FFFFFF"/>
                </a:solidFill>
                <a:latin typeface="Trebuchet MS"/>
                <a:cs typeface="Trebuchet MS"/>
              </a:rPr>
              <a:t>used</a:t>
            </a:r>
            <a:r>
              <a:rPr sz="1400" spc="40" dirty="0">
                <a:solidFill>
                  <a:srgbClr val="FFFFFF"/>
                </a:solidFill>
                <a:latin typeface="Trebuchet MS"/>
                <a:cs typeface="Trebuchet MS"/>
              </a:rPr>
              <a:t> </a:t>
            </a:r>
            <a:r>
              <a:rPr sz="1400" spc="-45" dirty="0">
                <a:solidFill>
                  <a:srgbClr val="FFFFFF"/>
                </a:solidFill>
                <a:latin typeface="Trebuchet MS"/>
                <a:cs typeface="Trebuchet MS"/>
              </a:rPr>
              <a:t>throughout</a:t>
            </a:r>
            <a:r>
              <a:rPr sz="1400" spc="40" dirty="0">
                <a:solidFill>
                  <a:srgbClr val="FFFFFF"/>
                </a:solidFill>
                <a:latin typeface="Trebuchet MS"/>
                <a:cs typeface="Trebuchet MS"/>
              </a:rPr>
              <a:t> </a:t>
            </a:r>
            <a:r>
              <a:rPr sz="1400" spc="-80" dirty="0">
                <a:solidFill>
                  <a:srgbClr val="FFFFFF"/>
                </a:solidFill>
                <a:latin typeface="Trebuchet MS"/>
                <a:cs typeface="Trebuchet MS"/>
              </a:rPr>
              <a:t>the</a:t>
            </a:r>
            <a:r>
              <a:rPr sz="1400" spc="40" dirty="0">
                <a:solidFill>
                  <a:srgbClr val="FFFFFF"/>
                </a:solidFill>
                <a:latin typeface="Trebuchet MS"/>
                <a:cs typeface="Trebuchet MS"/>
              </a:rPr>
              <a:t> </a:t>
            </a:r>
            <a:r>
              <a:rPr sz="1400" spc="-65" dirty="0">
                <a:solidFill>
                  <a:srgbClr val="FFFFFF"/>
                </a:solidFill>
                <a:latin typeface="Trebuchet MS"/>
                <a:cs typeface="Trebuchet MS"/>
              </a:rPr>
              <a:t>tutorials</a:t>
            </a:r>
            <a:endParaRPr sz="1400">
              <a:latin typeface="Trebuchet MS"/>
              <a:cs typeface="Trebuchet MS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347294" y="1656840"/>
            <a:ext cx="2314575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100" spc="-30" dirty="0">
                <a:latin typeface="Microsoft Sans Serif"/>
                <a:cs typeface="Microsoft Sans Serif"/>
              </a:rPr>
              <a:t>In</a:t>
            </a:r>
            <a:r>
              <a:rPr sz="1100" spc="70" dirty="0">
                <a:latin typeface="Microsoft Sans Serif"/>
                <a:cs typeface="Microsoft Sans Serif"/>
              </a:rPr>
              <a:t> </a:t>
            </a:r>
            <a:r>
              <a:rPr sz="1100" spc="-25" dirty="0">
                <a:latin typeface="Microsoft Sans Serif"/>
                <a:cs typeface="Microsoft Sans Serif"/>
              </a:rPr>
              <a:t>this</a:t>
            </a:r>
            <a:r>
              <a:rPr sz="1100" spc="70" dirty="0">
                <a:latin typeface="Microsoft Sans Serif"/>
                <a:cs typeface="Microsoft Sans Serif"/>
              </a:rPr>
              <a:t> </a:t>
            </a:r>
            <a:r>
              <a:rPr sz="1100" spc="-65" dirty="0">
                <a:latin typeface="Microsoft Sans Serif"/>
                <a:cs typeface="Microsoft Sans Serif"/>
              </a:rPr>
              <a:t>course,</a:t>
            </a:r>
            <a:r>
              <a:rPr sz="1100" spc="70" dirty="0">
                <a:latin typeface="Microsoft Sans Serif"/>
                <a:cs typeface="Microsoft Sans Serif"/>
              </a:rPr>
              <a:t> </a:t>
            </a:r>
            <a:r>
              <a:rPr sz="1100" spc="-85" dirty="0">
                <a:latin typeface="Microsoft Sans Serif"/>
                <a:cs typeface="Microsoft Sans Serif"/>
              </a:rPr>
              <a:t>w</a:t>
            </a:r>
            <a:r>
              <a:rPr sz="1100" spc="-15" dirty="0">
                <a:latin typeface="Microsoft Sans Serif"/>
                <a:cs typeface="Microsoft Sans Serif"/>
              </a:rPr>
              <a:t>e’ll</a:t>
            </a:r>
            <a:r>
              <a:rPr sz="1100" spc="70" dirty="0">
                <a:latin typeface="Microsoft Sans Serif"/>
                <a:cs typeface="Microsoft Sans Serif"/>
              </a:rPr>
              <a:t> </a:t>
            </a:r>
            <a:r>
              <a:rPr sz="1100" spc="-20" dirty="0">
                <a:latin typeface="Microsoft Sans Serif"/>
                <a:cs typeface="Microsoft Sans Serif"/>
              </a:rPr>
              <a:t>b</a:t>
            </a:r>
            <a:r>
              <a:rPr sz="1100" spc="-130" dirty="0">
                <a:latin typeface="Microsoft Sans Serif"/>
                <a:cs typeface="Microsoft Sans Serif"/>
              </a:rPr>
              <a:t>e</a:t>
            </a:r>
            <a:r>
              <a:rPr sz="1100" spc="70" dirty="0">
                <a:latin typeface="Microsoft Sans Serif"/>
                <a:cs typeface="Microsoft Sans Serif"/>
              </a:rPr>
              <a:t> </a:t>
            </a:r>
            <a:r>
              <a:rPr sz="1100" spc="-50" dirty="0">
                <a:latin typeface="Microsoft Sans Serif"/>
                <a:cs typeface="Microsoft Sans Serif"/>
              </a:rPr>
              <a:t>using.</a:t>
            </a:r>
            <a:r>
              <a:rPr sz="1100" spc="-114" dirty="0">
                <a:latin typeface="Microsoft Sans Serif"/>
                <a:cs typeface="Microsoft Sans Serif"/>
              </a:rPr>
              <a:t> </a:t>
            </a:r>
            <a:r>
              <a:rPr sz="1100" spc="-5" dirty="0">
                <a:latin typeface="Microsoft Sans Serif"/>
                <a:cs typeface="Microsoft Sans Serif"/>
              </a:rPr>
              <a:t>.</a:t>
            </a:r>
            <a:r>
              <a:rPr sz="1100" spc="-110" dirty="0">
                <a:latin typeface="Microsoft Sans Serif"/>
                <a:cs typeface="Microsoft Sans Serif"/>
              </a:rPr>
              <a:t> </a:t>
            </a:r>
            <a:r>
              <a:rPr sz="1100" spc="-5" dirty="0">
                <a:latin typeface="Microsoft Sans Serif"/>
                <a:cs typeface="Microsoft Sans Serif"/>
              </a:rPr>
              <a:t>.</a:t>
            </a:r>
            <a:r>
              <a:rPr sz="1100" spc="-110" dirty="0">
                <a:latin typeface="Microsoft Sans Serif"/>
                <a:cs typeface="Microsoft Sans Serif"/>
              </a:rPr>
              <a:t> </a:t>
            </a:r>
            <a:r>
              <a:rPr sz="1100" spc="-20" dirty="0">
                <a:latin typeface="Microsoft Sans Serif"/>
                <a:cs typeface="Microsoft Sans Serif"/>
              </a:rPr>
              <a:t>Python!</a:t>
            </a:r>
            <a:endParaRPr sz="1100">
              <a:latin typeface="Microsoft Sans Serif"/>
              <a:cs typeface="Microsoft Sans Serif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0" y="3346348"/>
            <a:ext cx="4608195" cy="109855"/>
            <a:chOff x="0" y="3346348"/>
            <a:chExt cx="4608195" cy="109855"/>
          </a:xfrm>
        </p:grpSpPr>
        <p:sp>
          <p:nvSpPr>
            <p:cNvPr id="9" name="object 9"/>
            <p:cNvSpPr/>
            <p:nvPr/>
          </p:nvSpPr>
          <p:spPr>
            <a:xfrm>
              <a:off x="0" y="3346361"/>
              <a:ext cx="2304415" cy="109855"/>
            </a:xfrm>
            <a:custGeom>
              <a:avLst/>
              <a:gdLst/>
              <a:ahLst/>
              <a:cxnLst/>
              <a:rect l="l" t="t" r="r" b="b"/>
              <a:pathLst>
                <a:path w="2304415" h="109854">
                  <a:moveTo>
                    <a:pt x="2304008" y="0"/>
                  </a:moveTo>
                  <a:lnTo>
                    <a:pt x="1152004" y="0"/>
                  </a:lnTo>
                  <a:lnTo>
                    <a:pt x="0" y="0"/>
                  </a:lnTo>
                  <a:lnTo>
                    <a:pt x="0" y="109639"/>
                  </a:lnTo>
                  <a:lnTo>
                    <a:pt x="1152004" y="109639"/>
                  </a:lnTo>
                  <a:lnTo>
                    <a:pt x="2304008" y="109639"/>
                  </a:lnTo>
                  <a:lnTo>
                    <a:pt x="2304008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2303995" y="3346361"/>
              <a:ext cx="2304415" cy="109855"/>
            </a:xfrm>
            <a:custGeom>
              <a:avLst/>
              <a:gdLst/>
              <a:ahLst/>
              <a:cxnLst/>
              <a:rect l="l" t="t" r="r" b="b"/>
              <a:pathLst>
                <a:path w="2304415" h="109854">
                  <a:moveTo>
                    <a:pt x="2303996" y="0"/>
                  </a:moveTo>
                  <a:lnTo>
                    <a:pt x="1920024" y="0"/>
                  </a:lnTo>
                  <a:lnTo>
                    <a:pt x="0" y="0"/>
                  </a:lnTo>
                  <a:lnTo>
                    <a:pt x="0" y="109639"/>
                  </a:lnTo>
                  <a:lnTo>
                    <a:pt x="1920024" y="109639"/>
                  </a:lnTo>
                  <a:lnTo>
                    <a:pt x="2303996" y="109639"/>
                  </a:lnTo>
                  <a:lnTo>
                    <a:pt x="2303996" y="0"/>
                  </a:lnTo>
                  <a:close/>
                </a:path>
              </a:pathLst>
            </a:custGeom>
            <a:solidFill>
              <a:srgbClr val="8C205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object 13"/>
          <p:cNvSpPr txBox="1"/>
          <p:nvPr/>
        </p:nvSpPr>
        <p:spPr>
          <a:xfrm>
            <a:off x="3086696" y="3351784"/>
            <a:ext cx="354965" cy="10223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5"/>
              </a:lnSpc>
            </a:pPr>
            <a:r>
              <a:rPr sz="600" spc="5" dirty="0">
                <a:solidFill>
                  <a:srgbClr val="FFFFFF"/>
                </a:solidFill>
                <a:latin typeface="Microsoft Sans Serif"/>
                <a:cs typeface="Microsoft Sans Serif"/>
              </a:rPr>
              <a:t>Tutorial</a:t>
            </a:r>
            <a:r>
              <a:rPr sz="600" spc="-10" dirty="0">
                <a:solidFill>
                  <a:srgbClr val="FFFFFF"/>
                </a:solidFill>
                <a:latin typeface="Microsoft Sans Serif"/>
                <a:cs typeface="Microsoft Sans Serif"/>
              </a:rPr>
              <a:t> </a:t>
            </a:r>
            <a:r>
              <a:rPr sz="600" spc="-20" dirty="0">
                <a:solidFill>
                  <a:srgbClr val="FFFFFF"/>
                </a:solidFill>
                <a:latin typeface="Microsoft Sans Serif"/>
                <a:cs typeface="Microsoft Sans Serif"/>
              </a:rPr>
              <a:t>1</a:t>
            </a:r>
            <a:endParaRPr sz="600" dirty="0">
              <a:latin typeface="Microsoft Sans Serif"/>
              <a:cs typeface="Microsoft Sans Serif"/>
            </a:endParaRPr>
          </a:p>
        </p:txBody>
      </p:sp>
      <p:sp>
        <p:nvSpPr>
          <p:cNvPr id="14" name="object 12">
            <a:extLst>
              <a:ext uri="{FF2B5EF4-FFF2-40B4-BE49-F238E27FC236}">
                <a16:creationId xmlns:a16="http://schemas.microsoft.com/office/drawing/2014/main" id="{39913DCB-D379-EB2F-3FA0-10B58EFAC349}"/>
              </a:ext>
            </a:extLst>
          </p:cNvPr>
          <p:cNvSpPr txBox="1">
            <a:spLocks noGrp="1"/>
          </p:cNvSpPr>
          <p:nvPr>
            <p:ph type="dt" sz="half" idx="6"/>
          </p:nvPr>
        </p:nvSpPr>
        <p:spPr>
          <a:xfrm>
            <a:off x="1506396" y="3351784"/>
            <a:ext cx="570053" cy="8976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5"/>
              </a:lnSpc>
            </a:pPr>
            <a:r>
              <a:rPr lang="en-US" spc="10" dirty="0"/>
              <a:t>Summer 2026</a:t>
            </a:r>
            <a:endParaRPr spc="-20" dirty="0"/>
          </a:p>
        </p:txBody>
      </p:sp>
      <p:sp>
        <p:nvSpPr>
          <p:cNvPr id="15" name="Footer Placeholder 10">
            <a:extLst>
              <a:ext uri="{FF2B5EF4-FFF2-40B4-BE49-F238E27FC236}">
                <a16:creationId xmlns:a16="http://schemas.microsoft.com/office/drawing/2014/main" id="{30A82B7F-BC5B-36FA-965F-5D84DB0221C3}"/>
              </a:ext>
            </a:extLst>
          </p:cNvPr>
          <p:cNvSpPr>
            <a:spLocks noGrp="1"/>
          </p:cNvSpPr>
          <p:nvPr>
            <p:ph type="ftr" sz="quarter" idx="5"/>
          </p:nvPr>
        </p:nvSpPr>
        <p:spPr>
          <a:xfrm>
            <a:off x="346620" y="3351783"/>
            <a:ext cx="663029" cy="207391"/>
          </a:xfrm>
        </p:spPr>
        <p:txBody>
          <a:bodyPr/>
          <a:lstStyle/>
          <a:p>
            <a:pPr marL="12700">
              <a:lnSpc>
                <a:spcPts val="675"/>
              </a:lnSpc>
            </a:pPr>
            <a:r>
              <a:rPr lang="en-US" spc="-20" dirty="0"/>
              <a:t>By Hazem</a:t>
            </a:r>
            <a:r>
              <a:rPr lang="en-US" spc="-5" dirty="0"/>
              <a:t> </a:t>
            </a:r>
            <a:r>
              <a:rPr lang="en-US" dirty="0"/>
              <a:t>Nabil</a:t>
            </a:r>
          </a:p>
        </p:txBody>
      </p:sp>
      <p:sp>
        <p:nvSpPr>
          <p:cNvPr id="11" name="Slide Number Placeholder 14">
            <a:extLst>
              <a:ext uri="{FF2B5EF4-FFF2-40B4-BE49-F238E27FC236}">
                <a16:creationId xmlns:a16="http://schemas.microsoft.com/office/drawing/2014/main" id="{21F9246D-A670-B0BE-9016-AC2A6454531E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>
          <a:xfrm>
            <a:off x="4246994" y="3351784"/>
            <a:ext cx="344804" cy="89768"/>
          </a:xfrm>
        </p:spPr>
        <p:txBody>
          <a:bodyPr/>
          <a:lstStyle/>
          <a:p>
            <a:pPr marL="38100">
              <a:lnSpc>
                <a:spcPts val="675"/>
              </a:lnSpc>
            </a:pPr>
            <a:fld id="{81D60167-4931-47E6-BA6A-407CBD079E47}" type="slidenum">
              <a:rPr lang="en-US" spc="-20" smtClean="0"/>
              <a:t>14</a:t>
            </a:fld>
            <a:r>
              <a:rPr lang="en-US" spc="20" dirty="0"/>
              <a:t> </a:t>
            </a:r>
            <a:r>
              <a:rPr lang="en-US" spc="150" dirty="0"/>
              <a:t>/</a:t>
            </a:r>
            <a:r>
              <a:rPr lang="en-US" spc="20" dirty="0"/>
              <a:t> </a:t>
            </a:r>
            <a:r>
              <a:rPr lang="en-US" spc="-20" dirty="0"/>
              <a:t>20</a:t>
            </a:r>
          </a:p>
        </p:txBody>
      </p:sp>
    </p:spTree>
  </p:cSld>
  <p:clrMapOvr>
    <a:masterClrMapping/>
  </p:clrMapOvr>
  <p:transition>
    <p:cut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268450" y="0"/>
            <a:ext cx="940435" cy="382270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441325" marR="5080" indent="73025" algn="r">
              <a:lnSpc>
                <a:spcPts val="700"/>
              </a:lnSpc>
              <a:spcBef>
                <a:spcPts val="135"/>
              </a:spcBef>
            </a:pPr>
            <a:r>
              <a:rPr sz="600" spc="10" dirty="0">
                <a:solidFill>
                  <a:srgbClr val="7F7F7F"/>
                </a:solidFill>
                <a:latin typeface="Microsoft Sans Serif"/>
                <a:cs typeface="Microsoft Sans Serif"/>
              </a:rPr>
              <a:t>Intr</a:t>
            </a:r>
            <a:r>
              <a:rPr sz="600" spc="30" dirty="0">
                <a:solidFill>
                  <a:srgbClr val="7F7F7F"/>
                </a:solidFill>
                <a:latin typeface="Microsoft Sans Serif"/>
                <a:cs typeface="Microsoft Sans Serif"/>
              </a:rPr>
              <a:t>o</a:t>
            </a:r>
            <a:r>
              <a:rPr sz="600" dirty="0">
                <a:solidFill>
                  <a:srgbClr val="7F7F7F"/>
                </a:solidFill>
                <a:latin typeface="Microsoft Sans Serif"/>
                <a:cs typeface="Microsoft Sans Serif"/>
              </a:rPr>
              <a:t>duction  </a:t>
            </a:r>
            <a:r>
              <a:rPr sz="600" spc="-30" dirty="0">
                <a:solidFill>
                  <a:srgbClr val="7F7F7F"/>
                </a:solidFill>
                <a:latin typeface="Microsoft Sans Serif"/>
                <a:cs typeface="Microsoft Sans Serif"/>
              </a:rPr>
              <a:t>Cours</a:t>
            </a:r>
            <a:r>
              <a:rPr sz="600" spc="-25" dirty="0">
                <a:solidFill>
                  <a:srgbClr val="7F7F7F"/>
                </a:solidFill>
                <a:latin typeface="Microsoft Sans Serif"/>
                <a:cs typeface="Microsoft Sans Serif"/>
              </a:rPr>
              <a:t>e</a:t>
            </a:r>
            <a:r>
              <a:rPr sz="600" spc="50" dirty="0">
                <a:solidFill>
                  <a:srgbClr val="7F7F7F"/>
                </a:solidFill>
                <a:latin typeface="Microsoft Sans Serif"/>
                <a:cs typeface="Microsoft Sans Serif"/>
              </a:rPr>
              <a:t> </a:t>
            </a:r>
            <a:r>
              <a:rPr sz="600" spc="-5" dirty="0">
                <a:solidFill>
                  <a:srgbClr val="7F7F7F"/>
                </a:solidFill>
                <a:latin typeface="Microsoft Sans Serif"/>
                <a:cs typeface="Microsoft Sans Serif"/>
              </a:rPr>
              <a:t>Details  </a:t>
            </a:r>
            <a:r>
              <a:rPr sz="600" spc="10" dirty="0">
                <a:solidFill>
                  <a:srgbClr val="FFFFFF"/>
                </a:solidFill>
                <a:latin typeface="Microsoft Sans Serif"/>
                <a:cs typeface="Microsoft Sans Serif"/>
              </a:rPr>
              <a:t>Motivation</a:t>
            </a:r>
            <a:endParaRPr sz="600" dirty="0">
              <a:latin typeface="Microsoft Sans Serif"/>
              <a:cs typeface="Microsoft Sans Serif"/>
            </a:endParaRPr>
          </a:p>
          <a:p>
            <a:pPr marR="5080" algn="r">
              <a:lnSpc>
                <a:spcPts val="670"/>
              </a:lnSpc>
            </a:pPr>
            <a:r>
              <a:rPr sz="600" spc="-25" dirty="0">
                <a:solidFill>
                  <a:srgbClr val="7F7F7F"/>
                </a:solidFill>
                <a:latin typeface="Microsoft Sans Serif"/>
                <a:cs typeface="Microsoft Sans Serif"/>
              </a:rPr>
              <a:t>Accessing</a:t>
            </a:r>
            <a:r>
              <a:rPr sz="600" spc="35" dirty="0">
                <a:solidFill>
                  <a:srgbClr val="7F7F7F"/>
                </a:solidFill>
                <a:latin typeface="Microsoft Sans Serif"/>
                <a:cs typeface="Microsoft Sans Serif"/>
              </a:rPr>
              <a:t> </a:t>
            </a:r>
            <a:r>
              <a:rPr sz="600" dirty="0">
                <a:solidFill>
                  <a:srgbClr val="7F7F7F"/>
                </a:solidFill>
                <a:latin typeface="Microsoft Sans Serif"/>
                <a:cs typeface="Microsoft Sans Serif"/>
              </a:rPr>
              <a:t>the</a:t>
            </a:r>
            <a:r>
              <a:rPr sz="600" spc="40" dirty="0">
                <a:solidFill>
                  <a:srgbClr val="7F7F7F"/>
                </a:solidFill>
                <a:latin typeface="Microsoft Sans Serif"/>
                <a:cs typeface="Microsoft Sans Serif"/>
              </a:rPr>
              <a:t> </a:t>
            </a:r>
            <a:r>
              <a:rPr sz="600" spc="-10" dirty="0">
                <a:solidFill>
                  <a:srgbClr val="7F7F7F"/>
                </a:solidFill>
                <a:latin typeface="Microsoft Sans Serif"/>
                <a:cs typeface="Microsoft Sans Serif"/>
              </a:rPr>
              <a:t>Lab</a:t>
            </a:r>
            <a:r>
              <a:rPr sz="600" spc="35" dirty="0">
                <a:solidFill>
                  <a:srgbClr val="7F7F7F"/>
                </a:solidFill>
                <a:latin typeface="Microsoft Sans Serif"/>
                <a:cs typeface="Microsoft Sans Serif"/>
              </a:rPr>
              <a:t> </a:t>
            </a:r>
            <a:r>
              <a:rPr sz="600" spc="5" dirty="0">
                <a:solidFill>
                  <a:srgbClr val="7F7F7F"/>
                </a:solidFill>
                <a:latin typeface="Microsoft Sans Serif"/>
                <a:cs typeface="Microsoft Sans Serif"/>
              </a:rPr>
              <a:t>Material</a:t>
            </a:r>
            <a:endParaRPr sz="600" dirty="0">
              <a:latin typeface="Microsoft Sans Serif"/>
              <a:cs typeface="Microsoft Sans Serif"/>
            </a:endParaRP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303995" y="0"/>
            <a:ext cx="2304008" cy="366928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2679966" y="129636"/>
            <a:ext cx="1438910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900" b="1" spc="-20" dirty="0">
                <a:solidFill>
                  <a:srgbClr val="FFFFFF"/>
                </a:solidFill>
                <a:latin typeface="Trebuchet MS"/>
                <a:cs typeface="Trebuchet MS"/>
              </a:rPr>
              <a:t>German</a:t>
            </a:r>
            <a:r>
              <a:rPr sz="900" b="1" spc="40" dirty="0">
                <a:solidFill>
                  <a:srgbClr val="FFFFFF"/>
                </a:solidFill>
                <a:latin typeface="Trebuchet MS"/>
                <a:cs typeface="Trebuchet MS"/>
              </a:rPr>
              <a:t> </a:t>
            </a:r>
            <a:r>
              <a:rPr sz="900" b="1" spc="-25" dirty="0">
                <a:solidFill>
                  <a:srgbClr val="FFFFFF"/>
                </a:solidFill>
                <a:latin typeface="Trebuchet MS"/>
                <a:cs typeface="Trebuchet MS"/>
              </a:rPr>
              <a:t>University</a:t>
            </a:r>
            <a:r>
              <a:rPr sz="900" b="1" spc="45" dirty="0">
                <a:solidFill>
                  <a:srgbClr val="FFFFFF"/>
                </a:solidFill>
                <a:latin typeface="Trebuchet MS"/>
                <a:cs typeface="Trebuchet MS"/>
              </a:rPr>
              <a:t> </a:t>
            </a:r>
            <a:r>
              <a:rPr sz="900" b="1" spc="-35" dirty="0">
                <a:solidFill>
                  <a:srgbClr val="FFFFFF"/>
                </a:solidFill>
                <a:latin typeface="Trebuchet MS"/>
                <a:cs typeface="Trebuchet MS"/>
              </a:rPr>
              <a:t>in</a:t>
            </a:r>
            <a:r>
              <a:rPr sz="900" b="1" spc="40" dirty="0">
                <a:solidFill>
                  <a:srgbClr val="FFFFFF"/>
                </a:solidFill>
                <a:latin typeface="Trebuchet MS"/>
                <a:cs typeface="Trebuchet MS"/>
              </a:rPr>
              <a:t> </a:t>
            </a:r>
            <a:r>
              <a:rPr sz="900" b="1" spc="-15" dirty="0">
                <a:solidFill>
                  <a:srgbClr val="FFFFFF"/>
                </a:solidFill>
                <a:latin typeface="Trebuchet MS"/>
                <a:cs typeface="Trebuchet MS"/>
              </a:rPr>
              <a:t>Cairo</a:t>
            </a:r>
            <a:endParaRPr sz="900">
              <a:latin typeface="Trebuchet MS"/>
              <a:cs typeface="Trebuchet MS"/>
            </a:endParaRPr>
          </a:p>
        </p:txBody>
      </p:sp>
      <p:pic>
        <p:nvPicPr>
          <p:cNvPr id="5" name="object 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0" y="366911"/>
            <a:ext cx="4604410" cy="260646"/>
          </a:xfrm>
          <a:prstGeom prst="rect">
            <a:avLst/>
          </a:prstGeom>
        </p:spPr>
      </p:pic>
      <p:sp>
        <p:nvSpPr>
          <p:cNvPr id="6" name="object 6"/>
          <p:cNvSpPr txBox="1"/>
          <p:nvPr/>
        </p:nvSpPr>
        <p:spPr>
          <a:xfrm>
            <a:off x="197218" y="364347"/>
            <a:ext cx="1042035" cy="24447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400" spc="10" dirty="0">
                <a:solidFill>
                  <a:srgbClr val="FFFFFF"/>
                </a:solidFill>
                <a:latin typeface="Trebuchet MS"/>
                <a:cs typeface="Trebuchet MS"/>
              </a:rPr>
              <a:t>Why</a:t>
            </a:r>
            <a:r>
              <a:rPr sz="1400" spc="-20" dirty="0">
                <a:solidFill>
                  <a:srgbClr val="FFFFFF"/>
                </a:solidFill>
                <a:latin typeface="Trebuchet MS"/>
                <a:cs typeface="Trebuchet MS"/>
              </a:rPr>
              <a:t> </a:t>
            </a:r>
            <a:r>
              <a:rPr sz="1400" dirty="0">
                <a:solidFill>
                  <a:srgbClr val="FFFFFF"/>
                </a:solidFill>
                <a:latin typeface="Trebuchet MS"/>
                <a:cs typeface="Trebuchet MS"/>
              </a:rPr>
              <a:t>Python?</a:t>
            </a:r>
            <a:endParaRPr sz="1400">
              <a:latin typeface="Trebuchet MS"/>
              <a:cs typeface="Trebuchet MS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334594" y="815975"/>
            <a:ext cx="3934460" cy="2210476"/>
          </a:xfrm>
          <a:prstGeom prst="rect">
            <a:avLst/>
          </a:prstGeom>
        </p:spPr>
        <p:txBody>
          <a:bodyPr vert="horz" wrap="square" lIns="0" tIns="55244" rIns="0" bIns="0" rtlCol="0">
            <a:spAutoFit/>
          </a:bodyPr>
          <a:lstStyle/>
          <a:p>
            <a:pPr marL="302260" indent="-139065">
              <a:lnSpc>
                <a:spcPct val="100000"/>
              </a:lnSpc>
              <a:spcBef>
                <a:spcPts val="434"/>
              </a:spcBef>
              <a:buClr>
                <a:srgbClr val="8C2054"/>
              </a:buClr>
              <a:buFont typeface="Arial"/>
              <a:buChar char="•"/>
              <a:tabLst>
                <a:tab pos="302895" algn="l"/>
              </a:tabLst>
            </a:pPr>
            <a:r>
              <a:rPr sz="1100" spc="-30" dirty="0">
                <a:latin typeface="Microsoft Sans Serif"/>
                <a:cs typeface="Microsoft Sans Serif"/>
              </a:rPr>
              <a:t>Highly</a:t>
            </a:r>
            <a:r>
              <a:rPr sz="1100" spc="65" dirty="0">
                <a:latin typeface="Microsoft Sans Serif"/>
                <a:cs typeface="Microsoft Sans Serif"/>
              </a:rPr>
              <a:t> </a:t>
            </a:r>
            <a:r>
              <a:rPr sz="1100" spc="-65" dirty="0">
                <a:latin typeface="Microsoft Sans Serif"/>
                <a:cs typeface="Microsoft Sans Serif"/>
              </a:rPr>
              <a:t>requested</a:t>
            </a:r>
            <a:r>
              <a:rPr sz="1100" spc="70" dirty="0">
                <a:latin typeface="Microsoft Sans Serif"/>
                <a:cs typeface="Microsoft Sans Serif"/>
              </a:rPr>
              <a:t> </a:t>
            </a:r>
            <a:r>
              <a:rPr sz="1100" spc="-20" dirty="0">
                <a:latin typeface="Microsoft Sans Serif"/>
                <a:cs typeface="Microsoft Sans Serif"/>
              </a:rPr>
              <a:t>in</a:t>
            </a:r>
            <a:r>
              <a:rPr sz="1100" spc="65" dirty="0">
                <a:latin typeface="Microsoft Sans Serif"/>
                <a:cs typeface="Microsoft Sans Serif"/>
              </a:rPr>
              <a:t> </a:t>
            </a:r>
            <a:r>
              <a:rPr sz="1100" spc="-30" dirty="0">
                <a:latin typeface="Microsoft Sans Serif"/>
                <a:cs typeface="Microsoft Sans Serif"/>
              </a:rPr>
              <a:t>job</a:t>
            </a:r>
            <a:r>
              <a:rPr sz="1100" spc="70" dirty="0">
                <a:latin typeface="Microsoft Sans Serif"/>
                <a:cs typeface="Microsoft Sans Serif"/>
              </a:rPr>
              <a:t> </a:t>
            </a:r>
            <a:r>
              <a:rPr sz="1100" spc="-35" dirty="0">
                <a:latin typeface="Microsoft Sans Serif"/>
                <a:cs typeface="Microsoft Sans Serif"/>
              </a:rPr>
              <a:t>qualifications</a:t>
            </a:r>
            <a:endParaRPr sz="1100" dirty="0">
              <a:latin typeface="Microsoft Sans Serif"/>
              <a:cs typeface="Microsoft Sans Serif"/>
            </a:endParaRPr>
          </a:p>
          <a:p>
            <a:pPr marL="302260" indent="-139065">
              <a:lnSpc>
                <a:spcPct val="100000"/>
              </a:lnSpc>
              <a:spcBef>
                <a:spcPts val="334"/>
              </a:spcBef>
              <a:buClr>
                <a:srgbClr val="8C2054"/>
              </a:buClr>
              <a:buFont typeface="Arial"/>
              <a:buChar char="•"/>
              <a:tabLst>
                <a:tab pos="302895" algn="l"/>
              </a:tabLst>
            </a:pPr>
            <a:r>
              <a:rPr sz="1100" spc="-40" dirty="0">
                <a:latin typeface="Microsoft Sans Serif"/>
                <a:cs typeface="Microsoft Sans Serif"/>
              </a:rPr>
              <a:t>Familiar</a:t>
            </a:r>
            <a:r>
              <a:rPr lang="en-US" sz="1100" spc="55" dirty="0">
                <a:latin typeface="Microsoft Sans Serif"/>
                <a:cs typeface="Microsoft Sans Serif"/>
              </a:rPr>
              <a:t> </a:t>
            </a:r>
            <a:r>
              <a:rPr lang="en-US" sz="1100" spc="-25" dirty="0">
                <a:latin typeface="Microsoft Sans Serif"/>
                <a:cs typeface="Microsoft Sans Serif"/>
              </a:rPr>
              <a:t>from</a:t>
            </a:r>
            <a:r>
              <a:rPr sz="1100" spc="55" dirty="0">
                <a:latin typeface="Microsoft Sans Serif"/>
                <a:cs typeface="Microsoft Sans Serif"/>
              </a:rPr>
              <a:t> </a:t>
            </a:r>
            <a:r>
              <a:rPr sz="1100" spc="-85" dirty="0">
                <a:latin typeface="Microsoft Sans Serif"/>
                <a:cs typeface="Microsoft Sans Serif"/>
              </a:rPr>
              <a:t>CSEN102</a:t>
            </a:r>
            <a:endParaRPr sz="1100" dirty="0">
              <a:latin typeface="Microsoft Sans Serif"/>
              <a:cs typeface="Microsoft Sans Serif"/>
            </a:endParaRPr>
          </a:p>
          <a:p>
            <a:pPr marL="302260" indent="-139065">
              <a:lnSpc>
                <a:spcPct val="100000"/>
              </a:lnSpc>
              <a:spcBef>
                <a:spcPts val="330"/>
              </a:spcBef>
              <a:buClr>
                <a:srgbClr val="8C2054"/>
              </a:buClr>
              <a:buFont typeface="Arial"/>
              <a:buChar char="•"/>
              <a:tabLst>
                <a:tab pos="302895" algn="l"/>
              </a:tabLst>
            </a:pPr>
            <a:r>
              <a:rPr sz="1100" spc="-50" dirty="0">
                <a:latin typeface="Microsoft Sans Serif"/>
                <a:cs typeface="Microsoft Sans Serif"/>
              </a:rPr>
              <a:t>Easy-to-learn</a:t>
            </a:r>
            <a:r>
              <a:rPr sz="1100" spc="65" dirty="0">
                <a:latin typeface="Microsoft Sans Serif"/>
                <a:cs typeface="Microsoft Sans Serif"/>
              </a:rPr>
              <a:t> </a:t>
            </a:r>
            <a:r>
              <a:rPr sz="1100" spc="-65" dirty="0">
                <a:latin typeface="Microsoft Sans Serif"/>
                <a:cs typeface="Microsoft Sans Serif"/>
              </a:rPr>
              <a:t>and</a:t>
            </a:r>
            <a:r>
              <a:rPr sz="1100" spc="70" dirty="0">
                <a:latin typeface="Microsoft Sans Serif"/>
                <a:cs typeface="Microsoft Sans Serif"/>
              </a:rPr>
              <a:t> </a:t>
            </a:r>
            <a:r>
              <a:rPr sz="1100" spc="-35" dirty="0">
                <a:latin typeface="Microsoft Sans Serif"/>
                <a:cs typeface="Microsoft Sans Serif"/>
              </a:rPr>
              <a:t>highly</a:t>
            </a:r>
            <a:r>
              <a:rPr sz="1100" spc="70" dirty="0">
                <a:latin typeface="Microsoft Sans Serif"/>
                <a:cs typeface="Microsoft Sans Serif"/>
              </a:rPr>
              <a:t> </a:t>
            </a:r>
            <a:r>
              <a:rPr sz="1100" spc="-65" dirty="0">
                <a:latin typeface="Microsoft Sans Serif"/>
                <a:cs typeface="Microsoft Sans Serif"/>
              </a:rPr>
              <a:t>readable</a:t>
            </a:r>
            <a:r>
              <a:rPr sz="1100" spc="65" dirty="0">
                <a:latin typeface="Microsoft Sans Serif"/>
                <a:cs typeface="Microsoft Sans Serif"/>
              </a:rPr>
              <a:t> </a:t>
            </a:r>
            <a:r>
              <a:rPr sz="1100" spc="-70" dirty="0">
                <a:latin typeface="Microsoft Sans Serif"/>
                <a:cs typeface="Microsoft Sans Serif"/>
              </a:rPr>
              <a:t>language</a:t>
            </a:r>
            <a:endParaRPr sz="1100" dirty="0">
              <a:latin typeface="Microsoft Sans Serif"/>
              <a:cs typeface="Microsoft Sans Serif"/>
            </a:endParaRPr>
          </a:p>
          <a:p>
            <a:pPr marL="302260" indent="-139065">
              <a:lnSpc>
                <a:spcPct val="100000"/>
              </a:lnSpc>
              <a:spcBef>
                <a:spcPts val="335"/>
              </a:spcBef>
              <a:buClr>
                <a:srgbClr val="8C2054"/>
              </a:buClr>
              <a:buFont typeface="Arial"/>
              <a:buChar char="•"/>
              <a:tabLst>
                <a:tab pos="302895" algn="l"/>
              </a:tabLst>
            </a:pPr>
            <a:r>
              <a:rPr sz="1100" spc="-70" dirty="0">
                <a:latin typeface="Microsoft Sans Serif"/>
                <a:cs typeface="Microsoft Sans Serif"/>
              </a:rPr>
              <a:t>General-purpose</a:t>
            </a:r>
            <a:r>
              <a:rPr sz="1100" spc="65" dirty="0">
                <a:latin typeface="Microsoft Sans Serif"/>
                <a:cs typeface="Microsoft Sans Serif"/>
              </a:rPr>
              <a:t> </a:t>
            </a:r>
            <a:r>
              <a:rPr sz="1100" spc="-45" dirty="0">
                <a:latin typeface="Microsoft Sans Serif"/>
                <a:cs typeface="Microsoft Sans Serif"/>
              </a:rPr>
              <a:t>programming</a:t>
            </a:r>
            <a:r>
              <a:rPr sz="1100" spc="60" dirty="0">
                <a:latin typeface="Microsoft Sans Serif"/>
                <a:cs typeface="Microsoft Sans Serif"/>
              </a:rPr>
              <a:t> </a:t>
            </a:r>
            <a:r>
              <a:rPr sz="1100" spc="-70" dirty="0">
                <a:latin typeface="Microsoft Sans Serif"/>
                <a:cs typeface="Microsoft Sans Serif"/>
              </a:rPr>
              <a:t>language</a:t>
            </a:r>
            <a:endParaRPr sz="1100" dirty="0">
              <a:latin typeface="Microsoft Sans Serif"/>
              <a:cs typeface="Microsoft Sans Serif"/>
            </a:endParaRPr>
          </a:p>
          <a:p>
            <a:pPr marL="302260" marR="299720" indent="-139065">
              <a:lnSpc>
                <a:spcPct val="102600"/>
              </a:lnSpc>
              <a:spcBef>
                <a:spcPts val="300"/>
              </a:spcBef>
              <a:buClr>
                <a:srgbClr val="8C2054"/>
              </a:buClr>
              <a:buFont typeface="Arial"/>
              <a:buChar char="•"/>
              <a:tabLst>
                <a:tab pos="302895" algn="l"/>
              </a:tabLst>
            </a:pPr>
            <a:r>
              <a:rPr sz="1100" spc="-50" dirty="0">
                <a:latin typeface="Microsoft Sans Serif"/>
                <a:cs typeface="Microsoft Sans Serif"/>
              </a:rPr>
              <a:t>Rich</a:t>
            </a:r>
            <a:r>
              <a:rPr sz="1100" spc="70" dirty="0">
                <a:latin typeface="Microsoft Sans Serif"/>
                <a:cs typeface="Microsoft Sans Serif"/>
              </a:rPr>
              <a:t> </a:t>
            </a:r>
            <a:r>
              <a:rPr sz="1100" spc="-65" dirty="0">
                <a:latin typeface="Microsoft Sans Serif"/>
                <a:cs typeface="Microsoft Sans Serif"/>
              </a:rPr>
              <a:t>and</a:t>
            </a:r>
            <a:r>
              <a:rPr sz="1100" spc="70" dirty="0">
                <a:latin typeface="Microsoft Sans Serif"/>
                <a:cs typeface="Microsoft Sans Serif"/>
              </a:rPr>
              <a:t> </a:t>
            </a:r>
            <a:r>
              <a:rPr sz="1100" spc="-40" dirty="0">
                <a:latin typeface="Microsoft Sans Serif"/>
                <a:cs typeface="Microsoft Sans Serif"/>
              </a:rPr>
              <a:t>mature</a:t>
            </a:r>
            <a:r>
              <a:rPr sz="1100" spc="70" dirty="0">
                <a:latin typeface="Microsoft Sans Serif"/>
                <a:cs typeface="Microsoft Sans Serif"/>
              </a:rPr>
              <a:t> </a:t>
            </a:r>
            <a:r>
              <a:rPr sz="1100" spc="-35" dirty="0">
                <a:latin typeface="Microsoft Sans Serif"/>
                <a:cs typeface="Microsoft Sans Serif"/>
              </a:rPr>
              <a:t>library</a:t>
            </a:r>
            <a:r>
              <a:rPr sz="1100" spc="70" dirty="0">
                <a:latin typeface="Microsoft Sans Serif"/>
                <a:cs typeface="Microsoft Sans Serif"/>
              </a:rPr>
              <a:t> </a:t>
            </a:r>
            <a:r>
              <a:rPr sz="1100" spc="-75" dirty="0">
                <a:latin typeface="Microsoft Sans Serif"/>
                <a:cs typeface="Microsoft Sans Serif"/>
              </a:rPr>
              <a:t>ecosystem</a:t>
            </a:r>
            <a:r>
              <a:rPr sz="1100" spc="70" dirty="0">
                <a:latin typeface="Microsoft Sans Serif"/>
                <a:cs typeface="Microsoft Sans Serif"/>
              </a:rPr>
              <a:t> </a:t>
            </a:r>
            <a:r>
              <a:rPr sz="1100" spc="-25" dirty="0">
                <a:latin typeface="Microsoft Sans Serif"/>
                <a:cs typeface="Microsoft Sans Serif"/>
              </a:rPr>
              <a:t>for</a:t>
            </a:r>
            <a:r>
              <a:rPr sz="1100" spc="75" dirty="0">
                <a:latin typeface="Microsoft Sans Serif"/>
                <a:cs typeface="Microsoft Sans Serif"/>
              </a:rPr>
              <a:t> </a:t>
            </a:r>
            <a:r>
              <a:rPr sz="1100" spc="-35" dirty="0">
                <a:latin typeface="Microsoft Sans Serif"/>
                <a:cs typeface="Microsoft Sans Serif"/>
              </a:rPr>
              <a:t>data</a:t>
            </a:r>
            <a:r>
              <a:rPr sz="1100" spc="70" dirty="0">
                <a:latin typeface="Microsoft Sans Serif"/>
                <a:cs typeface="Microsoft Sans Serif"/>
              </a:rPr>
              <a:t> </a:t>
            </a:r>
            <a:r>
              <a:rPr sz="1100" spc="-80" dirty="0">
                <a:latin typeface="Microsoft Sans Serif"/>
                <a:cs typeface="Microsoft Sans Serif"/>
              </a:rPr>
              <a:t>science</a:t>
            </a:r>
            <a:r>
              <a:rPr sz="1100" spc="70" dirty="0">
                <a:latin typeface="Microsoft Sans Serif"/>
                <a:cs typeface="Microsoft Sans Serif"/>
              </a:rPr>
              <a:t> </a:t>
            </a:r>
            <a:r>
              <a:rPr sz="1100" spc="-50" dirty="0">
                <a:latin typeface="Microsoft Sans Serif"/>
                <a:cs typeface="Microsoft Sans Serif"/>
              </a:rPr>
              <a:t>tasks; </a:t>
            </a:r>
            <a:r>
              <a:rPr sz="1100" spc="-275" dirty="0">
                <a:latin typeface="Microsoft Sans Serif"/>
                <a:cs typeface="Microsoft Sans Serif"/>
              </a:rPr>
              <a:t> </a:t>
            </a:r>
            <a:r>
              <a:rPr sz="1100" spc="-60" dirty="0">
                <a:latin typeface="Microsoft Sans Serif"/>
                <a:cs typeface="Microsoft Sans Serif"/>
              </a:rPr>
              <a:t>large</a:t>
            </a:r>
            <a:r>
              <a:rPr sz="1100" spc="65" dirty="0">
                <a:latin typeface="Microsoft Sans Serif"/>
                <a:cs typeface="Microsoft Sans Serif"/>
              </a:rPr>
              <a:t> </a:t>
            </a:r>
            <a:r>
              <a:rPr sz="1100" spc="-35" dirty="0">
                <a:latin typeface="Microsoft Sans Serif"/>
                <a:cs typeface="Microsoft Sans Serif"/>
              </a:rPr>
              <a:t>community</a:t>
            </a:r>
            <a:endParaRPr sz="1100" dirty="0">
              <a:latin typeface="Microsoft Sans Serif"/>
              <a:cs typeface="Microsoft Sans Serif"/>
            </a:endParaRPr>
          </a:p>
          <a:p>
            <a:pPr marL="302260" marR="231140" indent="-139065">
              <a:lnSpc>
                <a:spcPct val="102600"/>
              </a:lnSpc>
              <a:spcBef>
                <a:spcPts val="300"/>
              </a:spcBef>
              <a:buClr>
                <a:srgbClr val="8C2054"/>
              </a:buClr>
              <a:buFont typeface="Arial"/>
              <a:buChar char="•"/>
              <a:tabLst>
                <a:tab pos="302895" algn="l"/>
              </a:tabLst>
            </a:pPr>
            <a:r>
              <a:rPr sz="1100" spc="-45" dirty="0">
                <a:latin typeface="Microsoft Sans Serif"/>
                <a:cs typeface="Microsoft Sans Serif"/>
              </a:rPr>
              <a:t>Also:</a:t>
            </a:r>
            <a:r>
              <a:rPr sz="1100" spc="185" dirty="0">
                <a:latin typeface="Microsoft Sans Serif"/>
                <a:cs typeface="Microsoft Sans Serif"/>
              </a:rPr>
              <a:t> </a:t>
            </a:r>
            <a:r>
              <a:rPr sz="1100" spc="-35" dirty="0">
                <a:latin typeface="Microsoft Sans Serif"/>
                <a:cs typeface="Microsoft Sans Serif"/>
              </a:rPr>
              <a:t>cutting-edge</a:t>
            </a:r>
            <a:r>
              <a:rPr sz="1100" spc="70" dirty="0">
                <a:latin typeface="Microsoft Sans Serif"/>
                <a:cs typeface="Microsoft Sans Serif"/>
              </a:rPr>
              <a:t> </a:t>
            </a:r>
            <a:r>
              <a:rPr sz="1100" spc="45" dirty="0">
                <a:latin typeface="Microsoft Sans Serif"/>
                <a:cs typeface="Microsoft Sans Serif"/>
              </a:rPr>
              <a:t>ML/DL</a:t>
            </a:r>
            <a:r>
              <a:rPr sz="1100" spc="65" dirty="0">
                <a:latin typeface="Microsoft Sans Serif"/>
                <a:cs typeface="Microsoft Sans Serif"/>
              </a:rPr>
              <a:t> </a:t>
            </a:r>
            <a:r>
              <a:rPr sz="1100" spc="-60" dirty="0">
                <a:latin typeface="Microsoft Sans Serif"/>
                <a:cs typeface="Microsoft Sans Serif"/>
              </a:rPr>
              <a:t>models;</a:t>
            </a:r>
            <a:r>
              <a:rPr sz="1100" spc="70" dirty="0">
                <a:latin typeface="Microsoft Sans Serif"/>
                <a:cs typeface="Microsoft Sans Serif"/>
              </a:rPr>
              <a:t> </a:t>
            </a:r>
            <a:r>
              <a:rPr sz="1100" dirty="0">
                <a:latin typeface="Microsoft Sans Serif"/>
                <a:cs typeface="Microsoft Sans Serif"/>
              </a:rPr>
              <a:t>text</a:t>
            </a:r>
            <a:r>
              <a:rPr sz="1100" spc="65" dirty="0">
                <a:latin typeface="Microsoft Sans Serif"/>
                <a:cs typeface="Microsoft Sans Serif"/>
              </a:rPr>
              <a:t> </a:t>
            </a:r>
            <a:r>
              <a:rPr sz="1100" spc="-30" dirty="0">
                <a:latin typeface="Microsoft Sans Serif"/>
                <a:cs typeface="Microsoft Sans Serif"/>
              </a:rPr>
              <a:t>mining,</a:t>
            </a:r>
            <a:r>
              <a:rPr sz="1100" spc="70" dirty="0">
                <a:latin typeface="Microsoft Sans Serif"/>
                <a:cs typeface="Microsoft Sans Serif"/>
              </a:rPr>
              <a:t> </a:t>
            </a:r>
            <a:r>
              <a:rPr sz="1100" spc="-40" dirty="0">
                <a:latin typeface="Microsoft Sans Serif"/>
                <a:cs typeface="Microsoft Sans Serif"/>
              </a:rPr>
              <a:t>sentiment </a:t>
            </a:r>
            <a:r>
              <a:rPr sz="1100" spc="-280" dirty="0">
                <a:latin typeface="Microsoft Sans Serif"/>
                <a:cs typeface="Microsoft Sans Serif"/>
              </a:rPr>
              <a:t> </a:t>
            </a:r>
            <a:r>
              <a:rPr sz="1100" spc="-60" dirty="0">
                <a:latin typeface="Microsoft Sans Serif"/>
                <a:cs typeface="Microsoft Sans Serif"/>
              </a:rPr>
              <a:t>analysis;</a:t>
            </a:r>
            <a:r>
              <a:rPr sz="1100" spc="70" dirty="0">
                <a:latin typeface="Microsoft Sans Serif"/>
                <a:cs typeface="Microsoft Sans Serif"/>
              </a:rPr>
              <a:t> </a:t>
            </a:r>
            <a:r>
              <a:rPr sz="1100" spc="-40" dirty="0">
                <a:latin typeface="Microsoft Sans Serif"/>
                <a:cs typeface="Microsoft Sans Serif"/>
              </a:rPr>
              <a:t>big</a:t>
            </a:r>
            <a:r>
              <a:rPr sz="1100" spc="70" dirty="0">
                <a:latin typeface="Microsoft Sans Serif"/>
                <a:cs typeface="Microsoft Sans Serif"/>
              </a:rPr>
              <a:t> </a:t>
            </a:r>
            <a:r>
              <a:rPr sz="1100" spc="-40" dirty="0">
                <a:latin typeface="Microsoft Sans Serif"/>
                <a:cs typeface="Microsoft Sans Serif"/>
              </a:rPr>
              <a:t>data</a:t>
            </a:r>
            <a:r>
              <a:rPr sz="1100" spc="70" dirty="0">
                <a:latin typeface="Microsoft Sans Serif"/>
                <a:cs typeface="Microsoft Sans Serif"/>
              </a:rPr>
              <a:t> </a:t>
            </a:r>
            <a:r>
              <a:rPr sz="1100" spc="-40" dirty="0">
                <a:latin typeface="Microsoft Sans Serif"/>
                <a:cs typeface="Microsoft Sans Serif"/>
              </a:rPr>
              <a:t>analytics,</a:t>
            </a:r>
            <a:r>
              <a:rPr sz="1100" spc="70" dirty="0">
                <a:latin typeface="Microsoft Sans Serif"/>
                <a:cs typeface="Microsoft Sans Serif"/>
              </a:rPr>
              <a:t> </a:t>
            </a:r>
            <a:r>
              <a:rPr sz="1100" spc="-85" dirty="0">
                <a:latin typeface="Microsoft Sans Serif"/>
                <a:cs typeface="Microsoft Sans Serif"/>
              </a:rPr>
              <a:t>process</a:t>
            </a:r>
            <a:r>
              <a:rPr sz="1100" spc="70" dirty="0">
                <a:latin typeface="Microsoft Sans Serif"/>
                <a:cs typeface="Microsoft Sans Serif"/>
              </a:rPr>
              <a:t> </a:t>
            </a:r>
            <a:r>
              <a:rPr sz="1100" spc="-35" dirty="0">
                <a:latin typeface="Microsoft Sans Serif"/>
                <a:cs typeface="Microsoft Sans Serif"/>
              </a:rPr>
              <a:t>mining</a:t>
            </a:r>
            <a:endParaRPr lang="en-US" sz="1100" spc="-35" dirty="0">
              <a:latin typeface="Microsoft Sans Serif"/>
              <a:cs typeface="Microsoft Sans Serif"/>
            </a:endParaRPr>
          </a:p>
          <a:p>
            <a:pPr marL="163195" marR="231140">
              <a:lnSpc>
                <a:spcPct val="102600"/>
              </a:lnSpc>
              <a:spcBef>
                <a:spcPts val="300"/>
              </a:spcBef>
              <a:buClr>
                <a:srgbClr val="8C2054"/>
              </a:buClr>
              <a:tabLst>
                <a:tab pos="302895" algn="l"/>
              </a:tabLst>
            </a:pPr>
            <a:endParaRPr sz="1100" dirty="0">
              <a:latin typeface="Microsoft Sans Serif"/>
              <a:cs typeface="Microsoft Sans Serif"/>
            </a:endParaRPr>
          </a:p>
          <a:p>
            <a:pPr marL="25400" marR="17780">
              <a:lnSpc>
                <a:spcPct val="102600"/>
              </a:lnSpc>
              <a:spcBef>
                <a:spcPts val="300"/>
              </a:spcBef>
            </a:pPr>
            <a:r>
              <a:rPr sz="1100" spc="5" dirty="0">
                <a:latin typeface="Microsoft Sans Serif"/>
                <a:cs typeface="Microsoft Sans Serif"/>
              </a:rPr>
              <a:t>That</a:t>
            </a:r>
            <a:r>
              <a:rPr sz="1100" spc="70" dirty="0">
                <a:latin typeface="Microsoft Sans Serif"/>
                <a:cs typeface="Microsoft Sans Serif"/>
              </a:rPr>
              <a:t> </a:t>
            </a:r>
            <a:r>
              <a:rPr sz="1100" spc="-55" dirty="0">
                <a:latin typeface="Microsoft Sans Serif"/>
                <a:cs typeface="Microsoft Sans Serif"/>
              </a:rPr>
              <a:t>said,</a:t>
            </a:r>
            <a:r>
              <a:rPr sz="1100" spc="70" dirty="0">
                <a:latin typeface="Microsoft Sans Serif"/>
                <a:cs typeface="Microsoft Sans Serif"/>
              </a:rPr>
              <a:t> </a:t>
            </a:r>
            <a:r>
              <a:rPr sz="1100" spc="-30" dirty="0">
                <a:latin typeface="Microsoft Sans Serif"/>
                <a:cs typeface="Microsoft Sans Serif"/>
              </a:rPr>
              <a:t>the</a:t>
            </a:r>
            <a:r>
              <a:rPr sz="1100" spc="70" dirty="0">
                <a:latin typeface="Microsoft Sans Serif"/>
                <a:cs typeface="Microsoft Sans Serif"/>
              </a:rPr>
              <a:t> </a:t>
            </a:r>
            <a:r>
              <a:rPr sz="1100" spc="-5" dirty="0">
                <a:latin typeface="Microsoft Sans Serif"/>
                <a:cs typeface="Microsoft Sans Serif"/>
              </a:rPr>
              <a:t>tool</a:t>
            </a:r>
            <a:r>
              <a:rPr sz="1100" spc="75" dirty="0">
                <a:latin typeface="Microsoft Sans Serif"/>
                <a:cs typeface="Microsoft Sans Serif"/>
              </a:rPr>
              <a:t> </a:t>
            </a:r>
            <a:r>
              <a:rPr sz="1100" spc="-65" dirty="0">
                <a:latin typeface="Microsoft Sans Serif"/>
                <a:cs typeface="Microsoft Sans Serif"/>
              </a:rPr>
              <a:t>is</a:t>
            </a:r>
            <a:r>
              <a:rPr sz="1100" spc="70" dirty="0">
                <a:latin typeface="Microsoft Sans Serif"/>
                <a:cs typeface="Microsoft Sans Serif"/>
              </a:rPr>
              <a:t> </a:t>
            </a:r>
            <a:r>
              <a:rPr sz="1100" spc="-15" dirty="0">
                <a:latin typeface="Microsoft Sans Serif"/>
                <a:cs typeface="Microsoft Sans Serif"/>
              </a:rPr>
              <a:t>just</a:t>
            </a:r>
            <a:r>
              <a:rPr sz="1100" spc="70" dirty="0">
                <a:latin typeface="Microsoft Sans Serif"/>
                <a:cs typeface="Microsoft Sans Serif"/>
              </a:rPr>
              <a:t> </a:t>
            </a:r>
            <a:r>
              <a:rPr sz="1100" spc="-90" dirty="0">
                <a:latin typeface="Microsoft Sans Serif"/>
                <a:cs typeface="Microsoft Sans Serif"/>
              </a:rPr>
              <a:t>a</a:t>
            </a:r>
            <a:r>
              <a:rPr sz="1100" spc="75" dirty="0">
                <a:latin typeface="Microsoft Sans Serif"/>
                <a:cs typeface="Microsoft Sans Serif"/>
              </a:rPr>
              <a:t> </a:t>
            </a:r>
            <a:r>
              <a:rPr sz="1100" spc="-90" dirty="0">
                <a:latin typeface="Microsoft Sans Serif"/>
                <a:cs typeface="Microsoft Sans Serif"/>
              </a:rPr>
              <a:t>means</a:t>
            </a:r>
            <a:r>
              <a:rPr sz="1100" spc="70" dirty="0">
                <a:latin typeface="Microsoft Sans Serif"/>
                <a:cs typeface="Microsoft Sans Serif"/>
              </a:rPr>
              <a:t> </a:t>
            </a:r>
            <a:r>
              <a:rPr sz="1100" spc="10" dirty="0">
                <a:latin typeface="Microsoft Sans Serif"/>
                <a:cs typeface="Microsoft Sans Serif"/>
              </a:rPr>
              <a:t>to</a:t>
            </a:r>
            <a:r>
              <a:rPr sz="1100" spc="70" dirty="0">
                <a:latin typeface="Microsoft Sans Serif"/>
                <a:cs typeface="Microsoft Sans Serif"/>
              </a:rPr>
              <a:t> </a:t>
            </a:r>
            <a:r>
              <a:rPr sz="1100" spc="-70" dirty="0">
                <a:latin typeface="Microsoft Sans Serif"/>
                <a:cs typeface="Microsoft Sans Serif"/>
              </a:rPr>
              <a:t>an</a:t>
            </a:r>
            <a:r>
              <a:rPr sz="1100" spc="70" dirty="0">
                <a:latin typeface="Microsoft Sans Serif"/>
                <a:cs typeface="Microsoft Sans Serif"/>
              </a:rPr>
              <a:t> </a:t>
            </a:r>
            <a:r>
              <a:rPr sz="1100" spc="-60" dirty="0">
                <a:latin typeface="Microsoft Sans Serif"/>
                <a:cs typeface="Microsoft Sans Serif"/>
              </a:rPr>
              <a:t>end.</a:t>
            </a:r>
            <a:r>
              <a:rPr sz="1100" spc="-35" dirty="0">
                <a:latin typeface="Microsoft Sans Serif"/>
                <a:cs typeface="Microsoft Sans Serif"/>
              </a:rPr>
              <a:t> </a:t>
            </a:r>
            <a:r>
              <a:rPr sz="1100" spc="-40" dirty="0">
                <a:latin typeface="Microsoft Sans Serif"/>
                <a:cs typeface="Microsoft Sans Serif"/>
              </a:rPr>
              <a:t>The</a:t>
            </a:r>
            <a:r>
              <a:rPr sz="1100" spc="75" dirty="0">
                <a:latin typeface="Microsoft Sans Serif"/>
                <a:cs typeface="Microsoft Sans Serif"/>
              </a:rPr>
              <a:t> </a:t>
            </a:r>
            <a:r>
              <a:rPr sz="1100" spc="-85" dirty="0">
                <a:latin typeface="Microsoft Sans Serif"/>
                <a:cs typeface="Microsoft Sans Serif"/>
              </a:rPr>
              <a:t>process</a:t>
            </a:r>
            <a:r>
              <a:rPr sz="1100" spc="70" dirty="0">
                <a:latin typeface="Microsoft Sans Serif"/>
                <a:cs typeface="Microsoft Sans Serif"/>
              </a:rPr>
              <a:t> </a:t>
            </a:r>
            <a:r>
              <a:rPr sz="1100" spc="-45" dirty="0">
                <a:latin typeface="Microsoft Sans Serif"/>
                <a:cs typeface="Microsoft Sans Serif"/>
              </a:rPr>
              <a:t>pipeline </a:t>
            </a:r>
            <a:r>
              <a:rPr sz="1100" spc="-280" dirty="0">
                <a:latin typeface="Microsoft Sans Serif"/>
                <a:cs typeface="Microsoft Sans Serif"/>
              </a:rPr>
              <a:t> </a:t>
            </a:r>
            <a:r>
              <a:rPr sz="1100" spc="-65" dirty="0">
                <a:latin typeface="Microsoft Sans Serif"/>
                <a:cs typeface="Microsoft Sans Serif"/>
              </a:rPr>
              <a:t>is</a:t>
            </a:r>
            <a:r>
              <a:rPr sz="1100" spc="65" dirty="0">
                <a:latin typeface="Microsoft Sans Serif"/>
                <a:cs typeface="Microsoft Sans Serif"/>
              </a:rPr>
              <a:t> </a:t>
            </a:r>
            <a:r>
              <a:rPr sz="1100" spc="-55" dirty="0">
                <a:latin typeface="Microsoft Sans Serif"/>
                <a:cs typeface="Microsoft Sans Serif"/>
              </a:rPr>
              <a:t>much</a:t>
            </a:r>
            <a:r>
              <a:rPr sz="1100" spc="70" dirty="0">
                <a:latin typeface="Microsoft Sans Serif"/>
                <a:cs typeface="Microsoft Sans Serif"/>
              </a:rPr>
              <a:t> </a:t>
            </a:r>
            <a:r>
              <a:rPr sz="1100" spc="-70" dirty="0">
                <a:latin typeface="Microsoft Sans Serif"/>
                <a:cs typeface="Microsoft Sans Serif"/>
              </a:rPr>
              <a:t>more</a:t>
            </a:r>
            <a:r>
              <a:rPr sz="1100" spc="70" dirty="0">
                <a:latin typeface="Microsoft Sans Serif"/>
                <a:cs typeface="Microsoft Sans Serif"/>
              </a:rPr>
              <a:t> </a:t>
            </a:r>
            <a:r>
              <a:rPr sz="1100" spc="-15" dirty="0">
                <a:latin typeface="Microsoft Sans Serif"/>
                <a:cs typeface="Microsoft Sans Serif"/>
              </a:rPr>
              <a:t>important</a:t>
            </a:r>
            <a:r>
              <a:rPr sz="1100" spc="70" dirty="0">
                <a:latin typeface="Microsoft Sans Serif"/>
                <a:cs typeface="Microsoft Sans Serif"/>
              </a:rPr>
              <a:t> </a:t>
            </a:r>
            <a:r>
              <a:rPr sz="1100" spc="-25" dirty="0">
                <a:latin typeface="Microsoft Sans Serif"/>
                <a:cs typeface="Microsoft Sans Serif"/>
              </a:rPr>
              <a:t>than</a:t>
            </a:r>
            <a:r>
              <a:rPr sz="1100" spc="65" dirty="0">
                <a:latin typeface="Microsoft Sans Serif"/>
                <a:cs typeface="Microsoft Sans Serif"/>
              </a:rPr>
              <a:t> </a:t>
            </a:r>
            <a:r>
              <a:rPr sz="1100" spc="-30" dirty="0">
                <a:latin typeface="Microsoft Sans Serif"/>
                <a:cs typeface="Microsoft Sans Serif"/>
              </a:rPr>
              <a:t>the</a:t>
            </a:r>
            <a:r>
              <a:rPr sz="1100" spc="70" dirty="0">
                <a:latin typeface="Microsoft Sans Serif"/>
                <a:cs typeface="Microsoft Sans Serif"/>
              </a:rPr>
              <a:t> </a:t>
            </a:r>
            <a:r>
              <a:rPr sz="1100" spc="5" dirty="0">
                <a:latin typeface="Microsoft Sans Serif"/>
                <a:cs typeface="Microsoft Sans Serif"/>
              </a:rPr>
              <a:t>tool!</a:t>
            </a:r>
            <a:endParaRPr sz="1100" dirty="0">
              <a:latin typeface="Microsoft Sans Serif"/>
              <a:cs typeface="Microsoft Sans Serif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0" y="3346348"/>
            <a:ext cx="4608195" cy="109855"/>
            <a:chOff x="0" y="3346348"/>
            <a:chExt cx="4608195" cy="109855"/>
          </a:xfrm>
        </p:grpSpPr>
        <p:sp>
          <p:nvSpPr>
            <p:cNvPr id="9" name="object 9"/>
            <p:cNvSpPr/>
            <p:nvPr/>
          </p:nvSpPr>
          <p:spPr>
            <a:xfrm>
              <a:off x="0" y="3346361"/>
              <a:ext cx="2304415" cy="109855"/>
            </a:xfrm>
            <a:custGeom>
              <a:avLst/>
              <a:gdLst/>
              <a:ahLst/>
              <a:cxnLst/>
              <a:rect l="l" t="t" r="r" b="b"/>
              <a:pathLst>
                <a:path w="2304415" h="109854">
                  <a:moveTo>
                    <a:pt x="2303996" y="0"/>
                  </a:moveTo>
                  <a:lnTo>
                    <a:pt x="1151991" y="0"/>
                  </a:lnTo>
                  <a:lnTo>
                    <a:pt x="0" y="0"/>
                  </a:lnTo>
                  <a:lnTo>
                    <a:pt x="0" y="109639"/>
                  </a:lnTo>
                  <a:lnTo>
                    <a:pt x="1151991" y="109639"/>
                  </a:lnTo>
                  <a:lnTo>
                    <a:pt x="2303996" y="109639"/>
                  </a:lnTo>
                  <a:lnTo>
                    <a:pt x="2303996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2303983" y="3346361"/>
              <a:ext cx="2304415" cy="109855"/>
            </a:xfrm>
            <a:custGeom>
              <a:avLst/>
              <a:gdLst/>
              <a:ahLst/>
              <a:cxnLst/>
              <a:rect l="l" t="t" r="r" b="b"/>
              <a:pathLst>
                <a:path w="2304415" h="109854">
                  <a:moveTo>
                    <a:pt x="2303996" y="0"/>
                  </a:moveTo>
                  <a:lnTo>
                    <a:pt x="1920024" y="0"/>
                  </a:lnTo>
                  <a:lnTo>
                    <a:pt x="0" y="0"/>
                  </a:lnTo>
                  <a:lnTo>
                    <a:pt x="0" y="109639"/>
                  </a:lnTo>
                  <a:lnTo>
                    <a:pt x="1920024" y="109639"/>
                  </a:lnTo>
                  <a:lnTo>
                    <a:pt x="2303996" y="109639"/>
                  </a:lnTo>
                  <a:lnTo>
                    <a:pt x="2303996" y="0"/>
                  </a:lnTo>
                  <a:close/>
                </a:path>
              </a:pathLst>
            </a:custGeom>
            <a:solidFill>
              <a:srgbClr val="8C205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object 13"/>
          <p:cNvSpPr txBox="1"/>
          <p:nvPr/>
        </p:nvSpPr>
        <p:spPr>
          <a:xfrm>
            <a:off x="3086696" y="3351784"/>
            <a:ext cx="354965" cy="10223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5"/>
              </a:lnSpc>
            </a:pPr>
            <a:r>
              <a:rPr sz="600" spc="5" dirty="0">
                <a:solidFill>
                  <a:srgbClr val="FFFFFF"/>
                </a:solidFill>
                <a:latin typeface="Microsoft Sans Serif"/>
                <a:cs typeface="Microsoft Sans Serif"/>
              </a:rPr>
              <a:t>Tutorial</a:t>
            </a:r>
            <a:r>
              <a:rPr sz="600" spc="-10" dirty="0">
                <a:solidFill>
                  <a:srgbClr val="FFFFFF"/>
                </a:solidFill>
                <a:latin typeface="Microsoft Sans Serif"/>
                <a:cs typeface="Microsoft Sans Serif"/>
              </a:rPr>
              <a:t> </a:t>
            </a:r>
            <a:r>
              <a:rPr sz="600" spc="-20" dirty="0">
                <a:solidFill>
                  <a:srgbClr val="FFFFFF"/>
                </a:solidFill>
                <a:latin typeface="Microsoft Sans Serif"/>
                <a:cs typeface="Microsoft Sans Serif"/>
              </a:rPr>
              <a:t>1</a:t>
            </a:r>
            <a:endParaRPr sz="600" dirty="0">
              <a:latin typeface="Microsoft Sans Serif"/>
              <a:cs typeface="Microsoft Sans Serif"/>
            </a:endParaRPr>
          </a:p>
        </p:txBody>
      </p:sp>
      <p:sp>
        <p:nvSpPr>
          <p:cNvPr id="14" name="object 12">
            <a:extLst>
              <a:ext uri="{FF2B5EF4-FFF2-40B4-BE49-F238E27FC236}">
                <a16:creationId xmlns:a16="http://schemas.microsoft.com/office/drawing/2014/main" id="{947ED78A-0326-FE77-B91E-DECBC75E0645}"/>
              </a:ext>
            </a:extLst>
          </p:cNvPr>
          <p:cNvSpPr txBox="1">
            <a:spLocks noGrp="1"/>
          </p:cNvSpPr>
          <p:nvPr>
            <p:ph type="dt" sz="half" idx="6"/>
          </p:nvPr>
        </p:nvSpPr>
        <p:spPr>
          <a:xfrm>
            <a:off x="1506396" y="3351784"/>
            <a:ext cx="570053" cy="8976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5"/>
              </a:lnSpc>
            </a:pPr>
            <a:r>
              <a:rPr lang="en-US" spc="10" dirty="0"/>
              <a:t>Summer 2026</a:t>
            </a:r>
            <a:endParaRPr spc="-20" dirty="0"/>
          </a:p>
        </p:txBody>
      </p:sp>
      <p:sp>
        <p:nvSpPr>
          <p:cNvPr id="15" name="Footer Placeholder 10">
            <a:extLst>
              <a:ext uri="{FF2B5EF4-FFF2-40B4-BE49-F238E27FC236}">
                <a16:creationId xmlns:a16="http://schemas.microsoft.com/office/drawing/2014/main" id="{4ACDEEE6-D7F7-1EE9-D688-8FA6D613306B}"/>
              </a:ext>
            </a:extLst>
          </p:cNvPr>
          <p:cNvSpPr>
            <a:spLocks noGrp="1"/>
          </p:cNvSpPr>
          <p:nvPr>
            <p:ph type="ftr" sz="quarter" idx="5"/>
          </p:nvPr>
        </p:nvSpPr>
        <p:spPr>
          <a:xfrm>
            <a:off x="346620" y="3351783"/>
            <a:ext cx="663029" cy="207391"/>
          </a:xfrm>
        </p:spPr>
        <p:txBody>
          <a:bodyPr/>
          <a:lstStyle/>
          <a:p>
            <a:pPr marL="12700">
              <a:lnSpc>
                <a:spcPts val="675"/>
              </a:lnSpc>
            </a:pPr>
            <a:r>
              <a:rPr lang="en-US" spc="-20" dirty="0"/>
              <a:t>By Hazem</a:t>
            </a:r>
            <a:r>
              <a:rPr lang="en-US" spc="-5" dirty="0"/>
              <a:t> </a:t>
            </a:r>
            <a:r>
              <a:rPr lang="en-US" dirty="0"/>
              <a:t>Nabil</a:t>
            </a:r>
          </a:p>
        </p:txBody>
      </p:sp>
      <p:sp>
        <p:nvSpPr>
          <p:cNvPr id="11" name="Slide Number Placeholder 14">
            <a:extLst>
              <a:ext uri="{FF2B5EF4-FFF2-40B4-BE49-F238E27FC236}">
                <a16:creationId xmlns:a16="http://schemas.microsoft.com/office/drawing/2014/main" id="{E08F27AE-6B48-8301-9CDF-795B7FDB2532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>
          <a:xfrm>
            <a:off x="4246994" y="3351784"/>
            <a:ext cx="344804" cy="89768"/>
          </a:xfrm>
        </p:spPr>
        <p:txBody>
          <a:bodyPr/>
          <a:lstStyle/>
          <a:p>
            <a:pPr marL="38100">
              <a:lnSpc>
                <a:spcPts val="675"/>
              </a:lnSpc>
            </a:pPr>
            <a:fld id="{81D60167-4931-47E6-BA6A-407CBD079E47}" type="slidenum">
              <a:rPr lang="en-US" spc="-20" smtClean="0"/>
              <a:t>15</a:t>
            </a:fld>
            <a:r>
              <a:rPr lang="en-US" spc="20" dirty="0"/>
              <a:t> </a:t>
            </a:r>
            <a:r>
              <a:rPr lang="en-US" spc="150" dirty="0"/>
              <a:t>/</a:t>
            </a:r>
            <a:r>
              <a:rPr lang="en-US" spc="20" dirty="0"/>
              <a:t> </a:t>
            </a:r>
            <a:r>
              <a:rPr lang="en-US" spc="-20" dirty="0"/>
              <a:t>20</a:t>
            </a:r>
          </a:p>
        </p:txBody>
      </p:sp>
    </p:spTree>
  </p:cSld>
  <p:clrMapOvr>
    <a:masterClrMapping/>
  </p:clrMapOvr>
  <p:transition>
    <p:cut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268450" y="0"/>
            <a:ext cx="940435" cy="382270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441325" marR="5080" indent="73025" algn="r">
              <a:lnSpc>
                <a:spcPts val="700"/>
              </a:lnSpc>
              <a:spcBef>
                <a:spcPts val="135"/>
              </a:spcBef>
            </a:pPr>
            <a:r>
              <a:rPr sz="600" spc="10" dirty="0">
                <a:solidFill>
                  <a:srgbClr val="7F7F7F"/>
                </a:solidFill>
                <a:latin typeface="Microsoft Sans Serif"/>
                <a:cs typeface="Microsoft Sans Serif"/>
              </a:rPr>
              <a:t>Intr</a:t>
            </a:r>
            <a:r>
              <a:rPr sz="600" spc="30" dirty="0">
                <a:solidFill>
                  <a:srgbClr val="7F7F7F"/>
                </a:solidFill>
                <a:latin typeface="Microsoft Sans Serif"/>
                <a:cs typeface="Microsoft Sans Serif"/>
              </a:rPr>
              <a:t>o</a:t>
            </a:r>
            <a:r>
              <a:rPr sz="600" dirty="0">
                <a:solidFill>
                  <a:srgbClr val="7F7F7F"/>
                </a:solidFill>
                <a:latin typeface="Microsoft Sans Serif"/>
                <a:cs typeface="Microsoft Sans Serif"/>
              </a:rPr>
              <a:t>duction  </a:t>
            </a:r>
            <a:r>
              <a:rPr sz="600" spc="-30" dirty="0">
                <a:solidFill>
                  <a:srgbClr val="7F7F7F"/>
                </a:solidFill>
                <a:latin typeface="Microsoft Sans Serif"/>
                <a:cs typeface="Microsoft Sans Serif"/>
              </a:rPr>
              <a:t>Cours</a:t>
            </a:r>
            <a:r>
              <a:rPr sz="600" spc="-25" dirty="0">
                <a:solidFill>
                  <a:srgbClr val="7F7F7F"/>
                </a:solidFill>
                <a:latin typeface="Microsoft Sans Serif"/>
                <a:cs typeface="Microsoft Sans Serif"/>
              </a:rPr>
              <a:t>e</a:t>
            </a:r>
            <a:r>
              <a:rPr sz="600" spc="50" dirty="0">
                <a:solidFill>
                  <a:srgbClr val="7F7F7F"/>
                </a:solidFill>
                <a:latin typeface="Microsoft Sans Serif"/>
                <a:cs typeface="Microsoft Sans Serif"/>
              </a:rPr>
              <a:t> </a:t>
            </a:r>
            <a:r>
              <a:rPr sz="600" spc="-5" dirty="0">
                <a:solidFill>
                  <a:srgbClr val="7F7F7F"/>
                </a:solidFill>
                <a:latin typeface="Microsoft Sans Serif"/>
                <a:cs typeface="Microsoft Sans Serif"/>
              </a:rPr>
              <a:t>Details  </a:t>
            </a:r>
            <a:r>
              <a:rPr sz="600" spc="10" dirty="0">
                <a:solidFill>
                  <a:srgbClr val="FFFFFF"/>
                </a:solidFill>
                <a:latin typeface="Microsoft Sans Serif"/>
                <a:cs typeface="Microsoft Sans Serif"/>
              </a:rPr>
              <a:t>Motivation</a:t>
            </a:r>
            <a:endParaRPr sz="600" dirty="0">
              <a:latin typeface="Microsoft Sans Serif"/>
              <a:cs typeface="Microsoft Sans Serif"/>
            </a:endParaRPr>
          </a:p>
          <a:p>
            <a:pPr marR="5080" algn="r">
              <a:lnSpc>
                <a:spcPts val="670"/>
              </a:lnSpc>
            </a:pPr>
            <a:r>
              <a:rPr sz="600" spc="-25" dirty="0">
                <a:solidFill>
                  <a:srgbClr val="7F7F7F"/>
                </a:solidFill>
                <a:latin typeface="Microsoft Sans Serif"/>
                <a:cs typeface="Microsoft Sans Serif"/>
              </a:rPr>
              <a:t>Accessing</a:t>
            </a:r>
            <a:r>
              <a:rPr sz="600" spc="35" dirty="0">
                <a:solidFill>
                  <a:srgbClr val="7F7F7F"/>
                </a:solidFill>
                <a:latin typeface="Microsoft Sans Serif"/>
                <a:cs typeface="Microsoft Sans Serif"/>
              </a:rPr>
              <a:t> </a:t>
            </a:r>
            <a:r>
              <a:rPr sz="600" dirty="0">
                <a:solidFill>
                  <a:srgbClr val="7F7F7F"/>
                </a:solidFill>
                <a:latin typeface="Microsoft Sans Serif"/>
                <a:cs typeface="Microsoft Sans Serif"/>
              </a:rPr>
              <a:t>the</a:t>
            </a:r>
            <a:r>
              <a:rPr sz="600" spc="40" dirty="0">
                <a:solidFill>
                  <a:srgbClr val="7F7F7F"/>
                </a:solidFill>
                <a:latin typeface="Microsoft Sans Serif"/>
                <a:cs typeface="Microsoft Sans Serif"/>
              </a:rPr>
              <a:t> </a:t>
            </a:r>
            <a:r>
              <a:rPr sz="600" spc="-10" dirty="0">
                <a:solidFill>
                  <a:srgbClr val="7F7F7F"/>
                </a:solidFill>
                <a:latin typeface="Microsoft Sans Serif"/>
                <a:cs typeface="Microsoft Sans Serif"/>
              </a:rPr>
              <a:t>Lab</a:t>
            </a:r>
            <a:r>
              <a:rPr sz="600" spc="35" dirty="0">
                <a:solidFill>
                  <a:srgbClr val="7F7F7F"/>
                </a:solidFill>
                <a:latin typeface="Microsoft Sans Serif"/>
                <a:cs typeface="Microsoft Sans Serif"/>
              </a:rPr>
              <a:t> </a:t>
            </a:r>
            <a:r>
              <a:rPr sz="600" spc="5" dirty="0">
                <a:solidFill>
                  <a:srgbClr val="7F7F7F"/>
                </a:solidFill>
                <a:latin typeface="Microsoft Sans Serif"/>
                <a:cs typeface="Microsoft Sans Serif"/>
              </a:rPr>
              <a:t>Material</a:t>
            </a:r>
            <a:endParaRPr sz="600" dirty="0">
              <a:latin typeface="Microsoft Sans Serif"/>
              <a:cs typeface="Microsoft Sans Serif"/>
            </a:endParaRP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303995" y="0"/>
            <a:ext cx="2304008" cy="366928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2679966" y="129636"/>
            <a:ext cx="1438910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900" b="1" spc="-20" dirty="0">
                <a:solidFill>
                  <a:srgbClr val="FFFFFF"/>
                </a:solidFill>
                <a:latin typeface="Trebuchet MS"/>
                <a:cs typeface="Trebuchet MS"/>
              </a:rPr>
              <a:t>German</a:t>
            </a:r>
            <a:r>
              <a:rPr sz="900" b="1" spc="40" dirty="0">
                <a:solidFill>
                  <a:srgbClr val="FFFFFF"/>
                </a:solidFill>
                <a:latin typeface="Trebuchet MS"/>
                <a:cs typeface="Trebuchet MS"/>
              </a:rPr>
              <a:t> </a:t>
            </a:r>
            <a:r>
              <a:rPr sz="900" b="1" spc="-25" dirty="0">
                <a:solidFill>
                  <a:srgbClr val="FFFFFF"/>
                </a:solidFill>
                <a:latin typeface="Trebuchet MS"/>
                <a:cs typeface="Trebuchet MS"/>
              </a:rPr>
              <a:t>University</a:t>
            </a:r>
            <a:r>
              <a:rPr sz="900" b="1" spc="45" dirty="0">
                <a:solidFill>
                  <a:srgbClr val="FFFFFF"/>
                </a:solidFill>
                <a:latin typeface="Trebuchet MS"/>
                <a:cs typeface="Trebuchet MS"/>
              </a:rPr>
              <a:t> </a:t>
            </a:r>
            <a:r>
              <a:rPr sz="900" b="1" spc="-35" dirty="0">
                <a:solidFill>
                  <a:srgbClr val="FFFFFF"/>
                </a:solidFill>
                <a:latin typeface="Trebuchet MS"/>
                <a:cs typeface="Trebuchet MS"/>
              </a:rPr>
              <a:t>in</a:t>
            </a:r>
            <a:r>
              <a:rPr sz="900" b="1" spc="40" dirty="0">
                <a:solidFill>
                  <a:srgbClr val="FFFFFF"/>
                </a:solidFill>
                <a:latin typeface="Trebuchet MS"/>
                <a:cs typeface="Trebuchet MS"/>
              </a:rPr>
              <a:t> </a:t>
            </a:r>
            <a:r>
              <a:rPr sz="900" b="1" spc="-15" dirty="0">
                <a:solidFill>
                  <a:srgbClr val="FFFFFF"/>
                </a:solidFill>
                <a:latin typeface="Trebuchet MS"/>
                <a:cs typeface="Trebuchet MS"/>
              </a:rPr>
              <a:t>Cairo</a:t>
            </a:r>
            <a:endParaRPr sz="900">
              <a:latin typeface="Trebuchet MS"/>
              <a:cs typeface="Trebuchet MS"/>
            </a:endParaRPr>
          </a:p>
        </p:txBody>
      </p:sp>
      <p:pic>
        <p:nvPicPr>
          <p:cNvPr id="5" name="object 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0" y="366911"/>
            <a:ext cx="4604410" cy="260646"/>
          </a:xfrm>
          <a:prstGeom prst="rect">
            <a:avLst/>
          </a:prstGeom>
        </p:spPr>
      </p:pic>
      <p:grpSp>
        <p:nvGrpSpPr>
          <p:cNvPr id="6" name="object 6"/>
          <p:cNvGrpSpPr/>
          <p:nvPr/>
        </p:nvGrpSpPr>
        <p:grpSpPr>
          <a:xfrm>
            <a:off x="309193" y="766724"/>
            <a:ext cx="3989704" cy="1601470"/>
            <a:chOff x="309193" y="766724"/>
            <a:chExt cx="3989704" cy="1601470"/>
          </a:xfrm>
        </p:grpSpPr>
        <p:sp>
          <p:nvSpPr>
            <p:cNvPr id="7" name="object 7"/>
            <p:cNvSpPr/>
            <p:nvPr/>
          </p:nvSpPr>
          <p:spPr>
            <a:xfrm>
              <a:off x="309193" y="766724"/>
              <a:ext cx="3989704" cy="187960"/>
            </a:xfrm>
            <a:custGeom>
              <a:avLst/>
              <a:gdLst/>
              <a:ahLst/>
              <a:cxnLst/>
              <a:rect l="l" t="t" r="r" b="b"/>
              <a:pathLst>
                <a:path w="3989704" h="187959">
                  <a:moveTo>
                    <a:pt x="3938852" y="0"/>
                  </a:moveTo>
                  <a:lnTo>
                    <a:pt x="50800" y="0"/>
                  </a:lnTo>
                  <a:lnTo>
                    <a:pt x="31075" y="4008"/>
                  </a:lnTo>
                  <a:lnTo>
                    <a:pt x="14922" y="14922"/>
                  </a:lnTo>
                  <a:lnTo>
                    <a:pt x="4008" y="31075"/>
                  </a:lnTo>
                  <a:lnTo>
                    <a:pt x="0" y="50800"/>
                  </a:lnTo>
                  <a:lnTo>
                    <a:pt x="0" y="187823"/>
                  </a:lnTo>
                  <a:lnTo>
                    <a:pt x="3989652" y="187823"/>
                  </a:lnTo>
                  <a:lnTo>
                    <a:pt x="3989652" y="50800"/>
                  </a:lnTo>
                  <a:lnTo>
                    <a:pt x="3985644" y="31075"/>
                  </a:lnTo>
                  <a:lnTo>
                    <a:pt x="3974729" y="14922"/>
                  </a:lnTo>
                  <a:lnTo>
                    <a:pt x="3958576" y="4008"/>
                  </a:lnTo>
                  <a:lnTo>
                    <a:pt x="3938852" y="0"/>
                  </a:lnTo>
                  <a:close/>
                </a:path>
              </a:pathLst>
            </a:custGeom>
            <a:solidFill>
              <a:srgbClr val="69183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8" name="object 8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309194" y="941895"/>
              <a:ext cx="3989651" cy="50609"/>
            </a:xfrm>
            <a:prstGeom prst="rect">
              <a:avLst/>
            </a:prstGeom>
          </p:spPr>
        </p:pic>
        <p:sp>
          <p:nvSpPr>
            <p:cNvPr id="9" name="object 9"/>
            <p:cNvSpPr/>
            <p:nvPr/>
          </p:nvSpPr>
          <p:spPr>
            <a:xfrm>
              <a:off x="309193" y="986165"/>
              <a:ext cx="3989704" cy="1382395"/>
            </a:xfrm>
            <a:custGeom>
              <a:avLst/>
              <a:gdLst/>
              <a:ahLst/>
              <a:cxnLst/>
              <a:rect l="l" t="t" r="r" b="b"/>
              <a:pathLst>
                <a:path w="3989704" h="1382395">
                  <a:moveTo>
                    <a:pt x="3989652" y="0"/>
                  </a:moveTo>
                  <a:lnTo>
                    <a:pt x="0" y="0"/>
                  </a:lnTo>
                  <a:lnTo>
                    <a:pt x="0" y="1331229"/>
                  </a:lnTo>
                  <a:lnTo>
                    <a:pt x="4008" y="1350953"/>
                  </a:lnTo>
                  <a:lnTo>
                    <a:pt x="14922" y="1367106"/>
                  </a:lnTo>
                  <a:lnTo>
                    <a:pt x="31075" y="1378021"/>
                  </a:lnTo>
                  <a:lnTo>
                    <a:pt x="50800" y="1382029"/>
                  </a:lnTo>
                  <a:lnTo>
                    <a:pt x="3938852" y="1382029"/>
                  </a:lnTo>
                  <a:lnTo>
                    <a:pt x="3958576" y="1378021"/>
                  </a:lnTo>
                  <a:lnTo>
                    <a:pt x="3974729" y="1367106"/>
                  </a:lnTo>
                  <a:lnTo>
                    <a:pt x="3985644" y="1350953"/>
                  </a:lnTo>
                  <a:lnTo>
                    <a:pt x="3989652" y="1331229"/>
                  </a:lnTo>
                  <a:lnTo>
                    <a:pt x="3989652" y="0"/>
                  </a:lnTo>
                  <a:close/>
                </a:path>
              </a:pathLst>
            </a:custGeom>
            <a:solidFill>
              <a:srgbClr val="F0E7E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0" name="object 10"/>
          <p:cNvSpPr txBox="1"/>
          <p:nvPr/>
        </p:nvSpPr>
        <p:spPr>
          <a:xfrm>
            <a:off x="197218" y="364347"/>
            <a:ext cx="4030979" cy="1988820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400" spc="-50" dirty="0">
                <a:solidFill>
                  <a:srgbClr val="FFFFFF"/>
                </a:solidFill>
                <a:latin typeface="Trebuchet MS"/>
                <a:cs typeface="Trebuchet MS"/>
              </a:rPr>
              <a:t>Comparison</a:t>
            </a:r>
            <a:r>
              <a:rPr sz="1400" spc="45" dirty="0">
                <a:solidFill>
                  <a:srgbClr val="FFFFFF"/>
                </a:solidFill>
                <a:latin typeface="Trebuchet MS"/>
                <a:cs typeface="Trebuchet MS"/>
              </a:rPr>
              <a:t> </a:t>
            </a:r>
            <a:r>
              <a:rPr sz="1400" spc="-105" dirty="0">
                <a:solidFill>
                  <a:srgbClr val="FFFFFF"/>
                </a:solidFill>
                <a:latin typeface="Trebuchet MS"/>
                <a:cs typeface="Trebuchet MS"/>
              </a:rPr>
              <a:t>between</a:t>
            </a:r>
            <a:r>
              <a:rPr sz="1400" spc="45" dirty="0">
                <a:solidFill>
                  <a:srgbClr val="FFFFFF"/>
                </a:solidFill>
                <a:latin typeface="Trebuchet MS"/>
                <a:cs typeface="Trebuchet MS"/>
              </a:rPr>
              <a:t> </a:t>
            </a:r>
            <a:r>
              <a:rPr sz="1400" spc="-50" dirty="0">
                <a:solidFill>
                  <a:srgbClr val="FFFFFF"/>
                </a:solidFill>
                <a:latin typeface="Trebuchet MS"/>
                <a:cs typeface="Trebuchet MS"/>
              </a:rPr>
              <a:t>Java</a:t>
            </a:r>
            <a:r>
              <a:rPr sz="1400" spc="45" dirty="0">
                <a:solidFill>
                  <a:srgbClr val="FFFFFF"/>
                </a:solidFill>
                <a:latin typeface="Trebuchet MS"/>
                <a:cs typeface="Trebuchet MS"/>
              </a:rPr>
              <a:t> </a:t>
            </a:r>
            <a:r>
              <a:rPr sz="1400" spc="-60" dirty="0">
                <a:solidFill>
                  <a:srgbClr val="FFFFFF"/>
                </a:solidFill>
                <a:latin typeface="Trebuchet MS"/>
                <a:cs typeface="Trebuchet MS"/>
              </a:rPr>
              <a:t>and</a:t>
            </a:r>
            <a:r>
              <a:rPr sz="1400" spc="45" dirty="0">
                <a:solidFill>
                  <a:srgbClr val="FFFFFF"/>
                </a:solidFill>
                <a:latin typeface="Trebuchet MS"/>
                <a:cs typeface="Trebuchet MS"/>
              </a:rPr>
              <a:t> </a:t>
            </a:r>
            <a:r>
              <a:rPr sz="1400" spc="-25" dirty="0">
                <a:solidFill>
                  <a:srgbClr val="FFFFFF"/>
                </a:solidFill>
                <a:latin typeface="Trebuchet MS"/>
                <a:cs typeface="Trebuchet MS"/>
              </a:rPr>
              <a:t>Python</a:t>
            </a:r>
            <a:endParaRPr sz="1400" dirty="0">
              <a:latin typeface="Trebuchet MS"/>
              <a:cs typeface="Trebuchet MS"/>
            </a:endParaRPr>
          </a:p>
          <a:p>
            <a:pPr>
              <a:lnSpc>
                <a:spcPct val="100000"/>
              </a:lnSpc>
              <a:spcBef>
                <a:spcPts val="5"/>
              </a:spcBef>
            </a:pPr>
            <a:endParaRPr sz="1100" dirty="0">
              <a:latin typeface="Trebuchet MS"/>
              <a:cs typeface="Trebuchet MS"/>
            </a:endParaRPr>
          </a:p>
          <a:p>
            <a:pPr marL="162560">
              <a:lnSpc>
                <a:spcPct val="100000"/>
              </a:lnSpc>
            </a:pPr>
            <a:r>
              <a:rPr sz="1200" spc="-55" dirty="0">
                <a:solidFill>
                  <a:srgbClr val="FFFFFF"/>
                </a:solidFill>
                <a:latin typeface="Trebuchet MS"/>
                <a:cs typeface="Trebuchet MS"/>
              </a:rPr>
              <a:t>Java</a:t>
            </a:r>
            <a:endParaRPr sz="1200" dirty="0">
              <a:latin typeface="Trebuchet MS"/>
              <a:cs typeface="Trebuchet MS"/>
            </a:endParaRPr>
          </a:p>
          <a:p>
            <a:pPr marL="162560">
              <a:lnSpc>
                <a:spcPct val="100000"/>
              </a:lnSpc>
              <a:spcBef>
                <a:spcPts val="215"/>
              </a:spcBef>
            </a:pPr>
            <a:r>
              <a:rPr sz="1100" spc="20" dirty="0">
                <a:solidFill>
                  <a:srgbClr val="007F00"/>
                </a:solidFill>
                <a:latin typeface="SimSun"/>
                <a:cs typeface="SimSun"/>
              </a:rPr>
              <a:t>public</a:t>
            </a:r>
            <a:r>
              <a:rPr sz="1100" dirty="0">
                <a:solidFill>
                  <a:srgbClr val="007F00"/>
                </a:solidFill>
                <a:latin typeface="SimSun"/>
                <a:cs typeface="SimSun"/>
              </a:rPr>
              <a:t> </a:t>
            </a:r>
            <a:r>
              <a:rPr sz="1100" spc="20" dirty="0">
                <a:solidFill>
                  <a:srgbClr val="007F00"/>
                </a:solidFill>
                <a:latin typeface="SimSun"/>
                <a:cs typeface="SimSun"/>
              </a:rPr>
              <a:t>class</a:t>
            </a:r>
            <a:r>
              <a:rPr sz="1100" spc="5" dirty="0">
                <a:solidFill>
                  <a:srgbClr val="007F00"/>
                </a:solidFill>
                <a:latin typeface="SimSun"/>
                <a:cs typeface="SimSun"/>
              </a:rPr>
              <a:t> </a:t>
            </a:r>
            <a:r>
              <a:rPr sz="1100" spc="20" dirty="0">
                <a:solidFill>
                  <a:srgbClr val="0000FF"/>
                </a:solidFill>
                <a:latin typeface="SimSun"/>
                <a:cs typeface="SimSun"/>
              </a:rPr>
              <a:t>Test</a:t>
            </a:r>
            <a:r>
              <a:rPr sz="1100" spc="5" dirty="0">
                <a:solidFill>
                  <a:srgbClr val="0000FF"/>
                </a:solidFill>
                <a:latin typeface="SimSun"/>
                <a:cs typeface="SimSun"/>
              </a:rPr>
              <a:t> </a:t>
            </a:r>
            <a:r>
              <a:rPr sz="1100" spc="20" dirty="0">
                <a:latin typeface="SimSun"/>
                <a:cs typeface="SimSun"/>
              </a:rPr>
              <a:t>{</a:t>
            </a:r>
            <a:endParaRPr sz="1100" dirty="0">
              <a:latin typeface="SimSun"/>
              <a:cs typeface="SimSun"/>
            </a:endParaRPr>
          </a:p>
          <a:p>
            <a:pPr marL="307975">
              <a:lnSpc>
                <a:spcPct val="100000"/>
              </a:lnSpc>
              <a:spcBef>
                <a:spcPts val="35"/>
              </a:spcBef>
            </a:pPr>
            <a:r>
              <a:rPr sz="1100" spc="20" dirty="0">
                <a:solidFill>
                  <a:srgbClr val="007F00"/>
                </a:solidFill>
                <a:latin typeface="SimSun"/>
                <a:cs typeface="SimSun"/>
              </a:rPr>
              <a:t>public</a:t>
            </a:r>
            <a:r>
              <a:rPr sz="1100" spc="15" dirty="0">
                <a:solidFill>
                  <a:srgbClr val="007F00"/>
                </a:solidFill>
                <a:latin typeface="SimSun"/>
                <a:cs typeface="SimSun"/>
              </a:rPr>
              <a:t> </a:t>
            </a:r>
            <a:r>
              <a:rPr sz="1100" spc="20" dirty="0">
                <a:solidFill>
                  <a:srgbClr val="007F00"/>
                </a:solidFill>
                <a:latin typeface="SimSun"/>
                <a:cs typeface="SimSun"/>
              </a:rPr>
              <a:t>static </a:t>
            </a:r>
            <a:r>
              <a:rPr sz="1100" spc="20" dirty="0">
                <a:solidFill>
                  <a:srgbClr val="AF003F"/>
                </a:solidFill>
                <a:latin typeface="SimSun"/>
                <a:cs typeface="SimSun"/>
              </a:rPr>
              <a:t>void </a:t>
            </a:r>
            <a:r>
              <a:rPr sz="1100" spc="20" dirty="0">
                <a:solidFill>
                  <a:srgbClr val="0000FF"/>
                </a:solidFill>
                <a:latin typeface="SimSun"/>
                <a:cs typeface="SimSun"/>
              </a:rPr>
              <a:t>main</a:t>
            </a:r>
            <a:r>
              <a:rPr sz="1100" spc="20" dirty="0">
                <a:latin typeface="SimSun"/>
                <a:cs typeface="SimSun"/>
              </a:rPr>
              <a:t>(String args</a:t>
            </a:r>
            <a:r>
              <a:rPr sz="1100" spc="20" dirty="0">
                <a:solidFill>
                  <a:srgbClr val="666666"/>
                </a:solidFill>
                <a:latin typeface="SimSun"/>
                <a:cs typeface="SimSun"/>
              </a:rPr>
              <a:t>[]</a:t>
            </a:r>
            <a:r>
              <a:rPr sz="1100" spc="20" dirty="0">
                <a:latin typeface="SimSun"/>
                <a:cs typeface="SimSun"/>
              </a:rPr>
              <a:t>) {</a:t>
            </a:r>
            <a:endParaRPr sz="1100" dirty="0">
              <a:latin typeface="SimSun"/>
              <a:cs typeface="SimSun"/>
            </a:endParaRPr>
          </a:p>
          <a:p>
            <a:pPr marL="453390" marR="5080">
              <a:lnSpc>
                <a:spcPct val="102699"/>
              </a:lnSpc>
            </a:pPr>
            <a:r>
              <a:rPr sz="1100" spc="20" dirty="0">
                <a:latin typeface="SimSun"/>
                <a:cs typeface="SimSun"/>
              </a:rPr>
              <a:t>String planets</a:t>
            </a:r>
            <a:r>
              <a:rPr sz="1100" spc="20" dirty="0">
                <a:solidFill>
                  <a:srgbClr val="666666"/>
                </a:solidFill>
                <a:latin typeface="SimSun"/>
                <a:cs typeface="SimSun"/>
              </a:rPr>
              <a:t>[]</a:t>
            </a:r>
            <a:r>
              <a:rPr sz="1100" spc="25" dirty="0">
                <a:solidFill>
                  <a:srgbClr val="666666"/>
                </a:solidFill>
                <a:latin typeface="SimSun"/>
                <a:cs typeface="SimSun"/>
              </a:rPr>
              <a:t> </a:t>
            </a:r>
            <a:r>
              <a:rPr sz="1100" spc="20" dirty="0">
                <a:solidFill>
                  <a:srgbClr val="666666"/>
                </a:solidFill>
                <a:latin typeface="SimSun"/>
                <a:cs typeface="SimSun"/>
              </a:rPr>
              <a:t>=</a:t>
            </a:r>
            <a:r>
              <a:rPr sz="1100" spc="25" dirty="0">
                <a:solidFill>
                  <a:srgbClr val="666666"/>
                </a:solidFill>
                <a:latin typeface="SimSun"/>
                <a:cs typeface="SimSun"/>
              </a:rPr>
              <a:t> </a:t>
            </a:r>
            <a:r>
              <a:rPr sz="1100" spc="20" dirty="0">
                <a:latin typeface="SimSun"/>
                <a:cs typeface="SimSun"/>
              </a:rPr>
              <a:t>{</a:t>
            </a:r>
            <a:r>
              <a:rPr sz="1100" spc="20" dirty="0">
                <a:solidFill>
                  <a:srgbClr val="BA2121"/>
                </a:solidFill>
                <a:latin typeface="SimSun"/>
                <a:cs typeface="SimSun"/>
              </a:rPr>
              <a:t>"Mercury"</a:t>
            </a:r>
            <a:r>
              <a:rPr sz="1100" spc="20" dirty="0">
                <a:latin typeface="SimSun"/>
                <a:cs typeface="SimSun"/>
              </a:rPr>
              <a:t>,</a:t>
            </a:r>
            <a:r>
              <a:rPr sz="1100" spc="25" dirty="0">
                <a:latin typeface="SimSun"/>
                <a:cs typeface="SimSun"/>
              </a:rPr>
              <a:t> </a:t>
            </a:r>
            <a:r>
              <a:rPr sz="1100" spc="20" dirty="0">
                <a:solidFill>
                  <a:srgbClr val="BA2121"/>
                </a:solidFill>
                <a:latin typeface="SimSun"/>
                <a:cs typeface="SimSun"/>
              </a:rPr>
              <a:t>"Venus"</a:t>
            </a:r>
            <a:r>
              <a:rPr sz="1100" spc="20" dirty="0">
                <a:latin typeface="SimSun"/>
                <a:cs typeface="SimSun"/>
              </a:rPr>
              <a:t>, </a:t>
            </a:r>
            <a:r>
              <a:rPr sz="1100" spc="20" dirty="0">
                <a:solidFill>
                  <a:srgbClr val="BA2121"/>
                </a:solidFill>
                <a:latin typeface="SimSun"/>
                <a:cs typeface="SimSun"/>
              </a:rPr>
              <a:t>"Earth"</a:t>
            </a:r>
            <a:r>
              <a:rPr sz="1100" spc="20" dirty="0">
                <a:latin typeface="SimSun"/>
                <a:cs typeface="SimSun"/>
              </a:rPr>
              <a:t>}; </a:t>
            </a:r>
            <a:r>
              <a:rPr sz="1100" spc="-535" dirty="0">
                <a:latin typeface="SimSun"/>
                <a:cs typeface="SimSun"/>
              </a:rPr>
              <a:t> </a:t>
            </a:r>
            <a:r>
              <a:rPr sz="1100" spc="20" dirty="0">
                <a:solidFill>
                  <a:srgbClr val="007F00"/>
                </a:solidFill>
                <a:latin typeface="SimSun"/>
                <a:cs typeface="SimSun"/>
              </a:rPr>
              <a:t>for</a:t>
            </a:r>
            <a:r>
              <a:rPr sz="1100" spc="15" dirty="0">
                <a:solidFill>
                  <a:srgbClr val="007F00"/>
                </a:solidFill>
                <a:latin typeface="SimSun"/>
                <a:cs typeface="SimSun"/>
              </a:rPr>
              <a:t> </a:t>
            </a:r>
            <a:r>
              <a:rPr sz="1100" spc="20" dirty="0">
                <a:latin typeface="SimSun"/>
                <a:cs typeface="SimSun"/>
              </a:rPr>
              <a:t>(String planet : planets)</a:t>
            </a:r>
            <a:r>
              <a:rPr sz="1100" spc="15" dirty="0">
                <a:latin typeface="SimSun"/>
                <a:cs typeface="SimSun"/>
              </a:rPr>
              <a:t> </a:t>
            </a:r>
            <a:r>
              <a:rPr sz="1100" spc="20" dirty="0">
                <a:latin typeface="SimSun"/>
                <a:cs typeface="SimSun"/>
              </a:rPr>
              <a:t>{</a:t>
            </a:r>
            <a:endParaRPr sz="1100" dirty="0">
              <a:latin typeface="SimSun"/>
              <a:cs typeface="SimSun"/>
            </a:endParaRPr>
          </a:p>
          <a:p>
            <a:pPr marL="598805">
              <a:lnSpc>
                <a:spcPct val="100000"/>
              </a:lnSpc>
              <a:spcBef>
                <a:spcPts val="35"/>
              </a:spcBef>
            </a:pPr>
            <a:r>
              <a:rPr sz="1100" spc="20" dirty="0">
                <a:latin typeface="SimSun"/>
                <a:cs typeface="SimSun"/>
              </a:rPr>
              <a:t>System.</a:t>
            </a:r>
            <a:r>
              <a:rPr sz="1100" spc="20" dirty="0">
                <a:solidFill>
                  <a:srgbClr val="7C8E28"/>
                </a:solidFill>
                <a:latin typeface="SimSun"/>
                <a:cs typeface="SimSun"/>
              </a:rPr>
              <a:t>out</a:t>
            </a:r>
            <a:r>
              <a:rPr sz="1100" spc="20" dirty="0">
                <a:latin typeface="SimSun"/>
                <a:cs typeface="SimSun"/>
              </a:rPr>
              <a:t>.</a:t>
            </a:r>
            <a:r>
              <a:rPr sz="1100" spc="20" dirty="0">
                <a:solidFill>
                  <a:srgbClr val="7C8E28"/>
                </a:solidFill>
                <a:latin typeface="SimSun"/>
                <a:cs typeface="SimSun"/>
              </a:rPr>
              <a:t>println</a:t>
            </a:r>
            <a:r>
              <a:rPr sz="1100" spc="20" dirty="0">
                <a:latin typeface="SimSun"/>
                <a:cs typeface="SimSun"/>
              </a:rPr>
              <a:t>(planet);</a:t>
            </a:r>
            <a:endParaRPr sz="1100" dirty="0">
              <a:latin typeface="SimSun"/>
              <a:cs typeface="SimSun"/>
            </a:endParaRPr>
          </a:p>
          <a:p>
            <a:pPr marL="453390">
              <a:lnSpc>
                <a:spcPct val="100000"/>
              </a:lnSpc>
              <a:spcBef>
                <a:spcPts val="35"/>
              </a:spcBef>
            </a:pPr>
            <a:r>
              <a:rPr sz="1100" spc="20" dirty="0">
                <a:latin typeface="SimSun"/>
                <a:cs typeface="SimSun"/>
              </a:rPr>
              <a:t>}</a:t>
            </a:r>
            <a:endParaRPr sz="1100" dirty="0">
              <a:latin typeface="SimSun"/>
              <a:cs typeface="SimSun"/>
            </a:endParaRPr>
          </a:p>
          <a:p>
            <a:pPr marL="307975">
              <a:lnSpc>
                <a:spcPct val="100000"/>
              </a:lnSpc>
              <a:spcBef>
                <a:spcPts val="35"/>
              </a:spcBef>
            </a:pPr>
            <a:r>
              <a:rPr sz="1100" spc="20" dirty="0">
                <a:latin typeface="SimSun"/>
                <a:cs typeface="SimSun"/>
              </a:rPr>
              <a:t>}</a:t>
            </a:r>
            <a:endParaRPr sz="1100" dirty="0">
              <a:latin typeface="SimSun"/>
              <a:cs typeface="SimSun"/>
            </a:endParaRPr>
          </a:p>
          <a:p>
            <a:pPr marL="162560">
              <a:lnSpc>
                <a:spcPct val="100000"/>
              </a:lnSpc>
              <a:spcBef>
                <a:spcPts val="35"/>
              </a:spcBef>
            </a:pPr>
            <a:r>
              <a:rPr sz="1100" spc="20" dirty="0">
                <a:latin typeface="SimSun"/>
                <a:cs typeface="SimSun"/>
              </a:rPr>
              <a:t>}</a:t>
            </a:r>
            <a:endParaRPr sz="1100" dirty="0">
              <a:latin typeface="SimSun"/>
              <a:cs typeface="SimSun"/>
            </a:endParaRPr>
          </a:p>
        </p:txBody>
      </p:sp>
      <p:grpSp>
        <p:nvGrpSpPr>
          <p:cNvPr id="11" name="object 11"/>
          <p:cNvGrpSpPr/>
          <p:nvPr/>
        </p:nvGrpSpPr>
        <p:grpSpPr>
          <a:xfrm>
            <a:off x="0" y="3346348"/>
            <a:ext cx="4608195" cy="109855"/>
            <a:chOff x="0" y="3346348"/>
            <a:chExt cx="4608195" cy="109855"/>
          </a:xfrm>
        </p:grpSpPr>
        <p:sp>
          <p:nvSpPr>
            <p:cNvPr id="12" name="object 12"/>
            <p:cNvSpPr/>
            <p:nvPr/>
          </p:nvSpPr>
          <p:spPr>
            <a:xfrm>
              <a:off x="0" y="3346361"/>
              <a:ext cx="2304415" cy="109855"/>
            </a:xfrm>
            <a:custGeom>
              <a:avLst/>
              <a:gdLst/>
              <a:ahLst/>
              <a:cxnLst/>
              <a:rect l="l" t="t" r="r" b="b"/>
              <a:pathLst>
                <a:path w="2304415" h="109854">
                  <a:moveTo>
                    <a:pt x="2304008" y="0"/>
                  </a:moveTo>
                  <a:lnTo>
                    <a:pt x="1152004" y="0"/>
                  </a:lnTo>
                  <a:lnTo>
                    <a:pt x="0" y="0"/>
                  </a:lnTo>
                  <a:lnTo>
                    <a:pt x="0" y="109639"/>
                  </a:lnTo>
                  <a:lnTo>
                    <a:pt x="1152004" y="109639"/>
                  </a:lnTo>
                  <a:lnTo>
                    <a:pt x="2304008" y="109639"/>
                  </a:lnTo>
                  <a:lnTo>
                    <a:pt x="2304008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2303995" y="3346361"/>
              <a:ext cx="2304415" cy="109855"/>
            </a:xfrm>
            <a:custGeom>
              <a:avLst/>
              <a:gdLst/>
              <a:ahLst/>
              <a:cxnLst/>
              <a:rect l="l" t="t" r="r" b="b"/>
              <a:pathLst>
                <a:path w="2304415" h="109854">
                  <a:moveTo>
                    <a:pt x="2303996" y="0"/>
                  </a:moveTo>
                  <a:lnTo>
                    <a:pt x="1920024" y="0"/>
                  </a:lnTo>
                  <a:lnTo>
                    <a:pt x="0" y="0"/>
                  </a:lnTo>
                  <a:lnTo>
                    <a:pt x="0" y="109639"/>
                  </a:lnTo>
                  <a:lnTo>
                    <a:pt x="1920024" y="109639"/>
                  </a:lnTo>
                  <a:lnTo>
                    <a:pt x="2303996" y="109639"/>
                  </a:lnTo>
                  <a:lnTo>
                    <a:pt x="2303996" y="0"/>
                  </a:lnTo>
                  <a:close/>
                </a:path>
              </a:pathLst>
            </a:custGeom>
            <a:solidFill>
              <a:srgbClr val="8C205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6" name="object 16"/>
          <p:cNvSpPr txBox="1"/>
          <p:nvPr/>
        </p:nvSpPr>
        <p:spPr>
          <a:xfrm>
            <a:off x="3086696" y="3351784"/>
            <a:ext cx="354965" cy="10223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5"/>
              </a:lnSpc>
            </a:pPr>
            <a:r>
              <a:rPr sz="600" spc="5" dirty="0">
                <a:solidFill>
                  <a:srgbClr val="FFFFFF"/>
                </a:solidFill>
                <a:latin typeface="Microsoft Sans Serif"/>
                <a:cs typeface="Microsoft Sans Serif"/>
              </a:rPr>
              <a:t>Tutorial</a:t>
            </a:r>
            <a:r>
              <a:rPr sz="600" spc="-10" dirty="0">
                <a:solidFill>
                  <a:srgbClr val="FFFFFF"/>
                </a:solidFill>
                <a:latin typeface="Microsoft Sans Serif"/>
                <a:cs typeface="Microsoft Sans Serif"/>
              </a:rPr>
              <a:t> </a:t>
            </a:r>
            <a:r>
              <a:rPr sz="600" spc="-20" dirty="0">
                <a:solidFill>
                  <a:srgbClr val="FFFFFF"/>
                </a:solidFill>
                <a:latin typeface="Microsoft Sans Serif"/>
                <a:cs typeface="Microsoft Sans Serif"/>
              </a:rPr>
              <a:t>1</a:t>
            </a:r>
            <a:endParaRPr sz="600" dirty="0">
              <a:latin typeface="Microsoft Sans Serif"/>
              <a:cs typeface="Microsoft Sans Serif"/>
            </a:endParaRPr>
          </a:p>
        </p:txBody>
      </p:sp>
      <p:sp>
        <p:nvSpPr>
          <p:cNvPr id="17" name="object 12">
            <a:extLst>
              <a:ext uri="{FF2B5EF4-FFF2-40B4-BE49-F238E27FC236}">
                <a16:creationId xmlns:a16="http://schemas.microsoft.com/office/drawing/2014/main" id="{06B3B240-2CF5-C96A-2CFA-737D3B6E9656}"/>
              </a:ext>
            </a:extLst>
          </p:cNvPr>
          <p:cNvSpPr txBox="1">
            <a:spLocks noGrp="1"/>
          </p:cNvSpPr>
          <p:nvPr>
            <p:ph type="dt" sz="half" idx="6"/>
          </p:nvPr>
        </p:nvSpPr>
        <p:spPr>
          <a:xfrm>
            <a:off x="1506396" y="3351784"/>
            <a:ext cx="570053" cy="8976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5"/>
              </a:lnSpc>
            </a:pPr>
            <a:r>
              <a:rPr lang="en-US" spc="10" dirty="0"/>
              <a:t>Summer 2026</a:t>
            </a:r>
            <a:endParaRPr spc="-20" dirty="0"/>
          </a:p>
        </p:txBody>
      </p:sp>
      <p:sp>
        <p:nvSpPr>
          <p:cNvPr id="18" name="Footer Placeholder 10">
            <a:extLst>
              <a:ext uri="{FF2B5EF4-FFF2-40B4-BE49-F238E27FC236}">
                <a16:creationId xmlns:a16="http://schemas.microsoft.com/office/drawing/2014/main" id="{148FFA3C-88F4-92C4-AEB6-6C3F27FF69B7}"/>
              </a:ext>
            </a:extLst>
          </p:cNvPr>
          <p:cNvSpPr>
            <a:spLocks noGrp="1"/>
          </p:cNvSpPr>
          <p:nvPr>
            <p:ph type="ftr" sz="quarter" idx="5"/>
          </p:nvPr>
        </p:nvSpPr>
        <p:spPr>
          <a:xfrm>
            <a:off x="346620" y="3351783"/>
            <a:ext cx="663029" cy="207391"/>
          </a:xfrm>
        </p:spPr>
        <p:txBody>
          <a:bodyPr/>
          <a:lstStyle/>
          <a:p>
            <a:pPr marL="12700">
              <a:lnSpc>
                <a:spcPts val="675"/>
              </a:lnSpc>
            </a:pPr>
            <a:r>
              <a:rPr lang="en-US" spc="-20" dirty="0"/>
              <a:t>By Hazem</a:t>
            </a:r>
            <a:r>
              <a:rPr lang="en-US" spc="-5" dirty="0"/>
              <a:t> </a:t>
            </a:r>
            <a:r>
              <a:rPr lang="en-US" dirty="0"/>
              <a:t>Nabil</a:t>
            </a:r>
          </a:p>
        </p:txBody>
      </p:sp>
      <p:sp>
        <p:nvSpPr>
          <p:cNvPr id="14" name="Slide Number Placeholder 14">
            <a:extLst>
              <a:ext uri="{FF2B5EF4-FFF2-40B4-BE49-F238E27FC236}">
                <a16:creationId xmlns:a16="http://schemas.microsoft.com/office/drawing/2014/main" id="{4207B55F-DBCD-1380-C379-08C19B64E4D3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>
          <a:xfrm>
            <a:off x="4246994" y="3351784"/>
            <a:ext cx="344804" cy="89768"/>
          </a:xfrm>
        </p:spPr>
        <p:txBody>
          <a:bodyPr/>
          <a:lstStyle/>
          <a:p>
            <a:pPr marL="38100">
              <a:lnSpc>
                <a:spcPts val="675"/>
              </a:lnSpc>
            </a:pPr>
            <a:fld id="{81D60167-4931-47E6-BA6A-407CBD079E47}" type="slidenum">
              <a:rPr lang="en-US" spc="-20" smtClean="0"/>
              <a:t>16</a:t>
            </a:fld>
            <a:r>
              <a:rPr lang="en-US" spc="20" dirty="0"/>
              <a:t> </a:t>
            </a:r>
            <a:r>
              <a:rPr lang="en-US" spc="150" dirty="0"/>
              <a:t>/</a:t>
            </a:r>
            <a:r>
              <a:rPr lang="en-US" spc="20" dirty="0"/>
              <a:t> </a:t>
            </a:r>
            <a:r>
              <a:rPr lang="en-US" spc="-20" dirty="0"/>
              <a:t>20</a:t>
            </a:r>
          </a:p>
        </p:txBody>
      </p:sp>
    </p:spTree>
  </p:cSld>
  <p:clrMapOvr>
    <a:masterClrMapping/>
  </p:clrMapOvr>
  <p:transition>
    <p:cut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268450" y="0"/>
            <a:ext cx="940435" cy="382270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441325" marR="5080" indent="73025" algn="r">
              <a:lnSpc>
                <a:spcPts val="700"/>
              </a:lnSpc>
              <a:spcBef>
                <a:spcPts val="135"/>
              </a:spcBef>
            </a:pPr>
            <a:r>
              <a:rPr sz="600" spc="10" dirty="0">
                <a:solidFill>
                  <a:srgbClr val="7F7F7F"/>
                </a:solidFill>
                <a:latin typeface="Microsoft Sans Serif"/>
                <a:cs typeface="Microsoft Sans Serif"/>
              </a:rPr>
              <a:t>Intr</a:t>
            </a:r>
            <a:r>
              <a:rPr sz="600" spc="30" dirty="0">
                <a:solidFill>
                  <a:srgbClr val="7F7F7F"/>
                </a:solidFill>
                <a:latin typeface="Microsoft Sans Serif"/>
                <a:cs typeface="Microsoft Sans Serif"/>
              </a:rPr>
              <a:t>o</a:t>
            </a:r>
            <a:r>
              <a:rPr sz="600" dirty="0">
                <a:solidFill>
                  <a:srgbClr val="7F7F7F"/>
                </a:solidFill>
                <a:latin typeface="Microsoft Sans Serif"/>
                <a:cs typeface="Microsoft Sans Serif"/>
              </a:rPr>
              <a:t>duction  </a:t>
            </a:r>
            <a:r>
              <a:rPr sz="600" spc="-30" dirty="0">
                <a:solidFill>
                  <a:srgbClr val="7F7F7F"/>
                </a:solidFill>
                <a:latin typeface="Microsoft Sans Serif"/>
                <a:cs typeface="Microsoft Sans Serif"/>
              </a:rPr>
              <a:t>Cours</a:t>
            </a:r>
            <a:r>
              <a:rPr sz="600" spc="-25" dirty="0">
                <a:solidFill>
                  <a:srgbClr val="7F7F7F"/>
                </a:solidFill>
                <a:latin typeface="Microsoft Sans Serif"/>
                <a:cs typeface="Microsoft Sans Serif"/>
              </a:rPr>
              <a:t>e</a:t>
            </a:r>
            <a:r>
              <a:rPr sz="600" spc="50" dirty="0">
                <a:solidFill>
                  <a:srgbClr val="7F7F7F"/>
                </a:solidFill>
                <a:latin typeface="Microsoft Sans Serif"/>
                <a:cs typeface="Microsoft Sans Serif"/>
              </a:rPr>
              <a:t> </a:t>
            </a:r>
            <a:r>
              <a:rPr sz="600" spc="-5" dirty="0">
                <a:solidFill>
                  <a:srgbClr val="7F7F7F"/>
                </a:solidFill>
                <a:latin typeface="Microsoft Sans Serif"/>
                <a:cs typeface="Microsoft Sans Serif"/>
              </a:rPr>
              <a:t>Details  </a:t>
            </a:r>
            <a:r>
              <a:rPr sz="600" spc="10" dirty="0">
                <a:solidFill>
                  <a:srgbClr val="FFFFFF"/>
                </a:solidFill>
                <a:latin typeface="Microsoft Sans Serif"/>
                <a:cs typeface="Microsoft Sans Serif"/>
              </a:rPr>
              <a:t>Motivation</a:t>
            </a:r>
            <a:endParaRPr sz="600" dirty="0">
              <a:latin typeface="Microsoft Sans Serif"/>
              <a:cs typeface="Microsoft Sans Serif"/>
            </a:endParaRPr>
          </a:p>
          <a:p>
            <a:pPr marR="5080" algn="r">
              <a:lnSpc>
                <a:spcPts val="670"/>
              </a:lnSpc>
            </a:pPr>
            <a:r>
              <a:rPr sz="600" spc="-25" dirty="0">
                <a:solidFill>
                  <a:srgbClr val="7F7F7F"/>
                </a:solidFill>
                <a:latin typeface="Microsoft Sans Serif"/>
                <a:cs typeface="Microsoft Sans Serif"/>
              </a:rPr>
              <a:t>Accessing</a:t>
            </a:r>
            <a:r>
              <a:rPr sz="600" spc="35" dirty="0">
                <a:solidFill>
                  <a:srgbClr val="7F7F7F"/>
                </a:solidFill>
                <a:latin typeface="Microsoft Sans Serif"/>
                <a:cs typeface="Microsoft Sans Serif"/>
              </a:rPr>
              <a:t> </a:t>
            </a:r>
            <a:r>
              <a:rPr sz="600" dirty="0">
                <a:solidFill>
                  <a:srgbClr val="7F7F7F"/>
                </a:solidFill>
                <a:latin typeface="Microsoft Sans Serif"/>
                <a:cs typeface="Microsoft Sans Serif"/>
              </a:rPr>
              <a:t>the</a:t>
            </a:r>
            <a:r>
              <a:rPr sz="600" spc="40" dirty="0">
                <a:solidFill>
                  <a:srgbClr val="7F7F7F"/>
                </a:solidFill>
                <a:latin typeface="Microsoft Sans Serif"/>
                <a:cs typeface="Microsoft Sans Serif"/>
              </a:rPr>
              <a:t> </a:t>
            </a:r>
            <a:r>
              <a:rPr sz="600" spc="-10" dirty="0">
                <a:solidFill>
                  <a:srgbClr val="7F7F7F"/>
                </a:solidFill>
                <a:latin typeface="Microsoft Sans Serif"/>
                <a:cs typeface="Microsoft Sans Serif"/>
              </a:rPr>
              <a:t>Lab</a:t>
            </a:r>
            <a:r>
              <a:rPr sz="600" spc="35" dirty="0">
                <a:solidFill>
                  <a:srgbClr val="7F7F7F"/>
                </a:solidFill>
                <a:latin typeface="Microsoft Sans Serif"/>
                <a:cs typeface="Microsoft Sans Serif"/>
              </a:rPr>
              <a:t> </a:t>
            </a:r>
            <a:r>
              <a:rPr sz="600" spc="5" dirty="0">
                <a:solidFill>
                  <a:srgbClr val="7F7F7F"/>
                </a:solidFill>
                <a:latin typeface="Microsoft Sans Serif"/>
                <a:cs typeface="Microsoft Sans Serif"/>
              </a:rPr>
              <a:t>Material</a:t>
            </a:r>
            <a:endParaRPr sz="600" dirty="0">
              <a:latin typeface="Microsoft Sans Serif"/>
              <a:cs typeface="Microsoft Sans Serif"/>
            </a:endParaRP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303995" y="0"/>
            <a:ext cx="2304008" cy="366928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2679966" y="129636"/>
            <a:ext cx="1438910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900" b="1" spc="-20" dirty="0">
                <a:solidFill>
                  <a:srgbClr val="FFFFFF"/>
                </a:solidFill>
                <a:latin typeface="Trebuchet MS"/>
                <a:cs typeface="Trebuchet MS"/>
              </a:rPr>
              <a:t>German</a:t>
            </a:r>
            <a:r>
              <a:rPr sz="900" b="1" spc="40" dirty="0">
                <a:solidFill>
                  <a:srgbClr val="FFFFFF"/>
                </a:solidFill>
                <a:latin typeface="Trebuchet MS"/>
                <a:cs typeface="Trebuchet MS"/>
              </a:rPr>
              <a:t> </a:t>
            </a:r>
            <a:r>
              <a:rPr sz="900" b="1" spc="-25" dirty="0">
                <a:solidFill>
                  <a:srgbClr val="FFFFFF"/>
                </a:solidFill>
                <a:latin typeface="Trebuchet MS"/>
                <a:cs typeface="Trebuchet MS"/>
              </a:rPr>
              <a:t>University</a:t>
            </a:r>
            <a:r>
              <a:rPr sz="900" b="1" spc="45" dirty="0">
                <a:solidFill>
                  <a:srgbClr val="FFFFFF"/>
                </a:solidFill>
                <a:latin typeface="Trebuchet MS"/>
                <a:cs typeface="Trebuchet MS"/>
              </a:rPr>
              <a:t> </a:t>
            </a:r>
            <a:r>
              <a:rPr sz="900" b="1" spc="-35" dirty="0">
                <a:solidFill>
                  <a:srgbClr val="FFFFFF"/>
                </a:solidFill>
                <a:latin typeface="Trebuchet MS"/>
                <a:cs typeface="Trebuchet MS"/>
              </a:rPr>
              <a:t>in</a:t>
            </a:r>
            <a:r>
              <a:rPr sz="900" b="1" spc="40" dirty="0">
                <a:solidFill>
                  <a:srgbClr val="FFFFFF"/>
                </a:solidFill>
                <a:latin typeface="Trebuchet MS"/>
                <a:cs typeface="Trebuchet MS"/>
              </a:rPr>
              <a:t> </a:t>
            </a:r>
            <a:r>
              <a:rPr sz="900" b="1" spc="-15" dirty="0">
                <a:solidFill>
                  <a:srgbClr val="FFFFFF"/>
                </a:solidFill>
                <a:latin typeface="Trebuchet MS"/>
                <a:cs typeface="Trebuchet MS"/>
              </a:rPr>
              <a:t>Cairo</a:t>
            </a:r>
            <a:endParaRPr sz="900" dirty="0">
              <a:latin typeface="Trebuchet MS"/>
              <a:cs typeface="Trebuchet MS"/>
            </a:endParaRPr>
          </a:p>
        </p:txBody>
      </p:sp>
      <p:pic>
        <p:nvPicPr>
          <p:cNvPr id="5" name="object 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0" y="366911"/>
            <a:ext cx="4604410" cy="260646"/>
          </a:xfrm>
          <a:prstGeom prst="rect">
            <a:avLst/>
          </a:prstGeom>
        </p:spPr>
      </p:pic>
      <p:grpSp>
        <p:nvGrpSpPr>
          <p:cNvPr id="6" name="object 6"/>
          <p:cNvGrpSpPr/>
          <p:nvPr/>
        </p:nvGrpSpPr>
        <p:grpSpPr>
          <a:xfrm>
            <a:off x="309193" y="766724"/>
            <a:ext cx="3989704" cy="1601470"/>
            <a:chOff x="309193" y="766724"/>
            <a:chExt cx="3989704" cy="1601470"/>
          </a:xfrm>
        </p:grpSpPr>
        <p:sp>
          <p:nvSpPr>
            <p:cNvPr id="7" name="object 7"/>
            <p:cNvSpPr/>
            <p:nvPr/>
          </p:nvSpPr>
          <p:spPr>
            <a:xfrm>
              <a:off x="309193" y="766724"/>
              <a:ext cx="3989704" cy="187960"/>
            </a:xfrm>
            <a:custGeom>
              <a:avLst/>
              <a:gdLst/>
              <a:ahLst/>
              <a:cxnLst/>
              <a:rect l="l" t="t" r="r" b="b"/>
              <a:pathLst>
                <a:path w="3989704" h="187959">
                  <a:moveTo>
                    <a:pt x="3938852" y="0"/>
                  </a:moveTo>
                  <a:lnTo>
                    <a:pt x="50800" y="0"/>
                  </a:lnTo>
                  <a:lnTo>
                    <a:pt x="31075" y="4008"/>
                  </a:lnTo>
                  <a:lnTo>
                    <a:pt x="14922" y="14922"/>
                  </a:lnTo>
                  <a:lnTo>
                    <a:pt x="4008" y="31075"/>
                  </a:lnTo>
                  <a:lnTo>
                    <a:pt x="0" y="50800"/>
                  </a:lnTo>
                  <a:lnTo>
                    <a:pt x="0" y="187823"/>
                  </a:lnTo>
                  <a:lnTo>
                    <a:pt x="3989652" y="187823"/>
                  </a:lnTo>
                  <a:lnTo>
                    <a:pt x="3989652" y="50800"/>
                  </a:lnTo>
                  <a:lnTo>
                    <a:pt x="3985644" y="31075"/>
                  </a:lnTo>
                  <a:lnTo>
                    <a:pt x="3974729" y="14922"/>
                  </a:lnTo>
                  <a:lnTo>
                    <a:pt x="3958576" y="4008"/>
                  </a:lnTo>
                  <a:lnTo>
                    <a:pt x="3938852" y="0"/>
                  </a:lnTo>
                  <a:close/>
                </a:path>
              </a:pathLst>
            </a:custGeom>
            <a:solidFill>
              <a:srgbClr val="69183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8" name="object 8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309194" y="941895"/>
              <a:ext cx="3989651" cy="50609"/>
            </a:xfrm>
            <a:prstGeom prst="rect">
              <a:avLst/>
            </a:prstGeom>
          </p:spPr>
        </p:pic>
        <p:sp>
          <p:nvSpPr>
            <p:cNvPr id="9" name="object 9"/>
            <p:cNvSpPr/>
            <p:nvPr/>
          </p:nvSpPr>
          <p:spPr>
            <a:xfrm>
              <a:off x="309193" y="986165"/>
              <a:ext cx="3989704" cy="1382395"/>
            </a:xfrm>
            <a:custGeom>
              <a:avLst/>
              <a:gdLst/>
              <a:ahLst/>
              <a:cxnLst/>
              <a:rect l="l" t="t" r="r" b="b"/>
              <a:pathLst>
                <a:path w="3989704" h="1382395">
                  <a:moveTo>
                    <a:pt x="3989652" y="0"/>
                  </a:moveTo>
                  <a:lnTo>
                    <a:pt x="0" y="0"/>
                  </a:lnTo>
                  <a:lnTo>
                    <a:pt x="0" y="1331229"/>
                  </a:lnTo>
                  <a:lnTo>
                    <a:pt x="4008" y="1350953"/>
                  </a:lnTo>
                  <a:lnTo>
                    <a:pt x="14922" y="1367106"/>
                  </a:lnTo>
                  <a:lnTo>
                    <a:pt x="31075" y="1378021"/>
                  </a:lnTo>
                  <a:lnTo>
                    <a:pt x="50800" y="1382029"/>
                  </a:lnTo>
                  <a:lnTo>
                    <a:pt x="3938852" y="1382029"/>
                  </a:lnTo>
                  <a:lnTo>
                    <a:pt x="3958576" y="1378021"/>
                  </a:lnTo>
                  <a:lnTo>
                    <a:pt x="3974729" y="1367106"/>
                  </a:lnTo>
                  <a:lnTo>
                    <a:pt x="3985644" y="1350953"/>
                  </a:lnTo>
                  <a:lnTo>
                    <a:pt x="3989652" y="1331229"/>
                  </a:lnTo>
                  <a:lnTo>
                    <a:pt x="3989652" y="0"/>
                  </a:lnTo>
                  <a:close/>
                </a:path>
              </a:pathLst>
            </a:custGeom>
            <a:solidFill>
              <a:srgbClr val="F0E7E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10" name="object 10"/>
          <p:cNvGrpSpPr/>
          <p:nvPr/>
        </p:nvGrpSpPr>
        <p:grpSpPr>
          <a:xfrm>
            <a:off x="309193" y="2494711"/>
            <a:ext cx="3989704" cy="770890"/>
            <a:chOff x="309193" y="2494711"/>
            <a:chExt cx="3989704" cy="770890"/>
          </a:xfrm>
        </p:grpSpPr>
        <p:sp>
          <p:nvSpPr>
            <p:cNvPr id="11" name="object 11"/>
            <p:cNvSpPr/>
            <p:nvPr/>
          </p:nvSpPr>
          <p:spPr>
            <a:xfrm>
              <a:off x="309193" y="2494711"/>
              <a:ext cx="3989704" cy="198755"/>
            </a:xfrm>
            <a:custGeom>
              <a:avLst/>
              <a:gdLst/>
              <a:ahLst/>
              <a:cxnLst/>
              <a:rect l="l" t="t" r="r" b="b"/>
              <a:pathLst>
                <a:path w="3989704" h="198755">
                  <a:moveTo>
                    <a:pt x="3938852" y="0"/>
                  </a:moveTo>
                  <a:lnTo>
                    <a:pt x="50800" y="0"/>
                  </a:lnTo>
                  <a:lnTo>
                    <a:pt x="31075" y="4008"/>
                  </a:lnTo>
                  <a:lnTo>
                    <a:pt x="14922" y="14922"/>
                  </a:lnTo>
                  <a:lnTo>
                    <a:pt x="4008" y="31075"/>
                  </a:lnTo>
                  <a:lnTo>
                    <a:pt x="0" y="50800"/>
                  </a:lnTo>
                  <a:lnTo>
                    <a:pt x="0" y="198367"/>
                  </a:lnTo>
                  <a:lnTo>
                    <a:pt x="3989652" y="198367"/>
                  </a:lnTo>
                  <a:lnTo>
                    <a:pt x="3989652" y="50800"/>
                  </a:lnTo>
                  <a:lnTo>
                    <a:pt x="3985644" y="31075"/>
                  </a:lnTo>
                  <a:lnTo>
                    <a:pt x="3974729" y="14922"/>
                  </a:lnTo>
                  <a:lnTo>
                    <a:pt x="3958576" y="4008"/>
                  </a:lnTo>
                  <a:lnTo>
                    <a:pt x="3938852" y="0"/>
                  </a:lnTo>
                  <a:close/>
                </a:path>
              </a:pathLst>
            </a:custGeom>
            <a:solidFill>
              <a:srgbClr val="69183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2" name="object 12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309194" y="2680423"/>
              <a:ext cx="3989651" cy="50609"/>
            </a:xfrm>
            <a:prstGeom prst="rect">
              <a:avLst/>
            </a:prstGeom>
          </p:spPr>
        </p:pic>
        <p:sp>
          <p:nvSpPr>
            <p:cNvPr id="13" name="object 13"/>
            <p:cNvSpPr/>
            <p:nvPr/>
          </p:nvSpPr>
          <p:spPr>
            <a:xfrm>
              <a:off x="309193" y="2724701"/>
              <a:ext cx="3989704" cy="541020"/>
            </a:xfrm>
            <a:custGeom>
              <a:avLst/>
              <a:gdLst/>
              <a:ahLst/>
              <a:cxnLst/>
              <a:rect l="l" t="t" r="r" b="b"/>
              <a:pathLst>
                <a:path w="3989704" h="541020">
                  <a:moveTo>
                    <a:pt x="3989652" y="0"/>
                  </a:moveTo>
                  <a:lnTo>
                    <a:pt x="0" y="0"/>
                  </a:lnTo>
                  <a:lnTo>
                    <a:pt x="0" y="490087"/>
                  </a:lnTo>
                  <a:lnTo>
                    <a:pt x="4008" y="509812"/>
                  </a:lnTo>
                  <a:lnTo>
                    <a:pt x="14922" y="525964"/>
                  </a:lnTo>
                  <a:lnTo>
                    <a:pt x="31075" y="536879"/>
                  </a:lnTo>
                  <a:lnTo>
                    <a:pt x="50800" y="540887"/>
                  </a:lnTo>
                  <a:lnTo>
                    <a:pt x="3938852" y="540887"/>
                  </a:lnTo>
                  <a:lnTo>
                    <a:pt x="3958576" y="536879"/>
                  </a:lnTo>
                  <a:lnTo>
                    <a:pt x="3974729" y="525964"/>
                  </a:lnTo>
                  <a:lnTo>
                    <a:pt x="3985644" y="509812"/>
                  </a:lnTo>
                  <a:lnTo>
                    <a:pt x="3989652" y="490087"/>
                  </a:lnTo>
                  <a:lnTo>
                    <a:pt x="3989652" y="0"/>
                  </a:lnTo>
                  <a:close/>
                </a:path>
              </a:pathLst>
            </a:custGeom>
            <a:solidFill>
              <a:srgbClr val="F0E7E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4" name="object 14"/>
          <p:cNvSpPr txBox="1"/>
          <p:nvPr/>
        </p:nvSpPr>
        <p:spPr>
          <a:xfrm>
            <a:off x="197218" y="364347"/>
            <a:ext cx="4030979" cy="286702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400" spc="-50" dirty="0">
                <a:solidFill>
                  <a:srgbClr val="FFFFFF"/>
                </a:solidFill>
                <a:latin typeface="Trebuchet MS"/>
                <a:cs typeface="Trebuchet MS"/>
              </a:rPr>
              <a:t>Comparison</a:t>
            </a:r>
            <a:r>
              <a:rPr sz="1400" spc="45" dirty="0">
                <a:solidFill>
                  <a:srgbClr val="FFFFFF"/>
                </a:solidFill>
                <a:latin typeface="Trebuchet MS"/>
                <a:cs typeface="Trebuchet MS"/>
              </a:rPr>
              <a:t> </a:t>
            </a:r>
            <a:r>
              <a:rPr sz="1400" spc="-105" dirty="0">
                <a:solidFill>
                  <a:srgbClr val="FFFFFF"/>
                </a:solidFill>
                <a:latin typeface="Trebuchet MS"/>
                <a:cs typeface="Trebuchet MS"/>
              </a:rPr>
              <a:t>between</a:t>
            </a:r>
            <a:r>
              <a:rPr sz="1400" spc="45" dirty="0">
                <a:solidFill>
                  <a:srgbClr val="FFFFFF"/>
                </a:solidFill>
                <a:latin typeface="Trebuchet MS"/>
                <a:cs typeface="Trebuchet MS"/>
              </a:rPr>
              <a:t> </a:t>
            </a:r>
            <a:r>
              <a:rPr sz="1400" spc="-50" dirty="0">
                <a:solidFill>
                  <a:srgbClr val="FFFFFF"/>
                </a:solidFill>
                <a:latin typeface="Trebuchet MS"/>
                <a:cs typeface="Trebuchet MS"/>
              </a:rPr>
              <a:t>Java</a:t>
            </a:r>
            <a:r>
              <a:rPr sz="1400" spc="45" dirty="0">
                <a:solidFill>
                  <a:srgbClr val="FFFFFF"/>
                </a:solidFill>
                <a:latin typeface="Trebuchet MS"/>
                <a:cs typeface="Trebuchet MS"/>
              </a:rPr>
              <a:t> </a:t>
            </a:r>
            <a:r>
              <a:rPr sz="1400" spc="-60" dirty="0">
                <a:solidFill>
                  <a:srgbClr val="FFFFFF"/>
                </a:solidFill>
                <a:latin typeface="Trebuchet MS"/>
                <a:cs typeface="Trebuchet MS"/>
              </a:rPr>
              <a:t>and</a:t>
            </a:r>
            <a:r>
              <a:rPr sz="1400" spc="45" dirty="0">
                <a:solidFill>
                  <a:srgbClr val="FFFFFF"/>
                </a:solidFill>
                <a:latin typeface="Trebuchet MS"/>
                <a:cs typeface="Trebuchet MS"/>
              </a:rPr>
              <a:t> </a:t>
            </a:r>
            <a:r>
              <a:rPr sz="1400" spc="-25" dirty="0">
                <a:solidFill>
                  <a:srgbClr val="FFFFFF"/>
                </a:solidFill>
                <a:latin typeface="Trebuchet MS"/>
                <a:cs typeface="Trebuchet MS"/>
              </a:rPr>
              <a:t>Python</a:t>
            </a:r>
            <a:endParaRPr sz="1400" dirty="0">
              <a:latin typeface="Trebuchet MS"/>
              <a:cs typeface="Trebuchet MS"/>
            </a:endParaRPr>
          </a:p>
          <a:p>
            <a:pPr>
              <a:lnSpc>
                <a:spcPct val="100000"/>
              </a:lnSpc>
              <a:spcBef>
                <a:spcPts val="5"/>
              </a:spcBef>
            </a:pPr>
            <a:endParaRPr sz="1100" dirty="0">
              <a:latin typeface="Trebuchet MS"/>
              <a:cs typeface="Trebuchet MS"/>
            </a:endParaRPr>
          </a:p>
          <a:p>
            <a:pPr marL="162560">
              <a:lnSpc>
                <a:spcPct val="100000"/>
              </a:lnSpc>
            </a:pPr>
            <a:r>
              <a:rPr sz="1200" spc="-55" dirty="0">
                <a:solidFill>
                  <a:srgbClr val="FFFFFF"/>
                </a:solidFill>
                <a:latin typeface="Trebuchet MS"/>
                <a:cs typeface="Trebuchet MS"/>
              </a:rPr>
              <a:t>Java</a:t>
            </a:r>
            <a:endParaRPr sz="1200" dirty="0">
              <a:latin typeface="Trebuchet MS"/>
              <a:cs typeface="Trebuchet MS"/>
            </a:endParaRPr>
          </a:p>
          <a:p>
            <a:pPr marL="162560">
              <a:lnSpc>
                <a:spcPct val="100000"/>
              </a:lnSpc>
              <a:spcBef>
                <a:spcPts val="215"/>
              </a:spcBef>
            </a:pPr>
            <a:r>
              <a:rPr sz="1100" spc="20" dirty="0">
                <a:solidFill>
                  <a:srgbClr val="007F00"/>
                </a:solidFill>
                <a:latin typeface="SimSun"/>
                <a:cs typeface="SimSun"/>
              </a:rPr>
              <a:t>public</a:t>
            </a:r>
            <a:r>
              <a:rPr sz="1100" dirty="0">
                <a:solidFill>
                  <a:srgbClr val="007F00"/>
                </a:solidFill>
                <a:latin typeface="SimSun"/>
                <a:cs typeface="SimSun"/>
              </a:rPr>
              <a:t> </a:t>
            </a:r>
            <a:r>
              <a:rPr sz="1100" spc="20" dirty="0">
                <a:solidFill>
                  <a:srgbClr val="007F00"/>
                </a:solidFill>
                <a:latin typeface="SimSun"/>
                <a:cs typeface="SimSun"/>
              </a:rPr>
              <a:t>class</a:t>
            </a:r>
            <a:r>
              <a:rPr sz="1100" spc="5" dirty="0">
                <a:solidFill>
                  <a:srgbClr val="007F00"/>
                </a:solidFill>
                <a:latin typeface="SimSun"/>
                <a:cs typeface="SimSun"/>
              </a:rPr>
              <a:t> </a:t>
            </a:r>
            <a:r>
              <a:rPr sz="1100" spc="20" dirty="0">
                <a:solidFill>
                  <a:srgbClr val="0000FF"/>
                </a:solidFill>
                <a:latin typeface="SimSun"/>
                <a:cs typeface="SimSun"/>
              </a:rPr>
              <a:t>Test</a:t>
            </a:r>
            <a:r>
              <a:rPr sz="1100" spc="5" dirty="0">
                <a:solidFill>
                  <a:srgbClr val="0000FF"/>
                </a:solidFill>
                <a:latin typeface="SimSun"/>
                <a:cs typeface="SimSun"/>
              </a:rPr>
              <a:t> </a:t>
            </a:r>
            <a:r>
              <a:rPr sz="1100" spc="20" dirty="0">
                <a:latin typeface="SimSun"/>
                <a:cs typeface="SimSun"/>
              </a:rPr>
              <a:t>{</a:t>
            </a:r>
            <a:endParaRPr sz="1100" dirty="0">
              <a:latin typeface="SimSun"/>
              <a:cs typeface="SimSun"/>
            </a:endParaRPr>
          </a:p>
          <a:p>
            <a:pPr marL="307975">
              <a:lnSpc>
                <a:spcPct val="100000"/>
              </a:lnSpc>
              <a:spcBef>
                <a:spcPts val="35"/>
              </a:spcBef>
            </a:pPr>
            <a:r>
              <a:rPr sz="1100" spc="20" dirty="0">
                <a:solidFill>
                  <a:srgbClr val="007F00"/>
                </a:solidFill>
                <a:latin typeface="SimSun"/>
                <a:cs typeface="SimSun"/>
              </a:rPr>
              <a:t>public</a:t>
            </a:r>
            <a:r>
              <a:rPr sz="1100" spc="15" dirty="0">
                <a:solidFill>
                  <a:srgbClr val="007F00"/>
                </a:solidFill>
                <a:latin typeface="SimSun"/>
                <a:cs typeface="SimSun"/>
              </a:rPr>
              <a:t> </a:t>
            </a:r>
            <a:r>
              <a:rPr sz="1100" spc="20" dirty="0">
                <a:solidFill>
                  <a:srgbClr val="007F00"/>
                </a:solidFill>
                <a:latin typeface="SimSun"/>
                <a:cs typeface="SimSun"/>
              </a:rPr>
              <a:t>static </a:t>
            </a:r>
            <a:r>
              <a:rPr sz="1100" spc="20" dirty="0">
                <a:solidFill>
                  <a:srgbClr val="AF003F"/>
                </a:solidFill>
                <a:latin typeface="SimSun"/>
                <a:cs typeface="SimSun"/>
              </a:rPr>
              <a:t>void </a:t>
            </a:r>
            <a:r>
              <a:rPr sz="1100" spc="20" dirty="0">
                <a:solidFill>
                  <a:srgbClr val="0000FF"/>
                </a:solidFill>
                <a:latin typeface="SimSun"/>
                <a:cs typeface="SimSun"/>
              </a:rPr>
              <a:t>main</a:t>
            </a:r>
            <a:r>
              <a:rPr sz="1100" spc="20" dirty="0">
                <a:latin typeface="SimSun"/>
                <a:cs typeface="SimSun"/>
              </a:rPr>
              <a:t>(String args</a:t>
            </a:r>
            <a:r>
              <a:rPr sz="1100" spc="20" dirty="0">
                <a:solidFill>
                  <a:srgbClr val="666666"/>
                </a:solidFill>
                <a:latin typeface="SimSun"/>
                <a:cs typeface="SimSun"/>
              </a:rPr>
              <a:t>[]</a:t>
            </a:r>
            <a:r>
              <a:rPr sz="1100" spc="20" dirty="0">
                <a:latin typeface="SimSun"/>
                <a:cs typeface="SimSun"/>
              </a:rPr>
              <a:t>) {</a:t>
            </a:r>
            <a:endParaRPr sz="1100" dirty="0">
              <a:latin typeface="SimSun"/>
              <a:cs typeface="SimSun"/>
            </a:endParaRPr>
          </a:p>
          <a:p>
            <a:pPr marL="453390" marR="5080">
              <a:lnSpc>
                <a:spcPct val="102699"/>
              </a:lnSpc>
            </a:pPr>
            <a:r>
              <a:rPr sz="1100" spc="20" dirty="0">
                <a:latin typeface="SimSun"/>
                <a:cs typeface="SimSun"/>
              </a:rPr>
              <a:t>String planets</a:t>
            </a:r>
            <a:r>
              <a:rPr sz="1100" spc="20" dirty="0">
                <a:solidFill>
                  <a:srgbClr val="666666"/>
                </a:solidFill>
                <a:latin typeface="SimSun"/>
                <a:cs typeface="SimSun"/>
              </a:rPr>
              <a:t>[]</a:t>
            </a:r>
            <a:r>
              <a:rPr sz="1100" spc="25" dirty="0">
                <a:solidFill>
                  <a:srgbClr val="666666"/>
                </a:solidFill>
                <a:latin typeface="SimSun"/>
                <a:cs typeface="SimSun"/>
              </a:rPr>
              <a:t> </a:t>
            </a:r>
            <a:r>
              <a:rPr sz="1100" spc="20" dirty="0">
                <a:solidFill>
                  <a:srgbClr val="666666"/>
                </a:solidFill>
                <a:latin typeface="SimSun"/>
                <a:cs typeface="SimSun"/>
              </a:rPr>
              <a:t>=</a:t>
            </a:r>
            <a:r>
              <a:rPr sz="1100" spc="25" dirty="0">
                <a:solidFill>
                  <a:srgbClr val="666666"/>
                </a:solidFill>
                <a:latin typeface="SimSun"/>
                <a:cs typeface="SimSun"/>
              </a:rPr>
              <a:t> </a:t>
            </a:r>
            <a:r>
              <a:rPr sz="1100" spc="20" dirty="0">
                <a:latin typeface="SimSun"/>
                <a:cs typeface="SimSun"/>
              </a:rPr>
              <a:t>{</a:t>
            </a:r>
            <a:r>
              <a:rPr lang="en-US" sz="1100" spc="20" dirty="0">
                <a:solidFill>
                  <a:srgbClr val="BA2121"/>
                </a:solidFill>
                <a:latin typeface="SimSun"/>
                <a:cs typeface="SimSun"/>
              </a:rPr>
              <a:t>"</a:t>
            </a:r>
            <a:r>
              <a:rPr sz="1100" spc="20" dirty="0">
                <a:solidFill>
                  <a:srgbClr val="BA2121"/>
                </a:solidFill>
                <a:latin typeface="SimSun"/>
                <a:cs typeface="SimSun"/>
              </a:rPr>
              <a:t>Mercury"</a:t>
            </a:r>
            <a:r>
              <a:rPr sz="1100" spc="20" dirty="0">
                <a:latin typeface="SimSun"/>
                <a:cs typeface="SimSun"/>
              </a:rPr>
              <a:t>,</a:t>
            </a:r>
            <a:r>
              <a:rPr sz="1100" spc="25" dirty="0">
                <a:latin typeface="SimSun"/>
                <a:cs typeface="SimSun"/>
              </a:rPr>
              <a:t> </a:t>
            </a:r>
            <a:r>
              <a:rPr sz="1100" spc="20" dirty="0">
                <a:solidFill>
                  <a:srgbClr val="BA2121"/>
                </a:solidFill>
                <a:latin typeface="SimSun"/>
                <a:cs typeface="SimSun"/>
              </a:rPr>
              <a:t>"Venus"</a:t>
            </a:r>
            <a:r>
              <a:rPr sz="1100" spc="20" dirty="0">
                <a:latin typeface="SimSun"/>
                <a:cs typeface="SimSun"/>
              </a:rPr>
              <a:t>, </a:t>
            </a:r>
            <a:r>
              <a:rPr sz="1100" spc="20" dirty="0">
                <a:solidFill>
                  <a:srgbClr val="BA2121"/>
                </a:solidFill>
                <a:latin typeface="SimSun"/>
                <a:cs typeface="SimSun"/>
              </a:rPr>
              <a:t>"Earth"</a:t>
            </a:r>
            <a:r>
              <a:rPr sz="1100" spc="20" dirty="0">
                <a:latin typeface="SimSun"/>
                <a:cs typeface="SimSun"/>
              </a:rPr>
              <a:t>}; </a:t>
            </a:r>
            <a:r>
              <a:rPr sz="1100" spc="-535" dirty="0">
                <a:latin typeface="SimSun"/>
                <a:cs typeface="SimSun"/>
              </a:rPr>
              <a:t> </a:t>
            </a:r>
            <a:r>
              <a:rPr sz="1100" spc="20" dirty="0">
                <a:solidFill>
                  <a:srgbClr val="007F00"/>
                </a:solidFill>
                <a:latin typeface="SimSun"/>
                <a:cs typeface="SimSun"/>
              </a:rPr>
              <a:t>for</a:t>
            </a:r>
            <a:r>
              <a:rPr sz="1100" spc="15" dirty="0">
                <a:solidFill>
                  <a:srgbClr val="007F00"/>
                </a:solidFill>
                <a:latin typeface="SimSun"/>
                <a:cs typeface="SimSun"/>
              </a:rPr>
              <a:t> </a:t>
            </a:r>
            <a:r>
              <a:rPr sz="1100" spc="20" dirty="0">
                <a:latin typeface="SimSun"/>
                <a:cs typeface="SimSun"/>
              </a:rPr>
              <a:t>(String planet : planets)</a:t>
            </a:r>
            <a:r>
              <a:rPr sz="1100" spc="15" dirty="0">
                <a:latin typeface="SimSun"/>
                <a:cs typeface="SimSun"/>
              </a:rPr>
              <a:t> </a:t>
            </a:r>
            <a:r>
              <a:rPr sz="1100" spc="20" dirty="0">
                <a:latin typeface="SimSun"/>
                <a:cs typeface="SimSun"/>
              </a:rPr>
              <a:t>{</a:t>
            </a:r>
            <a:endParaRPr sz="1100" dirty="0">
              <a:latin typeface="SimSun"/>
              <a:cs typeface="SimSun"/>
            </a:endParaRPr>
          </a:p>
          <a:p>
            <a:pPr marL="598805">
              <a:lnSpc>
                <a:spcPct val="100000"/>
              </a:lnSpc>
              <a:spcBef>
                <a:spcPts val="35"/>
              </a:spcBef>
            </a:pPr>
            <a:r>
              <a:rPr sz="1100" spc="20" dirty="0">
                <a:latin typeface="SimSun"/>
                <a:cs typeface="SimSun"/>
              </a:rPr>
              <a:t>System.</a:t>
            </a:r>
            <a:r>
              <a:rPr sz="1100" spc="20" dirty="0">
                <a:solidFill>
                  <a:srgbClr val="7C8E28"/>
                </a:solidFill>
                <a:latin typeface="SimSun"/>
                <a:cs typeface="SimSun"/>
              </a:rPr>
              <a:t>out</a:t>
            </a:r>
            <a:r>
              <a:rPr sz="1100" spc="20" dirty="0">
                <a:latin typeface="SimSun"/>
                <a:cs typeface="SimSun"/>
              </a:rPr>
              <a:t>.</a:t>
            </a:r>
            <a:r>
              <a:rPr sz="1100" spc="20" dirty="0">
                <a:solidFill>
                  <a:srgbClr val="7C8E28"/>
                </a:solidFill>
                <a:latin typeface="SimSun"/>
                <a:cs typeface="SimSun"/>
              </a:rPr>
              <a:t>println</a:t>
            </a:r>
            <a:r>
              <a:rPr sz="1100" spc="20" dirty="0">
                <a:latin typeface="SimSun"/>
                <a:cs typeface="SimSun"/>
              </a:rPr>
              <a:t>(planet);</a:t>
            </a:r>
            <a:endParaRPr sz="1100" dirty="0">
              <a:latin typeface="SimSun"/>
              <a:cs typeface="SimSun"/>
            </a:endParaRPr>
          </a:p>
          <a:p>
            <a:pPr marL="453390">
              <a:lnSpc>
                <a:spcPct val="100000"/>
              </a:lnSpc>
              <a:spcBef>
                <a:spcPts val="35"/>
              </a:spcBef>
            </a:pPr>
            <a:r>
              <a:rPr sz="1100" spc="20" dirty="0">
                <a:latin typeface="SimSun"/>
                <a:cs typeface="SimSun"/>
              </a:rPr>
              <a:t>}</a:t>
            </a:r>
            <a:endParaRPr sz="1100" dirty="0">
              <a:latin typeface="SimSun"/>
              <a:cs typeface="SimSun"/>
            </a:endParaRPr>
          </a:p>
          <a:p>
            <a:pPr marL="307975">
              <a:lnSpc>
                <a:spcPct val="100000"/>
              </a:lnSpc>
              <a:spcBef>
                <a:spcPts val="35"/>
              </a:spcBef>
            </a:pPr>
            <a:r>
              <a:rPr sz="1100" spc="20" dirty="0">
                <a:latin typeface="SimSun"/>
                <a:cs typeface="SimSun"/>
              </a:rPr>
              <a:t>}</a:t>
            </a:r>
            <a:endParaRPr sz="1100" dirty="0">
              <a:latin typeface="SimSun"/>
              <a:cs typeface="SimSun"/>
            </a:endParaRPr>
          </a:p>
          <a:p>
            <a:pPr marL="162560">
              <a:lnSpc>
                <a:spcPct val="100000"/>
              </a:lnSpc>
              <a:spcBef>
                <a:spcPts val="35"/>
              </a:spcBef>
            </a:pPr>
            <a:r>
              <a:rPr sz="1100" spc="20" dirty="0">
                <a:latin typeface="SimSun"/>
                <a:cs typeface="SimSun"/>
              </a:rPr>
              <a:t>}</a:t>
            </a:r>
            <a:endParaRPr sz="1100" dirty="0">
              <a:latin typeface="SimSun"/>
              <a:cs typeface="SimSun"/>
            </a:endParaRPr>
          </a:p>
          <a:p>
            <a:pPr>
              <a:lnSpc>
                <a:spcPct val="100000"/>
              </a:lnSpc>
              <a:spcBef>
                <a:spcPts val="55"/>
              </a:spcBef>
            </a:pPr>
            <a:endParaRPr sz="850" dirty="0">
              <a:latin typeface="SimSun"/>
              <a:cs typeface="SimSun"/>
            </a:endParaRPr>
          </a:p>
          <a:p>
            <a:pPr marL="162560">
              <a:lnSpc>
                <a:spcPct val="100000"/>
              </a:lnSpc>
            </a:pPr>
            <a:r>
              <a:rPr sz="1200" spc="-35" dirty="0">
                <a:solidFill>
                  <a:srgbClr val="FFFFFF"/>
                </a:solidFill>
                <a:latin typeface="Trebuchet MS"/>
                <a:cs typeface="Trebuchet MS"/>
              </a:rPr>
              <a:t>Python</a:t>
            </a:r>
            <a:endParaRPr sz="1200" dirty="0">
              <a:latin typeface="Trebuchet MS"/>
              <a:cs typeface="Trebuchet MS"/>
            </a:endParaRPr>
          </a:p>
          <a:p>
            <a:pPr marL="162560" marR="1022985">
              <a:lnSpc>
                <a:spcPct val="102699"/>
              </a:lnSpc>
              <a:spcBef>
                <a:spcPts val="265"/>
              </a:spcBef>
            </a:pPr>
            <a:r>
              <a:rPr sz="1100" spc="20" dirty="0">
                <a:latin typeface="SimSun"/>
                <a:cs typeface="SimSun"/>
              </a:rPr>
              <a:t>planets </a:t>
            </a:r>
            <a:r>
              <a:rPr sz="1100" spc="20" dirty="0">
                <a:solidFill>
                  <a:srgbClr val="666666"/>
                </a:solidFill>
                <a:latin typeface="SimSun"/>
                <a:cs typeface="SimSun"/>
              </a:rPr>
              <a:t>= </a:t>
            </a:r>
            <a:r>
              <a:rPr sz="1100" spc="20" dirty="0">
                <a:latin typeface="SimSun"/>
                <a:cs typeface="SimSun"/>
              </a:rPr>
              <a:t>[</a:t>
            </a:r>
            <a:r>
              <a:rPr sz="1100" spc="20" dirty="0">
                <a:solidFill>
                  <a:srgbClr val="BA2121"/>
                </a:solidFill>
                <a:latin typeface="SimSun"/>
                <a:cs typeface="SimSun"/>
              </a:rPr>
              <a:t>"Mercury"</a:t>
            </a:r>
            <a:r>
              <a:rPr sz="1100" spc="20" dirty="0">
                <a:latin typeface="SimSun"/>
                <a:cs typeface="SimSun"/>
              </a:rPr>
              <a:t>, </a:t>
            </a:r>
            <a:r>
              <a:rPr sz="1100" spc="20" dirty="0">
                <a:solidFill>
                  <a:srgbClr val="BA2121"/>
                </a:solidFill>
                <a:latin typeface="SimSun"/>
                <a:cs typeface="SimSun"/>
              </a:rPr>
              <a:t>"Venus"</a:t>
            </a:r>
            <a:r>
              <a:rPr sz="1100" spc="20" dirty="0">
                <a:latin typeface="SimSun"/>
                <a:cs typeface="SimSun"/>
              </a:rPr>
              <a:t>, </a:t>
            </a:r>
            <a:r>
              <a:rPr sz="1100" spc="20" dirty="0">
                <a:solidFill>
                  <a:srgbClr val="BA2121"/>
                </a:solidFill>
                <a:latin typeface="SimSun"/>
                <a:cs typeface="SimSun"/>
              </a:rPr>
              <a:t>"Earth"</a:t>
            </a:r>
            <a:r>
              <a:rPr sz="1100" spc="20" dirty="0">
                <a:latin typeface="SimSun"/>
                <a:cs typeface="SimSun"/>
              </a:rPr>
              <a:t>] </a:t>
            </a:r>
            <a:r>
              <a:rPr sz="1100" spc="-535" dirty="0">
                <a:latin typeface="SimSun"/>
                <a:cs typeface="SimSun"/>
              </a:rPr>
              <a:t> </a:t>
            </a:r>
            <a:r>
              <a:rPr sz="1100" spc="20" dirty="0">
                <a:solidFill>
                  <a:srgbClr val="007F00"/>
                </a:solidFill>
                <a:latin typeface="SimSun"/>
                <a:cs typeface="SimSun"/>
              </a:rPr>
              <a:t>for</a:t>
            </a:r>
            <a:r>
              <a:rPr sz="1100" spc="15" dirty="0">
                <a:solidFill>
                  <a:srgbClr val="007F00"/>
                </a:solidFill>
                <a:latin typeface="SimSun"/>
                <a:cs typeface="SimSun"/>
              </a:rPr>
              <a:t> </a:t>
            </a:r>
            <a:r>
              <a:rPr sz="1100" spc="20" dirty="0">
                <a:latin typeface="SimSun"/>
                <a:cs typeface="SimSun"/>
              </a:rPr>
              <a:t>planet </a:t>
            </a:r>
            <a:r>
              <a:rPr sz="1100" spc="20" dirty="0">
                <a:solidFill>
                  <a:srgbClr val="AA21FF"/>
                </a:solidFill>
                <a:latin typeface="SimSun"/>
                <a:cs typeface="SimSun"/>
              </a:rPr>
              <a:t>in</a:t>
            </a:r>
            <a:r>
              <a:rPr sz="1100" spc="15" dirty="0">
                <a:solidFill>
                  <a:srgbClr val="AA21FF"/>
                </a:solidFill>
                <a:latin typeface="SimSun"/>
                <a:cs typeface="SimSun"/>
              </a:rPr>
              <a:t> </a:t>
            </a:r>
            <a:r>
              <a:rPr sz="1100" spc="20" dirty="0">
                <a:latin typeface="SimSun"/>
                <a:cs typeface="SimSun"/>
              </a:rPr>
              <a:t>planets:</a:t>
            </a:r>
            <a:endParaRPr sz="1100" dirty="0">
              <a:latin typeface="SimSun"/>
              <a:cs typeface="SimSun"/>
            </a:endParaRPr>
          </a:p>
          <a:p>
            <a:pPr marL="453390">
              <a:lnSpc>
                <a:spcPct val="100000"/>
              </a:lnSpc>
              <a:spcBef>
                <a:spcPts val="35"/>
              </a:spcBef>
            </a:pPr>
            <a:r>
              <a:rPr sz="1100" spc="20" dirty="0">
                <a:solidFill>
                  <a:srgbClr val="007F00"/>
                </a:solidFill>
                <a:latin typeface="SimSun"/>
                <a:cs typeface="SimSun"/>
              </a:rPr>
              <a:t>print</a:t>
            </a:r>
            <a:r>
              <a:rPr sz="1100" spc="20" dirty="0">
                <a:latin typeface="SimSun"/>
                <a:cs typeface="SimSun"/>
              </a:rPr>
              <a:t>(planet)</a:t>
            </a:r>
            <a:endParaRPr sz="1100" dirty="0">
              <a:latin typeface="SimSun"/>
              <a:cs typeface="SimSun"/>
            </a:endParaRPr>
          </a:p>
        </p:txBody>
      </p:sp>
      <p:grpSp>
        <p:nvGrpSpPr>
          <p:cNvPr id="15" name="object 15"/>
          <p:cNvGrpSpPr/>
          <p:nvPr/>
        </p:nvGrpSpPr>
        <p:grpSpPr>
          <a:xfrm>
            <a:off x="0" y="3346348"/>
            <a:ext cx="4608195" cy="109855"/>
            <a:chOff x="0" y="3346348"/>
            <a:chExt cx="4608195" cy="109855"/>
          </a:xfrm>
        </p:grpSpPr>
        <p:sp>
          <p:nvSpPr>
            <p:cNvPr id="16" name="object 16"/>
            <p:cNvSpPr/>
            <p:nvPr/>
          </p:nvSpPr>
          <p:spPr>
            <a:xfrm>
              <a:off x="0" y="3346361"/>
              <a:ext cx="2304415" cy="109855"/>
            </a:xfrm>
            <a:custGeom>
              <a:avLst/>
              <a:gdLst/>
              <a:ahLst/>
              <a:cxnLst/>
              <a:rect l="l" t="t" r="r" b="b"/>
              <a:pathLst>
                <a:path w="2304415" h="109854">
                  <a:moveTo>
                    <a:pt x="2304008" y="0"/>
                  </a:moveTo>
                  <a:lnTo>
                    <a:pt x="1152004" y="0"/>
                  </a:lnTo>
                  <a:lnTo>
                    <a:pt x="0" y="0"/>
                  </a:lnTo>
                  <a:lnTo>
                    <a:pt x="0" y="109639"/>
                  </a:lnTo>
                  <a:lnTo>
                    <a:pt x="1152004" y="109639"/>
                  </a:lnTo>
                  <a:lnTo>
                    <a:pt x="2304008" y="109639"/>
                  </a:lnTo>
                  <a:lnTo>
                    <a:pt x="2304008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2303995" y="3346361"/>
              <a:ext cx="2304415" cy="109855"/>
            </a:xfrm>
            <a:custGeom>
              <a:avLst/>
              <a:gdLst/>
              <a:ahLst/>
              <a:cxnLst/>
              <a:rect l="l" t="t" r="r" b="b"/>
              <a:pathLst>
                <a:path w="2304415" h="109854">
                  <a:moveTo>
                    <a:pt x="2303996" y="0"/>
                  </a:moveTo>
                  <a:lnTo>
                    <a:pt x="1920024" y="0"/>
                  </a:lnTo>
                  <a:lnTo>
                    <a:pt x="0" y="0"/>
                  </a:lnTo>
                  <a:lnTo>
                    <a:pt x="0" y="109639"/>
                  </a:lnTo>
                  <a:lnTo>
                    <a:pt x="1920024" y="109639"/>
                  </a:lnTo>
                  <a:lnTo>
                    <a:pt x="2303996" y="109639"/>
                  </a:lnTo>
                  <a:lnTo>
                    <a:pt x="2303996" y="0"/>
                  </a:lnTo>
                  <a:close/>
                </a:path>
              </a:pathLst>
            </a:custGeom>
            <a:solidFill>
              <a:srgbClr val="8C205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0" name="object 20"/>
          <p:cNvSpPr txBox="1"/>
          <p:nvPr/>
        </p:nvSpPr>
        <p:spPr>
          <a:xfrm>
            <a:off x="3086696" y="3351784"/>
            <a:ext cx="354965" cy="10223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5"/>
              </a:lnSpc>
            </a:pPr>
            <a:r>
              <a:rPr sz="600" spc="5" dirty="0">
                <a:solidFill>
                  <a:srgbClr val="FFFFFF"/>
                </a:solidFill>
                <a:latin typeface="Microsoft Sans Serif"/>
                <a:cs typeface="Microsoft Sans Serif"/>
              </a:rPr>
              <a:t>Tutorial</a:t>
            </a:r>
            <a:r>
              <a:rPr sz="600" spc="-10" dirty="0">
                <a:solidFill>
                  <a:srgbClr val="FFFFFF"/>
                </a:solidFill>
                <a:latin typeface="Microsoft Sans Serif"/>
                <a:cs typeface="Microsoft Sans Serif"/>
              </a:rPr>
              <a:t> </a:t>
            </a:r>
            <a:r>
              <a:rPr sz="600" spc="-20" dirty="0">
                <a:solidFill>
                  <a:srgbClr val="FFFFFF"/>
                </a:solidFill>
                <a:latin typeface="Microsoft Sans Serif"/>
                <a:cs typeface="Microsoft Sans Serif"/>
              </a:rPr>
              <a:t>1</a:t>
            </a:r>
            <a:endParaRPr sz="600" dirty="0">
              <a:latin typeface="Microsoft Sans Serif"/>
              <a:cs typeface="Microsoft Sans Serif"/>
            </a:endParaRPr>
          </a:p>
        </p:txBody>
      </p:sp>
      <p:sp>
        <p:nvSpPr>
          <p:cNvPr id="21" name="object 12">
            <a:extLst>
              <a:ext uri="{FF2B5EF4-FFF2-40B4-BE49-F238E27FC236}">
                <a16:creationId xmlns:a16="http://schemas.microsoft.com/office/drawing/2014/main" id="{6F6C0A98-D494-7F19-BAC7-71835F3C49B9}"/>
              </a:ext>
            </a:extLst>
          </p:cNvPr>
          <p:cNvSpPr txBox="1">
            <a:spLocks noGrp="1"/>
          </p:cNvSpPr>
          <p:nvPr>
            <p:ph type="dt" sz="half" idx="6"/>
          </p:nvPr>
        </p:nvSpPr>
        <p:spPr>
          <a:xfrm>
            <a:off x="1506396" y="3351784"/>
            <a:ext cx="570053" cy="8976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5"/>
              </a:lnSpc>
            </a:pPr>
            <a:r>
              <a:rPr lang="en-US" spc="10" dirty="0"/>
              <a:t>Summer 2026</a:t>
            </a:r>
            <a:endParaRPr spc="-20" dirty="0"/>
          </a:p>
        </p:txBody>
      </p:sp>
      <p:sp>
        <p:nvSpPr>
          <p:cNvPr id="22" name="Footer Placeholder 10">
            <a:extLst>
              <a:ext uri="{FF2B5EF4-FFF2-40B4-BE49-F238E27FC236}">
                <a16:creationId xmlns:a16="http://schemas.microsoft.com/office/drawing/2014/main" id="{F1E3F440-6021-7986-452C-4202859B5035}"/>
              </a:ext>
            </a:extLst>
          </p:cNvPr>
          <p:cNvSpPr>
            <a:spLocks noGrp="1"/>
          </p:cNvSpPr>
          <p:nvPr>
            <p:ph type="ftr" sz="quarter" idx="5"/>
          </p:nvPr>
        </p:nvSpPr>
        <p:spPr>
          <a:xfrm>
            <a:off x="346620" y="3351783"/>
            <a:ext cx="663029" cy="207391"/>
          </a:xfrm>
        </p:spPr>
        <p:txBody>
          <a:bodyPr/>
          <a:lstStyle/>
          <a:p>
            <a:pPr marL="12700">
              <a:lnSpc>
                <a:spcPts val="675"/>
              </a:lnSpc>
            </a:pPr>
            <a:r>
              <a:rPr lang="en-US" spc="-20" dirty="0"/>
              <a:t>By Hazem</a:t>
            </a:r>
            <a:r>
              <a:rPr lang="en-US" spc="-5" dirty="0"/>
              <a:t> </a:t>
            </a:r>
            <a:r>
              <a:rPr lang="en-US" dirty="0"/>
              <a:t>Nabil</a:t>
            </a:r>
          </a:p>
        </p:txBody>
      </p:sp>
      <p:sp>
        <p:nvSpPr>
          <p:cNvPr id="18" name="Slide Number Placeholder 14">
            <a:extLst>
              <a:ext uri="{FF2B5EF4-FFF2-40B4-BE49-F238E27FC236}">
                <a16:creationId xmlns:a16="http://schemas.microsoft.com/office/drawing/2014/main" id="{544AE83A-C3B2-4426-7432-FD57D9FA1F7F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>
          <a:xfrm>
            <a:off x="4246994" y="3351784"/>
            <a:ext cx="344804" cy="89768"/>
          </a:xfrm>
        </p:spPr>
        <p:txBody>
          <a:bodyPr/>
          <a:lstStyle/>
          <a:p>
            <a:pPr marL="38100">
              <a:lnSpc>
                <a:spcPts val="675"/>
              </a:lnSpc>
            </a:pPr>
            <a:fld id="{81D60167-4931-47E6-BA6A-407CBD079E47}" type="slidenum">
              <a:rPr lang="en-US" spc="-20" smtClean="0"/>
              <a:t>17</a:t>
            </a:fld>
            <a:r>
              <a:rPr lang="en-US" spc="20" dirty="0"/>
              <a:t> </a:t>
            </a:r>
            <a:r>
              <a:rPr lang="en-US" spc="150" dirty="0"/>
              <a:t>/</a:t>
            </a:r>
            <a:r>
              <a:rPr lang="en-US" spc="20" dirty="0"/>
              <a:t> </a:t>
            </a:r>
            <a:r>
              <a:rPr lang="en-US" spc="-20" dirty="0"/>
              <a:t>20</a:t>
            </a:r>
          </a:p>
        </p:txBody>
      </p:sp>
    </p:spTree>
  </p:cSld>
  <p:clrMapOvr>
    <a:masterClrMapping/>
  </p:clrMapOvr>
  <p:transition>
    <p:cut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object 8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468849" y="1905809"/>
            <a:ext cx="107969" cy="107969"/>
          </a:xfrm>
          <a:prstGeom prst="rect">
            <a:avLst/>
          </a:prstGeom>
        </p:spPr>
      </p:pic>
      <p:pic>
        <p:nvPicPr>
          <p:cNvPr id="7" name="object 7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468849" y="1382782"/>
            <a:ext cx="107969" cy="107969"/>
          </a:xfrm>
          <a:prstGeom prst="rect">
            <a:avLst/>
          </a:prstGeom>
        </p:spPr>
      </p:pic>
      <p:sp>
        <p:nvSpPr>
          <p:cNvPr id="2" name="object 2"/>
          <p:cNvSpPr txBox="1"/>
          <p:nvPr/>
        </p:nvSpPr>
        <p:spPr>
          <a:xfrm>
            <a:off x="1268450" y="0"/>
            <a:ext cx="940435" cy="382270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441325" marR="5080" indent="73025" algn="r">
              <a:lnSpc>
                <a:spcPts val="700"/>
              </a:lnSpc>
              <a:spcBef>
                <a:spcPts val="135"/>
              </a:spcBef>
            </a:pPr>
            <a:r>
              <a:rPr sz="600" spc="10" dirty="0">
                <a:solidFill>
                  <a:srgbClr val="7F7F7F"/>
                </a:solidFill>
                <a:latin typeface="Microsoft Sans Serif"/>
                <a:cs typeface="Microsoft Sans Serif"/>
              </a:rPr>
              <a:t>Intr</a:t>
            </a:r>
            <a:r>
              <a:rPr sz="600" spc="30" dirty="0">
                <a:solidFill>
                  <a:srgbClr val="7F7F7F"/>
                </a:solidFill>
                <a:latin typeface="Microsoft Sans Serif"/>
                <a:cs typeface="Microsoft Sans Serif"/>
              </a:rPr>
              <a:t>o</a:t>
            </a:r>
            <a:r>
              <a:rPr sz="600" dirty="0">
                <a:solidFill>
                  <a:srgbClr val="7F7F7F"/>
                </a:solidFill>
                <a:latin typeface="Microsoft Sans Serif"/>
                <a:cs typeface="Microsoft Sans Serif"/>
              </a:rPr>
              <a:t>duction  </a:t>
            </a:r>
            <a:r>
              <a:rPr sz="600" spc="-30" dirty="0">
                <a:solidFill>
                  <a:srgbClr val="7F7F7F"/>
                </a:solidFill>
                <a:latin typeface="Microsoft Sans Serif"/>
                <a:cs typeface="Microsoft Sans Serif"/>
              </a:rPr>
              <a:t>Cours</a:t>
            </a:r>
            <a:r>
              <a:rPr sz="600" spc="-25" dirty="0">
                <a:solidFill>
                  <a:srgbClr val="7F7F7F"/>
                </a:solidFill>
                <a:latin typeface="Microsoft Sans Serif"/>
                <a:cs typeface="Microsoft Sans Serif"/>
              </a:rPr>
              <a:t>e</a:t>
            </a:r>
            <a:r>
              <a:rPr sz="600" spc="50" dirty="0">
                <a:solidFill>
                  <a:srgbClr val="7F7F7F"/>
                </a:solidFill>
                <a:latin typeface="Microsoft Sans Serif"/>
                <a:cs typeface="Microsoft Sans Serif"/>
              </a:rPr>
              <a:t> </a:t>
            </a:r>
            <a:r>
              <a:rPr sz="600" spc="-5" dirty="0">
                <a:solidFill>
                  <a:srgbClr val="7F7F7F"/>
                </a:solidFill>
                <a:latin typeface="Microsoft Sans Serif"/>
                <a:cs typeface="Microsoft Sans Serif"/>
              </a:rPr>
              <a:t>Details  </a:t>
            </a:r>
            <a:r>
              <a:rPr sz="600" spc="10" dirty="0">
                <a:solidFill>
                  <a:srgbClr val="7F7F7F"/>
                </a:solidFill>
                <a:latin typeface="Microsoft Sans Serif"/>
                <a:cs typeface="Microsoft Sans Serif"/>
              </a:rPr>
              <a:t>Motivation</a:t>
            </a:r>
            <a:endParaRPr sz="600" dirty="0">
              <a:latin typeface="Microsoft Sans Serif"/>
              <a:cs typeface="Microsoft Sans Serif"/>
            </a:endParaRPr>
          </a:p>
          <a:p>
            <a:pPr marR="5080" algn="r">
              <a:lnSpc>
                <a:spcPts val="670"/>
              </a:lnSpc>
            </a:pPr>
            <a:r>
              <a:rPr sz="600" spc="-25" dirty="0">
                <a:solidFill>
                  <a:srgbClr val="FFFFFF"/>
                </a:solidFill>
                <a:latin typeface="Microsoft Sans Serif"/>
                <a:cs typeface="Microsoft Sans Serif"/>
              </a:rPr>
              <a:t>Accessing</a:t>
            </a:r>
            <a:r>
              <a:rPr sz="600" spc="35" dirty="0">
                <a:solidFill>
                  <a:srgbClr val="FFFFFF"/>
                </a:solidFill>
                <a:latin typeface="Microsoft Sans Serif"/>
                <a:cs typeface="Microsoft Sans Serif"/>
              </a:rPr>
              <a:t> </a:t>
            </a:r>
            <a:r>
              <a:rPr sz="600" dirty="0">
                <a:solidFill>
                  <a:srgbClr val="FFFFFF"/>
                </a:solidFill>
                <a:latin typeface="Microsoft Sans Serif"/>
                <a:cs typeface="Microsoft Sans Serif"/>
              </a:rPr>
              <a:t>the</a:t>
            </a:r>
            <a:r>
              <a:rPr sz="600" spc="40" dirty="0">
                <a:solidFill>
                  <a:srgbClr val="FFFFFF"/>
                </a:solidFill>
                <a:latin typeface="Microsoft Sans Serif"/>
                <a:cs typeface="Microsoft Sans Serif"/>
              </a:rPr>
              <a:t> </a:t>
            </a:r>
            <a:r>
              <a:rPr sz="600" spc="-10" dirty="0">
                <a:solidFill>
                  <a:srgbClr val="FFFFFF"/>
                </a:solidFill>
                <a:latin typeface="Microsoft Sans Serif"/>
                <a:cs typeface="Microsoft Sans Serif"/>
              </a:rPr>
              <a:t>Lab</a:t>
            </a:r>
            <a:r>
              <a:rPr sz="600" spc="35" dirty="0">
                <a:solidFill>
                  <a:srgbClr val="FFFFFF"/>
                </a:solidFill>
                <a:latin typeface="Microsoft Sans Serif"/>
                <a:cs typeface="Microsoft Sans Serif"/>
              </a:rPr>
              <a:t> </a:t>
            </a:r>
            <a:r>
              <a:rPr sz="600" spc="5" dirty="0">
                <a:solidFill>
                  <a:srgbClr val="FFFFFF"/>
                </a:solidFill>
                <a:latin typeface="Microsoft Sans Serif"/>
                <a:cs typeface="Microsoft Sans Serif"/>
              </a:rPr>
              <a:t>Material</a:t>
            </a:r>
            <a:endParaRPr sz="600" dirty="0">
              <a:latin typeface="Microsoft Sans Serif"/>
              <a:cs typeface="Microsoft Sans Serif"/>
            </a:endParaRPr>
          </a:p>
        </p:txBody>
      </p:sp>
      <p:pic>
        <p:nvPicPr>
          <p:cNvPr id="3" name="object 3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2303995" y="0"/>
            <a:ext cx="2304008" cy="366928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2679966" y="129636"/>
            <a:ext cx="1438910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900" b="1" spc="-20" dirty="0">
                <a:solidFill>
                  <a:srgbClr val="FFFFFF"/>
                </a:solidFill>
                <a:latin typeface="Trebuchet MS"/>
                <a:cs typeface="Trebuchet MS"/>
              </a:rPr>
              <a:t>German</a:t>
            </a:r>
            <a:r>
              <a:rPr sz="900" b="1" spc="40" dirty="0">
                <a:solidFill>
                  <a:srgbClr val="FFFFFF"/>
                </a:solidFill>
                <a:latin typeface="Trebuchet MS"/>
                <a:cs typeface="Trebuchet MS"/>
              </a:rPr>
              <a:t> </a:t>
            </a:r>
            <a:r>
              <a:rPr sz="900" b="1" spc="-25" dirty="0">
                <a:solidFill>
                  <a:srgbClr val="FFFFFF"/>
                </a:solidFill>
                <a:latin typeface="Trebuchet MS"/>
                <a:cs typeface="Trebuchet MS"/>
              </a:rPr>
              <a:t>University</a:t>
            </a:r>
            <a:r>
              <a:rPr sz="900" b="1" spc="45" dirty="0">
                <a:solidFill>
                  <a:srgbClr val="FFFFFF"/>
                </a:solidFill>
                <a:latin typeface="Trebuchet MS"/>
                <a:cs typeface="Trebuchet MS"/>
              </a:rPr>
              <a:t> </a:t>
            </a:r>
            <a:r>
              <a:rPr sz="900" b="1" spc="-35" dirty="0">
                <a:solidFill>
                  <a:srgbClr val="FFFFFF"/>
                </a:solidFill>
                <a:latin typeface="Trebuchet MS"/>
                <a:cs typeface="Trebuchet MS"/>
              </a:rPr>
              <a:t>in</a:t>
            </a:r>
            <a:r>
              <a:rPr sz="900" b="1" spc="40" dirty="0">
                <a:solidFill>
                  <a:srgbClr val="FFFFFF"/>
                </a:solidFill>
                <a:latin typeface="Trebuchet MS"/>
                <a:cs typeface="Trebuchet MS"/>
              </a:rPr>
              <a:t> </a:t>
            </a:r>
            <a:r>
              <a:rPr sz="900" b="1" spc="-15" dirty="0">
                <a:solidFill>
                  <a:srgbClr val="FFFFFF"/>
                </a:solidFill>
                <a:latin typeface="Trebuchet MS"/>
                <a:cs typeface="Trebuchet MS"/>
              </a:rPr>
              <a:t>Cairo</a:t>
            </a:r>
            <a:endParaRPr sz="900">
              <a:latin typeface="Trebuchet MS"/>
              <a:cs typeface="Trebuchet MS"/>
            </a:endParaRPr>
          </a:p>
        </p:txBody>
      </p:sp>
      <p:pic>
        <p:nvPicPr>
          <p:cNvPr id="5" name="object 5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0" y="366911"/>
            <a:ext cx="4604410" cy="260646"/>
          </a:xfrm>
          <a:prstGeom prst="rect">
            <a:avLst/>
          </a:prstGeom>
        </p:spPr>
      </p:pic>
      <p:sp>
        <p:nvSpPr>
          <p:cNvPr id="6" name="object 6"/>
          <p:cNvSpPr txBox="1"/>
          <p:nvPr/>
        </p:nvSpPr>
        <p:spPr>
          <a:xfrm>
            <a:off x="197218" y="364347"/>
            <a:ext cx="2432685" cy="24447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400" spc="-60" dirty="0">
                <a:solidFill>
                  <a:srgbClr val="FFFFFF"/>
                </a:solidFill>
                <a:latin typeface="Trebuchet MS"/>
                <a:cs typeface="Trebuchet MS"/>
              </a:rPr>
              <a:t>Interacting</a:t>
            </a:r>
            <a:r>
              <a:rPr sz="1400" spc="40" dirty="0">
                <a:solidFill>
                  <a:srgbClr val="FFFFFF"/>
                </a:solidFill>
                <a:latin typeface="Trebuchet MS"/>
                <a:cs typeface="Trebuchet MS"/>
              </a:rPr>
              <a:t> </a:t>
            </a:r>
            <a:r>
              <a:rPr sz="1400" spc="-65" dirty="0">
                <a:solidFill>
                  <a:srgbClr val="FFFFFF"/>
                </a:solidFill>
                <a:latin typeface="Trebuchet MS"/>
                <a:cs typeface="Trebuchet MS"/>
              </a:rPr>
              <a:t>with</a:t>
            </a:r>
            <a:r>
              <a:rPr sz="1400" spc="40" dirty="0">
                <a:solidFill>
                  <a:srgbClr val="FFFFFF"/>
                </a:solidFill>
                <a:latin typeface="Trebuchet MS"/>
                <a:cs typeface="Trebuchet MS"/>
              </a:rPr>
              <a:t> </a:t>
            </a:r>
            <a:r>
              <a:rPr sz="1400" spc="-80" dirty="0">
                <a:solidFill>
                  <a:srgbClr val="FFFFFF"/>
                </a:solidFill>
                <a:latin typeface="Trebuchet MS"/>
                <a:cs typeface="Trebuchet MS"/>
              </a:rPr>
              <a:t>the</a:t>
            </a:r>
            <a:r>
              <a:rPr sz="1400" spc="40" dirty="0">
                <a:solidFill>
                  <a:srgbClr val="FFFFFF"/>
                </a:solidFill>
                <a:latin typeface="Trebuchet MS"/>
                <a:cs typeface="Trebuchet MS"/>
              </a:rPr>
              <a:t> </a:t>
            </a:r>
            <a:r>
              <a:rPr sz="1400" spc="-70" dirty="0">
                <a:solidFill>
                  <a:srgbClr val="FFFFFF"/>
                </a:solidFill>
                <a:latin typeface="Trebuchet MS"/>
                <a:cs typeface="Trebuchet MS"/>
              </a:rPr>
              <a:t>lab</a:t>
            </a:r>
            <a:r>
              <a:rPr sz="1400" spc="45" dirty="0">
                <a:solidFill>
                  <a:srgbClr val="FFFFFF"/>
                </a:solidFill>
                <a:latin typeface="Trebuchet MS"/>
                <a:cs typeface="Trebuchet MS"/>
              </a:rPr>
              <a:t> </a:t>
            </a:r>
            <a:r>
              <a:rPr sz="1400" spc="-75" dirty="0">
                <a:solidFill>
                  <a:srgbClr val="FFFFFF"/>
                </a:solidFill>
                <a:latin typeface="Trebuchet MS"/>
                <a:cs typeface="Trebuchet MS"/>
              </a:rPr>
              <a:t>material</a:t>
            </a:r>
            <a:endParaRPr sz="1400">
              <a:latin typeface="Trebuchet MS"/>
              <a:cs typeface="Trebuchet MS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347294" y="1323901"/>
            <a:ext cx="3786504" cy="1490088"/>
          </a:xfrm>
          <a:prstGeom prst="rect">
            <a:avLst/>
          </a:prstGeom>
        </p:spPr>
        <p:txBody>
          <a:bodyPr vert="horz" wrap="square" lIns="0" tIns="11430" rIns="0" bIns="0" rtlCol="0" anchor="t">
            <a:spAutoFit/>
          </a:bodyPr>
          <a:lstStyle/>
          <a:p>
            <a:pPr marL="289560" indent="-141605">
              <a:lnSpc>
                <a:spcPct val="100000"/>
              </a:lnSpc>
              <a:spcBef>
                <a:spcPts val="90"/>
              </a:spcBef>
              <a:buClr>
                <a:srgbClr val="FFFFFF"/>
              </a:buClr>
              <a:buSzPct val="72727"/>
              <a:buAutoNum type="arabicPlain"/>
              <a:tabLst>
                <a:tab pos="290195" algn="l"/>
              </a:tabLst>
            </a:pPr>
            <a:r>
              <a:rPr sz="1100" spc="-100" dirty="0">
                <a:latin typeface="Microsoft Sans Serif"/>
                <a:cs typeface="Microsoft Sans Serif"/>
              </a:rPr>
              <a:t>Go</a:t>
            </a:r>
            <a:r>
              <a:rPr sz="1100" spc="65" dirty="0">
                <a:latin typeface="Microsoft Sans Serif"/>
                <a:cs typeface="Microsoft Sans Serif"/>
              </a:rPr>
              <a:t> </a:t>
            </a:r>
            <a:r>
              <a:rPr sz="1100" spc="10" dirty="0">
                <a:latin typeface="Microsoft Sans Serif"/>
                <a:cs typeface="Microsoft Sans Serif"/>
              </a:rPr>
              <a:t>to</a:t>
            </a:r>
            <a:r>
              <a:rPr sz="1100" spc="70" dirty="0">
                <a:latin typeface="Microsoft Sans Serif"/>
                <a:cs typeface="Microsoft Sans Serif"/>
              </a:rPr>
              <a:t> </a:t>
            </a:r>
            <a:r>
              <a:rPr sz="1100" spc="-30" dirty="0">
                <a:latin typeface="Microsoft Sans Serif"/>
                <a:cs typeface="Microsoft Sans Serif"/>
              </a:rPr>
              <a:t>the</a:t>
            </a:r>
            <a:r>
              <a:rPr sz="1100" spc="70" dirty="0">
                <a:latin typeface="Microsoft Sans Serif"/>
                <a:cs typeface="Microsoft Sans Serif"/>
              </a:rPr>
              <a:t> </a:t>
            </a:r>
            <a:r>
              <a:rPr sz="1100" spc="-25" dirty="0">
                <a:latin typeface="Microsoft Sans Serif"/>
                <a:cs typeface="Microsoft Sans Serif"/>
              </a:rPr>
              <a:t>Data</a:t>
            </a:r>
            <a:r>
              <a:rPr sz="1100" spc="65" dirty="0">
                <a:latin typeface="Microsoft Sans Serif"/>
                <a:cs typeface="Microsoft Sans Serif"/>
              </a:rPr>
              <a:t> </a:t>
            </a:r>
            <a:r>
              <a:rPr sz="1100" spc="-20" dirty="0">
                <a:latin typeface="Microsoft Sans Serif"/>
                <a:cs typeface="Microsoft Sans Serif"/>
              </a:rPr>
              <a:t>Mining</a:t>
            </a:r>
            <a:r>
              <a:rPr sz="1100" spc="70" dirty="0">
                <a:latin typeface="Microsoft Sans Serif"/>
                <a:cs typeface="Microsoft Sans Serif"/>
              </a:rPr>
              <a:t> </a:t>
            </a:r>
            <a:r>
              <a:rPr lang="en-US" sz="1100" spc="-15" dirty="0">
                <a:latin typeface="Microsoft Sans Serif"/>
                <a:cs typeface="Microsoft Sans Serif"/>
              </a:rPr>
              <a:t>Summer 2026</a:t>
            </a:r>
            <a:r>
              <a:rPr sz="1100" spc="65" dirty="0">
                <a:latin typeface="Microsoft Sans Serif"/>
                <a:cs typeface="Microsoft Sans Serif"/>
              </a:rPr>
              <a:t> </a:t>
            </a:r>
            <a:r>
              <a:rPr sz="1100" spc="-40" dirty="0">
                <a:latin typeface="Microsoft Sans Serif"/>
                <a:cs typeface="Microsoft Sans Serif"/>
              </a:rPr>
              <a:t>repository</a:t>
            </a:r>
            <a:r>
              <a:rPr sz="1100" spc="70" dirty="0">
                <a:latin typeface="Microsoft Sans Serif"/>
                <a:cs typeface="Microsoft Sans Serif"/>
              </a:rPr>
              <a:t> </a:t>
            </a:r>
            <a:r>
              <a:rPr sz="1100" spc="-60" dirty="0">
                <a:latin typeface="Microsoft Sans Serif"/>
                <a:cs typeface="Microsoft Sans Serif"/>
              </a:rPr>
              <a:t>on</a:t>
            </a:r>
            <a:r>
              <a:rPr sz="1100" spc="70" dirty="0">
                <a:latin typeface="Microsoft Sans Serif"/>
                <a:cs typeface="Microsoft Sans Serif"/>
              </a:rPr>
              <a:t> </a:t>
            </a:r>
            <a:r>
              <a:rPr sz="1100" spc="-30" dirty="0">
                <a:latin typeface="Microsoft Sans Serif"/>
                <a:cs typeface="Microsoft Sans Serif"/>
              </a:rPr>
              <a:t>GitHub:</a:t>
            </a:r>
            <a:endParaRPr sz="1100" dirty="0">
              <a:latin typeface="Microsoft Sans Serif"/>
              <a:cs typeface="Microsoft Sans Serif"/>
            </a:endParaRPr>
          </a:p>
          <a:p>
            <a:pPr marL="289560">
              <a:spcBef>
                <a:spcPts val="35"/>
              </a:spcBef>
            </a:pPr>
            <a:r>
              <a:rPr lang="en-US" sz="1100" dirty="0">
                <a:latin typeface="SimSun"/>
                <a:cs typeface="SimSun"/>
                <a:hlinkClick r:id="rId6"/>
              </a:rPr>
              <a:t>https://github.com/GUC-DM/Summer2026</a:t>
            </a:r>
            <a:endParaRPr lang="en-US" sz="1100" dirty="0">
              <a:latin typeface="SimSun"/>
              <a:ea typeface="SimSun"/>
              <a:cs typeface="SimSun"/>
              <a:hlinkClick r:id="rId6"/>
            </a:endParaRPr>
          </a:p>
          <a:p>
            <a:pPr marL="289560">
              <a:lnSpc>
                <a:spcPct val="100000"/>
              </a:lnSpc>
              <a:spcBef>
                <a:spcPts val="35"/>
              </a:spcBef>
            </a:pPr>
            <a:endParaRPr lang="en-US" sz="1100" dirty="0">
              <a:latin typeface="SimSun"/>
              <a:ea typeface="SimSun"/>
              <a:cs typeface="SimSun"/>
            </a:endParaRPr>
          </a:p>
          <a:p>
            <a:pPr marL="289560" indent="-141605">
              <a:lnSpc>
                <a:spcPct val="100000"/>
              </a:lnSpc>
              <a:spcBef>
                <a:spcPts val="175"/>
              </a:spcBef>
              <a:buClr>
                <a:srgbClr val="FFFFFF"/>
              </a:buClr>
              <a:buSzPct val="72727"/>
              <a:buAutoNum type="arabicPlain" startAt="2"/>
              <a:tabLst>
                <a:tab pos="290195" algn="l"/>
              </a:tabLst>
            </a:pPr>
            <a:r>
              <a:rPr sz="1100" spc="-30" dirty="0">
                <a:latin typeface="Microsoft Sans Serif"/>
                <a:cs typeface="Microsoft Sans Serif"/>
              </a:rPr>
              <a:t>Interactively</a:t>
            </a:r>
            <a:r>
              <a:rPr sz="1100" spc="75" dirty="0">
                <a:latin typeface="Microsoft Sans Serif"/>
                <a:cs typeface="Microsoft Sans Serif"/>
              </a:rPr>
              <a:t> </a:t>
            </a:r>
            <a:r>
              <a:rPr sz="1100" spc="-40" dirty="0">
                <a:latin typeface="Microsoft Sans Serif"/>
                <a:cs typeface="Microsoft Sans Serif"/>
              </a:rPr>
              <a:t>running</a:t>
            </a:r>
            <a:r>
              <a:rPr sz="1100" spc="75" dirty="0">
                <a:latin typeface="Microsoft Sans Serif"/>
                <a:cs typeface="Microsoft Sans Serif"/>
              </a:rPr>
              <a:t> </a:t>
            </a:r>
            <a:r>
              <a:rPr sz="1100" spc="-35" dirty="0">
                <a:latin typeface="Microsoft Sans Serif"/>
                <a:cs typeface="Microsoft Sans Serif"/>
              </a:rPr>
              <a:t>the</a:t>
            </a:r>
            <a:r>
              <a:rPr sz="1100" spc="75" dirty="0">
                <a:latin typeface="Microsoft Sans Serif"/>
                <a:cs typeface="Microsoft Sans Serif"/>
              </a:rPr>
              <a:t> </a:t>
            </a:r>
            <a:r>
              <a:rPr sz="1100" spc="-45" dirty="0">
                <a:latin typeface="Microsoft Sans Serif"/>
                <a:cs typeface="Microsoft Sans Serif"/>
              </a:rPr>
              <a:t>lab</a:t>
            </a:r>
            <a:r>
              <a:rPr sz="1100" spc="75" dirty="0">
                <a:latin typeface="Microsoft Sans Serif"/>
                <a:cs typeface="Microsoft Sans Serif"/>
              </a:rPr>
              <a:t> </a:t>
            </a:r>
            <a:r>
              <a:rPr sz="1100" spc="-35" dirty="0">
                <a:latin typeface="Microsoft Sans Serif"/>
                <a:cs typeface="Microsoft Sans Serif"/>
              </a:rPr>
              <a:t>material</a:t>
            </a:r>
            <a:r>
              <a:rPr sz="1100" spc="80" dirty="0">
                <a:latin typeface="Microsoft Sans Serif"/>
                <a:cs typeface="Microsoft Sans Serif"/>
              </a:rPr>
              <a:t> </a:t>
            </a:r>
            <a:r>
              <a:rPr sz="1100" spc="-70" dirty="0">
                <a:latin typeface="Microsoft Sans Serif"/>
                <a:cs typeface="Microsoft Sans Serif"/>
              </a:rPr>
              <a:t>can</a:t>
            </a:r>
            <a:r>
              <a:rPr sz="1100" spc="75" dirty="0">
                <a:latin typeface="Microsoft Sans Serif"/>
                <a:cs typeface="Microsoft Sans Serif"/>
              </a:rPr>
              <a:t> </a:t>
            </a:r>
            <a:r>
              <a:rPr sz="1100" spc="-75" dirty="0">
                <a:latin typeface="Microsoft Sans Serif"/>
                <a:cs typeface="Microsoft Sans Serif"/>
              </a:rPr>
              <a:t>be</a:t>
            </a:r>
            <a:r>
              <a:rPr sz="1100" spc="75" dirty="0">
                <a:latin typeface="Microsoft Sans Serif"/>
                <a:cs typeface="Microsoft Sans Serif"/>
              </a:rPr>
              <a:t> </a:t>
            </a:r>
            <a:r>
              <a:rPr sz="1100" spc="-75" dirty="0">
                <a:latin typeface="Microsoft Sans Serif"/>
                <a:cs typeface="Microsoft Sans Serif"/>
              </a:rPr>
              <a:t>done</a:t>
            </a:r>
            <a:r>
              <a:rPr sz="1100" spc="75" dirty="0">
                <a:latin typeface="Microsoft Sans Serif"/>
                <a:cs typeface="Microsoft Sans Serif"/>
              </a:rPr>
              <a:t> </a:t>
            </a:r>
            <a:r>
              <a:rPr sz="1100" spc="-35" dirty="0">
                <a:latin typeface="Microsoft Sans Serif"/>
                <a:cs typeface="Microsoft Sans Serif"/>
              </a:rPr>
              <a:t>either</a:t>
            </a:r>
            <a:r>
              <a:rPr sz="1100" spc="80" dirty="0">
                <a:latin typeface="Microsoft Sans Serif"/>
                <a:cs typeface="Microsoft Sans Serif"/>
              </a:rPr>
              <a:t> </a:t>
            </a:r>
            <a:r>
              <a:rPr sz="1100" spc="-45" dirty="0">
                <a:latin typeface="Microsoft Sans Serif"/>
                <a:cs typeface="Microsoft Sans Serif"/>
              </a:rPr>
              <a:t>by:</a:t>
            </a:r>
            <a:endParaRPr sz="1100" dirty="0">
              <a:latin typeface="Microsoft Sans Serif"/>
              <a:cs typeface="Microsoft Sans Serif"/>
            </a:endParaRPr>
          </a:p>
          <a:p>
            <a:pPr marL="192405">
              <a:lnSpc>
                <a:spcPts val="1200"/>
              </a:lnSpc>
              <a:spcBef>
                <a:spcPts val="175"/>
              </a:spcBef>
            </a:pPr>
            <a:r>
              <a:rPr sz="1000" spc="-50" dirty="0">
                <a:solidFill>
                  <a:srgbClr val="8C2054"/>
                </a:solidFill>
                <a:latin typeface="Microsoft Sans Serif"/>
                <a:cs typeface="Microsoft Sans Serif"/>
              </a:rPr>
              <a:t>Cloud</a:t>
            </a:r>
            <a:r>
              <a:rPr sz="1000" spc="60" dirty="0">
                <a:solidFill>
                  <a:srgbClr val="8C2054"/>
                </a:solidFill>
                <a:latin typeface="Microsoft Sans Serif"/>
                <a:cs typeface="Microsoft Sans Serif"/>
              </a:rPr>
              <a:t> </a:t>
            </a:r>
            <a:r>
              <a:rPr sz="1000" spc="-45" dirty="0">
                <a:latin typeface="Microsoft Sans Serif"/>
                <a:cs typeface="Microsoft Sans Serif"/>
              </a:rPr>
              <a:t>Opening</a:t>
            </a:r>
            <a:r>
              <a:rPr sz="1000" spc="60" dirty="0">
                <a:latin typeface="Microsoft Sans Serif"/>
                <a:cs typeface="Microsoft Sans Serif"/>
              </a:rPr>
              <a:t> </a:t>
            </a:r>
            <a:r>
              <a:rPr sz="1000" spc="-30" dirty="0">
                <a:latin typeface="Microsoft Sans Serif"/>
                <a:cs typeface="Microsoft Sans Serif"/>
              </a:rPr>
              <a:t>them</a:t>
            </a:r>
            <a:r>
              <a:rPr sz="1000" spc="60" dirty="0">
                <a:latin typeface="Microsoft Sans Serif"/>
                <a:cs typeface="Microsoft Sans Serif"/>
              </a:rPr>
              <a:t> </a:t>
            </a:r>
            <a:r>
              <a:rPr sz="1000" spc="-20" dirty="0">
                <a:latin typeface="Microsoft Sans Serif"/>
                <a:cs typeface="Microsoft Sans Serif"/>
              </a:rPr>
              <a:t>in</a:t>
            </a:r>
            <a:r>
              <a:rPr sz="1000" spc="60" dirty="0">
                <a:latin typeface="Microsoft Sans Serif"/>
                <a:cs typeface="Microsoft Sans Serif"/>
              </a:rPr>
              <a:t> </a:t>
            </a:r>
            <a:r>
              <a:rPr sz="1000" spc="-65" dirty="0">
                <a:latin typeface="Microsoft Sans Serif"/>
                <a:cs typeface="Microsoft Sans Serif"/>
              </a:rPr>
              <a:t>Google</a:t>
            </a:r>
            <a:r>
              <a:rPr sz="1000" spc="65" dirty="0">
                <a:latin typeface="Microsoft Sans Serif"/>
                <a:cs typeface="Microsoft Sans Serif"/>
              </a:rPr>
              <a:t> </a:t>
            </a:r>
            <a:r>
              <a:rPr sz="1000" spc="-50" dirty="0">
                <a:latin typeface="Microsoft Sans Serif"/>
                <a:cs typeface="Microsoft Sans Serif"/>
              </a:rPr>
              <a:t>Colab;</a:t>
            </a:r>
            <a:r>
              <a:rPr sz="1000" spc="60" dirty="0">
                <a:latin typeface="Microsoft Sans Serif"/>
                <a:cs typeface="Microsoft Sans Serif"/>
              </a:rPr>
              <a:t> </a:t>
            </a:r>
            <a:r>
              <a:rPr sz="1000" spc="-45" dirty="0">
                <a:latin typeface="Microsoft Sans Serif"/>
                <a:cs typeface="Microsoft Sans Serif"/>
              </a:rPr>
              <a:t>or</a:t>
            </a:r>
            <a:endParaRPr sz="1000" dirty="0">
              <a:latin typeface="Microsoft Sans Serif"/>
              <a:cs typeface="Microsoft Sans Serif"/>
            </a:endParaRPr>
          </a:p>
          <a:p>
            <a:pPr marL="213995">
              <a:lnSpc>
                <a:spcPts val="1200"/>
              </a:lnSpc>
            </a:pPr>
            <a:r>
              <a:rPr sz="1000" spc="-40" dirty="0">
                <a:solidFill>
                  <a:srgbClr val="8C2054"/>
                </a:solidFill>
                <a:latin typeface="Microsoft Sans Serif"/>
                <a:cs typeface="Microsoft Sans Serif"/>
              </a:rPr>
              <a:t>Local</a:t>
            </a:r>
            <a:r>
              <a:rPr sz="1000" spc="290" dirty="0">
                <a:solidFill>
                  <a:srgbClr val="8C2054"/>
                </a:solidFill>
                <a:latin typeface="Microsoft Sans Serif"/>
                <a:cs typeface="Microsoft Sans Serif"/>
              </a:rPr>
              <a:t> </a:t>
            </a:r>
            <a:r>
              <a:rPr sz="1000" spc="-25" dirty="0">
                <a:latin typeface="Microsoft Sans Serif"/>
                <a:cs typeface="Microsoft Sans Serif"/>
              </a:rPr>
              <a:t>Install</a:t>
            </a:r>
            <a:r>
              <a:rPr lang="en-US" sz="1000" spc="-25" dirty="0">
                <a:latin typeface="Microsoft Sans Serif"/>
                <a:cs typeface="Microsoft Sans Serif"/>
              </a:rPr>
              <a:t>ing</a:t>
            </a:r>
            <a:r>
              <a:rPr sz="1000" spc="75" dirty="0">
                <a:latin typeface="Microsoft Sans Serif"/>
                <a:cs typeface="Microsoft Sans Serif"/>
              </a:rPr>
              <a:t> </a:t>
            </a:r>
            <a:r>
              <a:rPr sz="1000" spc="-55" dirty="0">
                <a:latin typeface="Microsoft Sans Serif"/>
                <a:cs typeface="Microsoft Sans Serif"/>
              </a:rPr>
              <a:t>Anaconda</a:t>
            </a:r>
            <a:r>
              <a:rPr sz="1000" spc="75" dirty="0">
                <a:latin typeface="Microsoft Sans Serif"/>
                <a:cs typeface="Microsoft Sans Serif"/>
              </a:rPr>
              <a:t> </a:t>
            </a:r>
            <a:r>
              <a:rPr sz="1000" spc="-55" dirty="0">
                <a:latin typeface="Microsoft Sans Serif"/>
                <a:cs typeface="Microsoft Sans Serif"/>
              </a:rPr>
              <a:t>and</a:t>
            </a:r>
            <a:r>
              <a:rPr sz="1000" spc="80" dirty="0">
                <a:latin typeface="Microsoft Sans Serif"/>
                <a:cs typeface="Microsoft Sans Serif"/>
              </a:rPr>
              <a:t> </a:t>
            </a:r>
            <a:r>
              <a:rPr sz="1000" spc="-35" dirty="0">
                <a:latin typeface="Microsoft Sans Serif"/>
                <a:cs typeface="Microsoft Sans Serif"/>
              </a:rPr>
              <a:t>running</a:t>
            </a:r>
            <a:r>
              <a:rPr sz="1000" spc="75" dirty="0">
                <a:latin typeface="Microsoft Sans Serif"/>
                <a:cs typeface="Microsoft Sans Serif"/>
              </a:rPr>
              <a:t> </a:t>
            </a:r>
            <a:r>
              <a:rPr sz="1000" spc="-25" dirty="0">
                <a:latin typeface="Microsoft Sans Serif"/>
                <a:cs typeface="Microsoft Sans Serif"/>
              </a:rPr>
              <a:t>jupyter</a:t>
            </a:r>
            <a:r>
              <a:rPr sz="1000" spc="75" dirty="0">
                <a:latin typeface="Microsoft Sans Serif"/>
                <a:cs typeface="Microsoft Sans Serif"/>
              </a:rPr>
              <a:t> </a:t>
            </a:r>
            <a:r>
              <a:rPr sz="1000" spc="-40" dirty="0">
                <a:latin typeface="Microsoft Sans Serif"/>
                <a:cs typeface="Microsoft Sans Serif"/>
              </a:rPr>
              <a:t>lab</a:t>
            </a:r>
            <a:r>
              <a:rPr sz="1000" spc="75" dirty="0">
                <a:latin typeface="Microsoft Sans Serif"/>
                <a:cs typeface="Microsoft Sans Serif"/>
              </a:rPr>
              <a:t> </a:t>
            </a:r>
            <a:r>
              <a:rPr sz="1000" spc="-30" dirty="0">
                <a:latin typeface="Microsoft Sans Serif"/>
                <a:cs typeface="Microsoft Sans Serif"/>
              </a:rPr>
              <a:t>locally</a:t>
            </a:r>
            <a:endParaRPr sz="1000" dirty="0">
              <a:latin typeface="Microsoft Sans Serif"/>
              <a:ea typeface="Microsoft Sans Serif"/>
              <a:cs typeface="Microsoft Sans Serif"/>
            </a:endParaRPr>
          </a:p>
          <a:p>
            <a:pPr marL="12700">
              <a:lnSpc>
                <a:spcPct val="150000"/>
              </a:lnSpc>
              <a:spcBef>
                <a:spcPts val="350"/>
              </a:spcBef>
            </a:pPr>
            <a:r>
              <a:rPr sz="1100" spc="-30" dirty="0">
                <a:latin typeface="Microsoft Sans Serif"/>
                <a:cs typeface="Microsoft Sans Serif"/>
              </a:rPr>
              <a:t>Instructions</a:t>
            </a:r>
            <a:r>
              <a:rPr sz="1100" spc="70" dirty="0">
                <a:latin typeface="Microsoft Sans Serif"/>
                <a:cs typeface="Microsoft Sans Serif"/>
              </a:rPr>
              <a:t> </a:t>
            </a:r>
            <a:r>
              <a:rPr sz="1100" spc="-65" dirty="0">
                <a:latin typeface="Microsoft Sans Serif"/>
                <a:cs typeface="Microsoft Sans Serif"/>
              </a:rPr>
              <a:t>and</a:t>
            </a:r>
            <a:r>
              <a:rPr sz="1100" spc="70" dirty="0">
                <a:latin typeface="Microsoft Sans Serif"/>
                <a:cs typeface="Microsoft Sans Serif"/>
              </a:rPr>
              <a:t> </a:t>
            </a:r>
            <a:r>
              <a:rPr sz="1100" spc="-40" dirty="0">
                <a:latin typeface="Microsoft Sans Serif"/>
                <a:cs typeface="Microsoft Sans Serif"/>
              </a:rPr>
              <a:t>links</a:t>
            </a:r>
            <a:r>
              <a:rPr sz="1100" spc="70" dirty="0">
                <a:latin typeface="Microsoft Sans Serif"/>
                <a:cs typeface="Microsoft Sans Serif"/>
              </a:rPr>
              <a:t> </a:t>
            </a:r>
            <a:r>
              <a:rPr sz="1100" spc="-80" dirty="0">
                <a:latin typeface="Microsoft Sans Serif"/>
                <a:cs typeface="Microsoft Sans Serif"/>
              </a:rPr>
              <a:t>are</a:t>
            </a:r>
            <a:r>
              <a:rPr sz="1100" spc="70" dirty="0">
                <a:latin typeface="Microsoft Sans Serif"/>
                <a:cs typeface="Microsoft Sans Serif"/>
              </a:rPr>
              <a:t> </a:t>
            </a:r>
            <a:r>
              <a:rPr sz="1100" spc="-55" dirty="0">
                <a:latin typeface="Microsoft Sans Serif"/>
                <a:cs typeface="Microsoft Sans Serif"/>
              </a:rPr>
              <a:t>provided</a:t>
            </a:r>
            <a:r>
              <a:rPr sz="1100" spc="70" dirty="0">
                <a:latin typeface="Microsoft Sans Serif"/>
                <a:cs typeface="Microsoft Sans Serif"/>
              </a:rPr>
              <a:t> </a:t>
            </a:r>
            <a:r>
              <a:rPr sz="1100" spc="-20" dirty="0">
                <a:latin typeface="Microsoft Sans Serif"/>
                <a:cs typeface="Microsoft Sans Serif"/>
              </a:rPr>
              <a:t>in</a:t>
            </a:r>
            <a:r>
              <a:rPr sz="1100" spc="70" dirty="0">
                <a:latin typeface="Microsoft Sans Serif"/>
                <a:cs typeface="Microsoft Sans Serif"/>
              </a:rPr>
              <a:t> </a:t>
            </a:r>
            <a:r>
              <a:rPr sz="1100" spc="-30" dirty="0">
                <a:latin typeface="Microsoft Sans Serif"/>
                <a:cs typeface="Microsoft Sans Serif"/>
              </a:rPr>
              <a:t>the</a:t>
            </a:r>
            <a:r>
              <a:rPr sz="1100" spc="75" dirty="0">
                <a:latin typeface="Microsoft Sans Serif"/>
                <a:cs typeface="Microsoft Sans Serif"/>
              </a:rPr>
              <a:t> </a:t>
            </a:r>
            <a:r>
              <a:rPr sz="1100" spc="-40" dirty="0">
                <a:latin typeface="Microsoft Sans Serif"/>
                <a:cs typeface="Microsoft Sans Serif"/>
              </a:rPr>
              <a:t>repository’s</a:t>
            </a:r>
            <a:r>
              <a:rPr sz="1100" spc="70" dirty="0">
                <a:latin typeface="Microsoft Sans Serif"/>
                <a:cs typeface="Microsoft Sans Serif"/>
              </a:rPr>
              <a:t> </a:t>
            </a:r>
            <a:r>
              <a:rPr sz="1100" spc="-75" dirty="0">
                <a:latin typeface="Microsoft Sans Serif"/>
                <a:cs typeface="Microsoft Sans Serif"/>
              </a:rPr>
              <a:t>readme</a:t>
            </a:r>
            <a:r>
              <a:rPr lang="en-US" sz="1100" spc="-75" dirty="0">
                <a:latin typeface="Microsoft Sans Serif"/>
                <a:cs typeface="Microsoft Sans Serif"/>
              </a:rPr>
              <a:t>.</a:t>
            </a:r>
            <a:endParaRPr sz="1100" dirty="0">
              <a:latin typeface="Microsoft Sans Serif"/>
              <a:cs typeface="Microsoft Sans Serif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0" y="3346348"/>
            <a:ext cx="4608195" cy="109855"/>
            <a:chOff x="0" y="3346348"/>
            <a:chExt cx="4608195" cy="109855"/>
          </a:xfrm>
        </p:grpSpPr>
        <p:sp>
          <p:nvSpPr>
            <p:cNvPr id="11" name="object 11"/>
            <p:cNvSpPr/>
            <p:nvPr/>
          </p:nvSpPr>
          <p:spPr>
            <a:xfrm>
              <a:off x="0" y="3346361"/>
              <a:ext cx="2304415" cy="109855"/>
            </a:xfrm>
            <a:custGeom>
              <a:avLst/>
              <a:gdLst/>
              <a:ahLst/>
              <a:cxnLst/>
              <a:rect l="l" t="t" r="r" b="b"/>
              <a:pathLst>
                <a:path w="2304415" h="109854">
                  <a:moveTo>
                    <a:pt x="2303996" y="0"/>
                  </a:moveTo>
                  <a:lnTo>
                    <a:pt x="1151991" y="0"/>
                  </a:lnTo>
                  <a:lnTo>
                    <a:pt x="0" y="0"/>
                  </a:lnTo>
                  <a:lnTo>
                    <a:pt x="0" y="109639"/>
                  </a:lnTo>
                  <a:lnTo>
                    <a:pt x="1151991" y="109639"/>
                  </a:lnTo>
                  <a:lnTo>
                    <a:pt x="2303996" y="109639"/>
                  </a:lnTo>
                  <a:lnTo>
                    <a:pt x="2303996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2303983" y="3346361"/>
              <a:ext cx="2304415" cy="109855"/>
            </a:xfrm>
            <a:custGeom>
              <a:avLst/>
              <a:gdLst/>
              <a:ahLst/>
              <a:cxnLst/>
              <a:rect l="l" t="t" r="r" b="b"/>
              <a:pathLst>
                <a:path w="2304415" h="109854">
                  <a:moveTo>
                    <a:pt x="2303996" y="0"/>
                  </a:moveTo>
                  <a:lnTo>
                    <a:pt x="1920024" y="0"/>
                  </a:lnTo>
                  <a:lnTo>
                    <a:pt x="0" y="0"/>
                  </a:lnTo>
                  <a:lnTo>
                    <a:pt x="0" y="109639"/>
                  </a:lnTo>
                  <a:lnTo>
                    <a:pt x="1920024" y="109639"/>
                  </a:lnTo>
                  <a:lnTo>
                    <a:pt x="2303996" y="109639"/>
                  </a:lnTo>
                  <a:lnTo>
                    <a:pt x="2303996" y="0"/>
                  </a:lnTo>
                  <a:close/>
                </a:path>
              </a:pathLst>
            </a:custGeom>
            <a:solidFill>
              <a:srgbClr val="8C205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5" name="object 15"/>
          <p:cNvSpPr txBox="1"/>
          <p:nvPr/>
        </p:nvSpPr>
        <p:spPr>
          <a:xfrm>
            <a:off x="3086696" y="3351784"/>
            <a:ext cx="354965" cy="10223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5"/>
              </a:lnSpc>
            </a:pPr>
            <a:r>
              <a:rPr sz="600" spc="5" dirty="0">
                <a:solidFill>
                  <a:srgbClr val="FFFFFF"/>
                </a:solidFill>
                <a:latin typeface="Microsoft Sans Serif"/>
                <a:cs typeface="Microsoft Sans Serif"/>
              </a:rPr>
              <a:t>Tutorial</a:t>
            </a:r>
            <a:r>
              <a:rPr sz="600" spc="-10" dirty="0">
                <a:solidFill>
                  <a:srgbClr val="FFFFFF"/>
                </a:solidFill>
                <a:latin typeface="Microsoft Sans Serif"/>
                <a:cs typeface="Microsoft Sans Serif"/>
              </a:rPr>
              <a:t> </a:t>
            </a:r>
            <a:r>
              <a:rPr sz="600" spc="-20" dirty="0">
                <a:solidFill>
                  <a:srgbClr val="FFFFFF"/>
                </a:solidFill>
                <a:latin typeface="Microsoft Sans Serif"/>
                <a:cs typeface="Microsoft Sans Serif"/>
              </a:rPr>
              <a:t>1</a:t>
            </a:r>
            <a:endParaRPr sz="600" dirty="0">
              <a:latin typeface="Microsoft Sans Serif"/>
              <a:cs typeface="Microsoft Sans Serif"/>
            </a:endParaRPr>
          </a:p>
        </p:txBody>
      </p:sp>
      <p:sp>
        <p:nvSpPr>
          <p:cNvPr id="16" name="object 12">
            <a:extLst>
              <a:ext uri="{FF2B5EF4-FFF2-40B4-BE49-F238E27FC236}">
                <a16:creationId xmlns:a16="http://schemas.microsoft.com/office/drawing/2014/main" id="{98025F16-7193-8C23-8AC3-5979C184A712}"/>
              </a:ext>
            </a:extLst>
          </p:cNvPr>
          <p:cNvSpPr txBox="1">
            <a:spLocks noGrp="1"/>
          </p:cNvSpPr>
          <p:nvPr>
            <p:ph type="dt" sz="half" idx="6"/>
          </p:nvPr>
        </p:nvSpPr>
        <p:spPr>
          <a:xfrm>
            <a:off x="1506396" y="3351784"/>
            <a:ext cx="570053" cy="8976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5"/>
              </a:lnSpc>
            </a:pPr>
            <a:r>
              <a:rPr lang="en-US" spc="10" dirty="0"/>
              <a:t>Summer 2026</a:t>
            </a:r>
            <a:endParaRPr spc="-20" dirty="0"/>
          </a:p>
        </p:txBody>
      </p:sp>
      <p:sp>
        <p:nvSpPr>
          <p:cNvPr id="17" name="Footer Placeholder 10">
            <a:extLst>
              <a:ext uri="{FF2B5EF4-FFF2-40B4-BE49-F238E27FC236}">
                <a16:creationId xmlns:a16="http://schemas.microsoft.com/office/drawing/2014/main" id="{6697C92B-1BA2-27F9-F1AA-1B6B677FE6F4}"/>
              </a:ext>
            </a:extLst>
          </p:cNvPr>
          <p:cNvSpPr>
            <a:spLocks noGrp="1"/>
          </p:cNvSpPr>
          <p:nvPr>
            <p:ph type="ftr" sz="quarter" idx="5"/>
          </p:nvPr>
        </p:nvSpPr>
        <p:spPr>
          <a:xfrm>
            <a:off x="346620" y="3351783"/>
            <a:ext cx="663029" cy="207391"/>
          </a:xfrm>
        </p:spPr>
        <p:txBody>
          <a:bodyPr/>
          <a:lstStyle/>
          <a:p>
            <a:pPr marL="12700">
              <a:lnSpc>
                <a:spcPts val="675"/>
              </a:lnSpc>
            </a:pPr>
            <a:r>
              <a:rPr lang="en-US" spc="-20" dirty="0"/>
              <a:t>By Hazem</a:t>
            </a:r>
            <a:r>
              <a:rPr lang="en-US" spc="-5" dirty="0"/>
              <a:t> </a:t>
            </a:r>
            <a:r>
              <a:rPr lang="en-US" dirty="0"/>
              <a:t>Nabil</a:t>
            </a:r>
          </a:p>
        </p:txBody>
      </p:sp>
      <p:sp>
        <p:nvSpPr>
          <p:cNvPr id="13" name="Slide Number Placeholder 14">
            <a:extLst>
              <a:ext uri="{FF2B5EF4-FFF2-40B4-BE49-F238E27FC236}">
                <a16:creationId xmlns:a16="http://schemas.microsoft.com/office/drawing/2014/main" id="{508D8B9C-B4A5-08B8-0FEE-F08331B47AD8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>
          <a:xfrm>
            <a:off x="4246994" y="3356177"/>
            <a:ext cx="344804" cy="89768"/>
          </a:xfrm>
        </p:spPr>
        <p:txBody>
          <a:bodyPr/>
          <a:lstStyle/>
          <a:p>
            <a:pPr marL="38100">
              <a:lnSpc>
                <a:spcPts val="675"/>
              </a:lnSpc>
            </a:pPr>
            <a:fld id="{81D60167-4931-47E6-BA6A-407CBD079E47}" type="slidenum">
              <a:rPr lang="en-US" spc="-20" smtClean="0"/>
              <a:t>18</a:t>
            </a:fld>
            <a:r>
              <a:rPr lang="en-US" spc="20" dirty="0"/>
              <a:t> </a:t>
            </a:r>
            <a:r>
              <a:rPr lang="en-US" spc="150" dirty="0"/>
              <a:t>/</a:t>
            </a:r>
            <a:r>
              <a:rPr lang="en-US" spc="20" dirty="0"/>
              <a:t> </a:t>
            </a:r>
            <a:r>
              <a:rPr lang="en-US" spc="-20" dirty="0"/>
              <a:t>20</a:t>
            </a:r>
          </a:p>
        </p:txBody>
      </p:sp>
    </p:spTree>
  </p:cSld>
  <p:clrMapOvr>
    <a:masterClrMapping/>
  </p:clrMapOvr>
  <p:transition>
    <p:cut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268450" y="0"/>
            <a:ext cx="940435" cy="382270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441325" marR="5080" indent="73025" algn="r">
              <a:lnSpc>
                <a:spcPts val="700"/>
              </a:lnSpc>
              <a:spcBef>
                <a:spcPts val="135"/>
              </a:spcBef>
            </a:pPr>
            <a:r>
              <a:rPr sz="600" spc="10" dirty="0">
                <a:solidFill>
                  <a:srgbClr val="7F7F7F"/>
                </a:solidFill>
                <a:latin typeface="Microsoft Sans Serif"/>
                <a:cs typeface="Microsoft Sans Serif"/>
              </a:rPr>
              <a:t>Intr</a:t>
            </a:r>
            <a:r>
              <a:rPr sz="600" spc="30" dirty="0">
                <a:solidFill>
                  <a:srgbClr val="7F7F7F"/>
                </a:solidFill>
                <a:latin typeface="Microsoft Sans Serif"/>
                <a:cs typeface="Microsoft Sans Serif"/>
              </a:rPr>
              <a:t>o</a:t>
            </a:r>
            <a:r>
              <a:rPr sz="600" dirty="0">
                <a:solidFill>
                  <a:srgbClr val="7F7F7F"/>
                </a:solidFill>
                <a:latin typeface="Microsoft Sans Serif"/>
                <a:cs typeface="Microsoft Sans Serif"/>
              </a:rPr>
              <a:t>duction  </a:t>
            </a:r>
            <a:r>
              <a:rPr sz="600" spc="-30" dirty="0">
                <a:solidFill>
                  <a:srgbClr val="7F7F7F"/>
                </a:solidFill>
                <a:latin typeface="Microsoft Sans Serif"/>
                <a:cs typeface="Microsoft Sans Serif"/>
              </a:rPr>
              <a:t>Cours</a:t>
            </a:r>
            <a:r>
              <a:rPr sz="600" spc="-25" dirty="0">
                <a:solidFill>
                  <a:srgbClr val="7F7F7F"/>
                </a:solidFill>
                <a:latin typeface="Microsoft Sans Serif"/>
                <a:cs typeface="Microsoft Sans Serif"/>
              </a:rPr>
              <a:t>e</a:t>
            </a:r>
            <a:r>
              <a:rPr sz="600" spc="50" dirty="0">
                <a:solidFill>
                  <a:srgbClr val="7F7F7F"/>
                </a:solidFill>
                <a:latin typeface="Microsoft Sans Serif"/>
                <a:cs typeface="Microsoft Sans Serif"/>
              </a:rPr>
              <a:t> </a:t>
            </a:r>
            <a:r>
              <a:rPr sz="600" spc="-5" dirty="0">
                <a:solidFill>
                  <a:srgbClr val="7F7F7F"/>
                </a:solidFill>
                <a:latin typeface="Microsoft Sans Serif"/>
                <a:cs typeface="Microsoft Sans Serif"/>
              </a:rPr>
              <a:t>Details  </a:t>
            </a:r>
            <a:r>
              <a:rPr sz="600" spc="10" dirty="0">
                <a:solidFill>
                  <a:srgbClr val="7F7F7F"/>
                </a:solidFill>
                <a:latin typeface="Microsoft Sans Serif"/>
                <a:cs typeface="Microsoft Sans Serif"/>
              </a:rPr>
              <a:t>Motivation</a:t>
            </a:r>
            <a:endParaRPr sz="600" dirty="0">
              <a:latin typeface="Microsoft Sans Serif"/>
              <a:cs typeface="Microsoft Sans Serif"/>
            </a:endParaRPr>
          </a:p>
          <a:p>
            <a:pPr marR="5080" algn="r">
              <a:lnSpc>
                <a:spcPts val="670"/>
              </a:lnSpc>
            </a:pPr>
            <a:r>
              <a:rPr sz="600" spc="-25" dirty="0">
                <a:solidFill>
                  <a:srgbClr val="FFFFFF"/>
                </a:solidFill>
                <a:latin typeface="Microsoft Sans Serif"/>
                <a:cs typeface="Microsoft Sans Serif"/>
              </a:rPr>
              <a:t>Accessing</a:t>
            </a:r>
            <a:r>
              <a:rPr sz="600" spc="35" dirty="0">
                <a:solidFill>
                  <a:srgbClr val="FFFFFF"/>
                </a:solidFill>
                <a:latin typeface="Microsoft Sans Serif"/>
                <a:cs typeface="Microsoft Sans Serif"/>
              </a:rPr>
              <a:t> </a:t>
            </a:r>
            <a:r>
              <a:rPr sz="600" dirty="0">
                <a:solidFill>
                  <a:srgbClr val="FFFFFF"/>
                </a:solidFill>
                <a:latin typeface="Microsoft Sans Serif"/>
                <a:cs typeface="Microsoft Sans Serif"/>
              </a:rPr>
              <a:t>the</a:t>
            </a:r>
            <a:r>
              <a:rPr sz="600" spc="40" dirty="0">
                <a:solidFill>
                  <a:srgbClr val="FFFFFF"/>
                </a:solidFill>
                <a:latin typeface="Microsoft Sans Serif"/>
                <a:cs typeface="Microsoft Sans Serif"/>
              </a:rPr>
              <a:t> </a:t>
            </a:r>
            <a:r>
              <a:rPr sz="600" spc="-10" dirty="0">
                <a:solidFill>
                  <a:srgbClr val="FFFFFF"/>
                </a:solidFill>
                <a:latin typeface="Microsoft Sans Serif"/>
                <a:cs typeface="Microsoft Sans Serif"/>
              </a:rPr>
              <a:t>Lab</a:t>
            </a:r>
            <a:r>
              <a:rPr sz="600" spc="35" dirty="0">
                <a:solidFill>
                  <a:srgbClr val="FFFFFF"/>
                </a:solidFill>
                <a:latin typeface="Microsoft Sans Serif"/>
                <a:cs typeface="Microsoft Sans Serif"/>
              </a:rPr>
              <a:t> </a:t>
            </a:r>
            <a:r>
              <a:rPr sz="600" spc="5" dirty="0">
                <a:solidFill>
                  <a:srgbClr val="FFFFFF"/>
                </a:solidFill>
                <a:latin typeface="Microsoft Sans Serif"/>
                <a:cs typeface="Microsoft Sans Serif"/>
              </a:rPr>
              <a:t>Material</a:t>
            </a:r>
            <a:endParaRPr sz="600" dirty="0">
              <a:latin typeface="Microsoft Sans Serif"/>
              <a:cs typeface="Microsoft Sans Serif"/>
            </a:endParaRPr>
          </a:p>
        </p:txBody>
      </p:sp>
      <p:pic>
        <p:nvPicPr>
          <p:cNvPr id="3" name="object 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2303995" y="0"/>
            <a:ext cx="2304008" cy="366928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2679966" y="129636"/>
            <a:ext cx="1438910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900" b="1" spc="-20" dirty="0">
                <a:solidFill>
                  <a:srgbClr val="FFFFFF"/>
                </a:solidFill>
                <a:latin typeface="Trebuchet MS"/>
                <a:cs typeface="Trebuchet MS"/>
              </a:rPr>
              <a:t>German</a:t>
            </a:r>
            <a:r>
              <a:rPr sz="900" b="1" spc="40" dirty="0">
                <a:solidFill>
                  <a:srgbClr val="FFFFFF"/>
                </a:solidFill>
                <a:latin typeface="Trebuchet MS"/>
                <a:cs typeface="Trebuchet MS"/>
              </a:rPr>
              <a:t> </a:t>
            </a:r>
            <a:r>
              <a:rPr sz="900" b="1" spc="-25" dirty="0">
                <a:solidFill>
                  <a:srgbClr val="FFFFFF"/>
                </a:solidFill>
                <a:latin typeface="Trebuchet MS"/>
                <a:cs typeface="Trebuchet MS"/>
              </a:rPr>
              <a:t>University</a:t>
            </a:r>
            <a:r>
              <a:rPr sz="900" b="1" spc="45" dirty="0">
                <a:solidFill>
                  <a:srgbClr val="FFFFFF"/>
                </a:solidFill>
                <a:latin typeface="Trebuchet MS"/>
                <a:cs typeface="Trebuchet MS"/>
              </a:rPr>
              <a:t> </a:t>
            </a:r>
            <a:r>
              <a:rPr sz="900" b="1" spc="-35" dirty="0">
                <a:solidFill>
                  <a:srgbClr val="FFFFFF"/>
                </a:solidFill>
                <a:latin typeface="Trebuchet MS"/>
                <a:cs typeface="Trebuchet MS"/>
              </a:rPr>
              <a:t>in</a:t>
            </a:r>
            <a:r>
              <a:rPr sz="900" b="1" spc="40" dirty="0">
                <a:solidFill>
                  <a:srgbClr val="FFFFFF"/>
                </a:solidFill>
                <a:latin typeface="Trebuchet MS"/>
                <a:cs typeface="Trebuchet MS"/>
              </a:rPr>
              <a:t> </a:t>
            </a:r>
            <a:r>
              <a:rPr sz="900" b="1" spc="-15" dirty="0">
                <a:solidFill>
                  <a:srgbClr val="FFFFFF"/>
                </a:solidFill>
                <a:latin typeface="Trebuchet MS"/>
                <a:cs typeface="Trebuchet MS"/>
              </a:rPr>
              <a:t>Cairo</a:t>
            </a:r>
            <a:endParaRPr sz="900">
              <a:latin typeface="Trebuchet MS"/>
              <a:cs typeface="Trebuchet MS"/>
            </a:endParaRPr>
          </a:p>
        </p:txBody>
      </p:sp>
      <p:pic>
        <p:nvPicPr>
          <p:cNvPr id="5" name="object 5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0" y="366911"/>
            <a:ext cx="4604410" cy="260646"/>
          </a:xfrm>
          <a:prstGeom prst="rect">
            <a:avLst/>
          </a:prstGeom>
        </p:spPr>
      </p:pic>
      <p:sp>
        <p:nvSpPr>
          <p:cNvPr id="6" name="object 6"/>
          <p:cNvSpPr txBox="1"/>
          <p:nvPr/>
        </p:nvSpPr>
        <p:spPr>
          <a:xfrm>
            <a:off x="197218" y="364347"/>
            <a:ext cx="3935095" cy="24447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400" spc="25" dirty="0">
                <a:solidFill>
                  <a:srgbClr val="FFFFFF"/>
                </a:solidFill>
                <a:latin typeface="Trebuchet MS"/>
                <a:cs typeface="Trebuchet MS"/>
              </a:rPr>
              <a:t>An</a:t>
            </a:r>
            <a:r>
              <a:rPr sz="1400" spc="45" dirty="0">
                <a:solidFill>
                  <a:srgbClr val="FFFFFF"/>
                </a:solidFill>
                <a:latin typeface="Trebuchet MS"/>
                <a:cs typeface="Trebuchet MS"/>
              </a:rPr>
              <a:t> </a:t>
            </a:r>
            <a:r>
              <a:rPr sz="1400" spc="-65" dirty="0">
                <a:solidFill>
                  <a:srgbClr val="FFFFFF"/>
                </a:solidFill>
                <a:latin typeface="Trebuchet MS"/>
                <a:cs typeface="Trebuchet MS"/>
              </a:rPr>
              <a:t>Overview</a:t>
            </a:r>
            <a:r>
              <a:rPr sz="1400" spc="45" dirty="0">
                <a:solidFill>
                  <a:srgbClr val="FFFFFF"/>
                </a:solidFill>
                <a:latin typeface="Trebuchet MS"/>
                <a:cs typeface="Trebuchet MS"/>
              </a:rPr>
              <a:t> </a:t>
            </a:r>
            <a:r>
              <a:rPr sz="1400" spc="-70" dirty="0">
                <a:solidFill>
                  <a:srgbClr val="FFFFFF"/>
                </a:solidFill>
                <a:latin typeface="Trebuchet MS"/>
                <a:cs typeface="Trebuchet MS"/>
              </a:rPr>
              <a:t>of</a:t>
            </a:r>
            <a:r>
              <a:rPr sz="1400" spc="50" dirty="0">
                <a:solidFill>
                  <a:srgbClr val="FFFFFF"/>
                </a:solidFill>
                <a:latin typeface="Trebuchet MS"/>
                <a:cs typeface="Trebuchet MS"/>
              </a:rPr>
              <a:t> </a:t>
            </a:r>
            <a:r>
              <a:rPr sz="1400" spc="-25" dirty="0">
                <a:solidFill>
                  <a:srgbClr val="FFFFFF"/>
                </a:solidFill>
                <a:latin typeface="Trebuchet MS"/>
                <a:cs typeface="Trebuchet MS"/>
              </a:rPr>
              <a:t>Python</a:t>
            </a:r>
            <a:r>
              <a:rPr sz="1400" spc="45" dirty="0">
                <a:solidFill>
                  <a:srgbClr val="FFFFFF"/>
                </a:solidFill>
                <a:latin typeface="Trebuchet MS"/>
                <a:cs typeface="Trebuchet MS"/>
              </a:rPr>
              <a:t> </a:t>
            </a:r>
            <a:r>
              <a:rPr sz="1400" spc="-35" dirty="0">
                <a:solidFill>
                  <a:srgbClr val="FFFFFF"/>
                </a:solidFill>
                <a:latin typeface="Trebuchet MS"/>
                <a:cs typeface="Trebuchet MS"/>
              </a:rPr>
              <a:t>Tools</a:t>
            </a:r>
            <a:r>
              <a:rPr sz="1400" spc="50" dirty="0">
                <a:solidFill>
                  <a:srgbClr val="FFFFFF"/>
                </a:solidFill>
                <a:latin typeface="Trebuchet MS"/>
                <a:cs typeface="Trebuchet MS"/>
              </a:rPr>
              <a:t> </a:t>
            </a:r>
            <a:r>
              <a:rPr sz="1400" spc="70" dirty="0">
                <a:solidFill>
                  <a:srgbClr val="FFFFFF"/>
                </a:solidFill>
                <a:latin typeface="Trebuchet MS"/>
                <a:cs typeface="Trebuchet MS"/>
              </a:rPr>
              <a:t>&amp;</a:t>
            </a:r>
            <a:r>
              <a:rPr sz="1400" spc="45" dirty="0">
                <a:solidFill>
                  <a:srgbClr val="FFFFFF"/>
                </a:solidFill>
                <a:latin typeface="Trebuchet MS"/>
                <a:cs typeface="Trebuchet MS"/>
              </a:rPr>
              <a:t> </a:t>
            </a:r>
            <a:r>
              <a:rPr sz="1400" spc="-70" dirty="0">
                <a:solidFill>
                  <a:srgbClr val="FFFFFF"/>
                </a:solidFill>
                <a:latin typeface="Trebuchet MS"/>
                <a:cs typeface="Trebuchet MS"/>
              </a:rPr>
              <a:t>Libraries</a:t>
            </a:r>
            <a:r>
              <a:rPr sz="1400" spc="50" dirty="0">
                <a:solidFill>
                  <a:srgbClr val="FFFFFF"/>
                </a:solidFill>
                <a:latin typeface="Trebuchet MS"/>
                <a:cs typeface="Trebuchet MS"/>
              </a:rPr>
              <a:t> </a:t>
            </a:r>
            <a:r>
              <a:rPr sz="1400" spc="-50" dirty="0">
                <a:solidFill>
                  <a:srgbClr val="FFFFFF"/>
                </a:solidFill>
                <a:latin typeface="Trebuchet MS"/>
                <a:cs typeface="Trebuchet MS"/>
              </a:rPr>
              <a:t>to</a:t>
            </a:r>
            <a:r>
              <a:rPr sz="1400" spc="45" dirty="0">
                <a:solidFill>
                  <a:srgbClr val="FFFFFF"/>
                </a:solidFill>
                <a:latin typeface="Trebuchet MS"/>
                <a:cs typeface="Trebuchet MS"/>
              </a:rPr>
              <a:t> </a:t>
            </a:r>
            <a:r>
              <a:rPr sz="1400" spc="-85" dirty="0">
                <a:solidFill>
                  <a:srgbClr val="FFFFFF"/>
                </a:solidFill>
                <a:latin typeface="Trebuchet MS"/>
                <a:cs typeface="Trebuchet MS"/>
              </a:rPr>
              <a:t>be</a:t>
            </a:r>
            <a:r>
              <a:rPr sz="1400" spc="50" dirty="0">
                <a:solidFill>
                  <a:srgbClr val="FFFFFF"/>
                </a:solidFill>
                <a:latin typeface="Trebuchet MS"/>
                <a:cs typeface="Trebuchet MS"/>
              </a:rPr>
              <a:t> </a:t>
            </a:r>
            <a:r>
              <a:rPr sz="1400" spc="-70" dirty="0">
                <a:solidFill>
                  <a:srgbClr val="FFFFFF"/>
                </a:solidFill>
                <a:latin typeface="Trebuchet MS"/>
                <a:cs typeface="Trebuchet MS"/>
              </a:rPr>
              <a:t>used</a:t>
            </a:r>
            <a:endParaRPr sz="1400">
              <a:latin typeface="Trebuchet MS"/>
              <a:cs typeface="Trebuchet MS"/>
            </a:endParaRPr>
          </a:p>
        </p:txBody>
      </p:sp>
      <p:pic>
        <p:nvPicPr>
          <p:cNvPr id="7" name="object 7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770102" y="822647"/>
            <a:ext cx="1015709" cy="270009"/>
          </a:xfrm>
          <a:prstGeom prst="rect">
            <a:avLst/>
          </a:prstGeom>
        </p:spPr>
      </p:pic>
      <p:sp>
        <p:nvSpPr>
          <p:cNvPr id="8" name="object 8"/>
          <p:cNvSpPr txBox="1"/>
          <p:nvPr/>
        </p:nvSpPr>
        <p:spPr>
          <a:xfrm>
            <a:off x="1924939" y="941411"/>
            <a:ext cx="2461895" cy="2121535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04775" indent="-92710">
              <a:lnSpc>
                <a:spcPct val="100000"/>
              </a:lnSpc>
              <a:spcBef>
                <a:spcPts val="90"/>
              </a:spcBef>
              <a:buChar char="-"/>
              <a:tabLst>
                <a:tab pos="105410" algn="l"/>
              </a:tabLst>
            </a:pPr>
            <a:r>
              <a:rPr sz="1100" spc="-30" dirty="0">
                <a:latin typeface="Microsoft Sans Serif"/>
                <a:cs typeface="Microsoft Sans Serif"/>
              </a:rPr>
              <a:t>interactive</a:t>
            </a:r>
            <a:r>
              <a:rPr sz="1100" spc="55" dirty="0">
                <a:latin typeface="Microsoft Sans Serif"/>
                <a:cs typeface="Microsoft Sans Serif"/>
              </a:rPr>
              <a:t> </a:t>
            </a:r>
            <a:r>
              <a:rPr sz="1100" spc="-55" dirty="0">
                <a:latin typeface="Microsoft Sans Serif"/>
                <a:cs typeface="Microsoft Sans Serif"/>
              </a:rPr>
              <a:t>development</a:t>
            </a:r>
            <a:r>
              <a:rPr sz="1100" spc="60" dirty="0">
                <a:latin typeface="Microsoft Sans Serif"/>
                <a:cs typeface="Microsoft Sans Serif"/>
              </a:rPr>
              <a:t> </a:t>
            </a:r>
            <a:r>
              <a:rPr sz="1100" spc="-45" dirty="0">
                <a:latin typeface="Microsoft Sans Serif"/>
                <a:cs typeface="Microsoft Sans Serif"/>
              </a:rPr>
              <a:t>environment</a:t>
            </a:r>
            <a:endParaRPr sz="1100" dirty="0">
              <a:latin typeface="Microsoft Sans Serif"/>
              <a:cs typeface="Microsoft Sans Serif"/>
            </a:endParaRPr>
          </a:p>
          <a:p>
            <a:pPr>
              <a:lnSpc>
                <a:spcPct val="100000"/>
              </a:lnSpc>
              <a:spcBef>
                <a:spcPts val="25"/>
              </a:spcBef>
              <a:buFont typeface="Microsoft Sans Serif"/>
              <a:buChar char="-"/>
            </a:pPr>
            <a:endParaRPr sz="1050" dirty="0">
              <a:latin typeface="Microsoft Sans Serif"/>
              <a:cs typeface="Microsoft Sans Serif"/>
            </a:endParaRPr>
          </a:p>
          <a:p>
            <a:pPr marL="104775" indent="-92710">
              <a:lnSpc>
                <a:spcPct val="100000"/>
              </a:lnSpc>
              <a:buChar char="-"/>
              <a:tabLst>
                <a:tab pos="105410" algn="l"/>
              </a:tabLst>
            </a:pPr>
            <a:r>
              <a:rPr sz="1100" spc="-35" dirty="0">
                <a:latin typeface="Microsoft Sans Serif"/>
                <a:cs typeface="Microsoft Sans Serif"/>
              </a:rPr>
              <a:t>data</a:t>
            </a:r>
            <a:r>
              <a:rPr sz="1100" spc="65" dirty="0">
                <a:latin typeface="Microsoft Sans Serif"/>
                <a:cs typeface="Microsoft Sans Serif"/>
              </a:rPr>
              <a:t> </a:t>
            </a:r>
            <a:r>
              <a:rPr sz="1100" spc="-70" dirty="0">
                <a:latin typeface="Microsoft Sans Serif"/>
                <a:cs typeface="Microsoft Sans Serif"/>
              </a:rPr>
              <a:t>analysis</a:t>
            </a:r>
            <a:r>
              <a:rPr sz="1100" spc="70" dirty="0">
                <a:latin typeface="Microsoft Sans Serif"/>
                <a:cs typeface="Microsoft Sans Serif"/>
              </a:rPr>
              <a:t> </a:t>
            </a:r>
            <a:r>
              <a:rPr sz="1100" spc="-65" dirty="0">
                <a:latin typeface="Microsoft Sans Serif"/>
                <a:cs typeface="Microsoft Sans Serif"/>
              </a:rPr>
              <a:t>and</a:t>
            </a:r>
            <a:r>
              <a:rPr sz="1100" spc="70" dirty="0">
                <a:latin typeface="Microsoft Sans Serif"/>
                <a:cs typeface="Microsoft Sans Serif"/>
              </a:rPr>
              <a:t> </a:t>
            </a:r>
            <a:r>
              <a:rPr sz="1100" spc="-35" dirty="0">
                <a:latin typeface="Microsoft Sans Serif"/>
                <a:cs typeface="Microsoft Sans Serif"/>
              </a:rPr>
              <a:t>manipulation</a:t>
            </a:r>
            <a:endParaRPr sz="1100" dirty="0">
              <a:latin typeface="Microsoft Sans Serif"/>
              <a:cs typeface="Microsoft Sans Serif"/>
            </a:endParaRPr>
          </a:p>
          <a:p>
            <a:pPr>
              <a:lnSpc>
                <a:spcPct val="100000"/>
              </a:lnSpc>
              <a:spcBef>
                <a:spcPts val="20"/>
              </a:spcBef>
              <a:buFont typeface="Microsoft Sans Serif"/>
              <a:buChar char="-"/>
            </a:pPr>
            <a:endParaRPr sz="1050" dirty="0">
              <a:latin typeface="Microsoft Sans Serif"/>
              <a:cs typeface="Microsoft Sans Serif"/>
            </a:endParaRPr>
          </a:p>
          <a:p>
            <a:pPr marL="104775" indent="-92710">
              <a:lnSpc>
                <a:spcPct val="100000"/>
              </a:lnSpc>
              <a:spcBef>
                <a:spcPts val="5"/>
              </a:spcBef>
              <a:buChar char="-"/>
              <a:tabLst>
                <a:tab pos="105410" algn="l"/>
              </a:tabLst>
            </a:pPr>
            <a:r>
              <a:rPr sz="1100" spc="-50" dirty="0">
                <a:latin typeface="Microsoft Sans Serif"/>
                <a:cs typeface="Microsoft Sans Serif"/>
              </a:rPr>
              <a:t>numerical</a:t>
            </a:r>
            <a:r>
              <a:rPr sz="1100" spc="65" dirty="0">
                <a:latin typeface="Microsoft Sans Serif"/>
                <a:cs typeface="Microsoft Sans Serif"/>
              </a:rPr>
              <a:t> </a:t>
            </a:r>
            <a:r>
              <a:rPr sz="1100" spc="-40" dirty="0">
                <a:latin typeface="Microsoft Sans Serif"/>
                <a:cs typeface="Microsoft Sans Serif"/>
              </a:rPr>
              <a:t>computations</a:t>
            </a:r>
            <a:endParaRPr sz="1100" dirty="0">
              <a:latin typeface="Microsoft Sans Serif"/>
              <a:cs typeface="Microsoft Sans Serif"/>
            </a:endParaRPr>
          </a:p>
          <a:p>
            <a:pPr>
              <a:lnSpc>
                <a:spcPct val="100000"/>
              </a:lnSpc>
              <a:spcBef>
                <a:spcPts val="20"/>
              </a:spcBef>
              <a:buFont typeface="Microsoft Sans Serif"/>
              <a:buChar char="-"/>
            </a:pPr>
            <a:endParaRPr sz="1050" dirty="0">
              <a:latin typeface="Microsoft Sans Serif"/>
              <a:cs typeface="Microsoft Sans Serif"/>
            </a:endParaRPr>
          </a:p>
          <a:p>
            <a:pPr marL="104775" indent="-92710">
              <a:lnSpc>
                <a:spcPct val="100000"/>
              </a:lnSpc>
              <a:buChar char="-"/>
              <a:tabLst>
                <a:tab pos="105410" algn="l"/>
              </a:tabLst>
            </a:pPr>
            <a:r>
              <a:rPr sz="1100" spc="-35" dirty="0">
                <a:latin typeface="Microsoft Sans Serif"/>
                <a:cs typeface="Microsoft Sans Serif"/>
              </a:rPr>
              <a:t>data</a:t>
            </a:r>
            <a:r>
              <a:rPr sz="1100" spc="60" dirty="0">
                <a:latin typeface="Microsoft Sans Serif"/>
                <a:cs typeface="Microsoft Sans Serif"/>
              </a:rPr>
              <a:t> </a:t>
            </a:r>
            <a:r>
              <a:rPr sz="1100" spc="-40" dirty="0">
                <a:latin typeface="Microsoft Sans Serif"/>
                <a:cs typeface="Microsoft Sans Serif"/>
              </a:rPr>
              <a:t>visualization</a:t>
            </a:r>
            <a:r>
              <a:rPr sz="1100" spc="60" dirty="0">
                <a:latin typeface="Microsoft Sans Serif"/>
                <a:cs typeface="Microsoft Sans Serif"/>
              </a:rPr>
              <a:t> </a:t>
            </a:r>
            <a:r>
              <a:rPr sz="1100" spc="-65" dirty="0">
                <a:latin typeface="Microsoft Sans Serif"/>
                <a:cs typeface="Microsoft Sans Serif"/>
              </a:rPr>
              <a:t>and</a:t>
            </a:r>
            <a:r>
              <a:rPr sz="1100" spc="60" dirty="0">
                <a:latin typeface="Microsoft Sans Serif"/>
                <a:cs typeface="Microsoft Sans Serif"/>
              </a:rPr>
              <a:t> </a:t>
            </a:r>
            <a:r>
              <a:rPr sz="1100" spc="-5" dirty="0">
                <a:latin typeface="Microsoft Sans Serif"/>
                <a:cs typeface="Microsoft Sans Serif"/>
              </a:rPr>
              <a:t>plotting</a:t>
            </a:r>
            <a:endParaRPr sz="1100" dirty="0">
              <a:latin typeface="Microsoft Sans Serif"/>
              <a:cs typeface="Microsoft Sans Serif"/>
            </a:endParaRPr>
          </a:p>
          <a:p>
            <a:pPr>
              <a:lnSpc>
                <a:spcPct val="100000"/>
              </a:lnSpc>
              <a:spcBef>
                <a:spcPts val="25"/>
              </a:spcBef>
              <a:buFont typeface="Microsoft Sans Serif"/>
              <a:buChar char="-"/>
            </a:pPr>
            <a:endParaRPr sz="1050" dirty="0">
              <a:latin typeface="Microsoft Sans Serif"/>
              <a:cs typeface="Microsoft Sans Serif"/>
            </a:endParaRPr>
          </a:p>
          <a:p>
            <a:pPr marL="104775" indent="-92710">
              <a:lnSpc>
                <a:spcPct val="100000"/>
              </a:lnSpc>
              <a:buChar char="-"/>
              <a:tabLst>
                <a:tab pos="105410" algn="l"/>
              </a:tabLst>
            </a:pPr>
            <a:r>
              <a:rPr sz="1100" spc="-40" dirty="0">
                <a:latin typeface="Microsoft Sans Serif"/>
                <a:cs typeface="Microsoft Sans Serif"/>
              </a:rPr>
              <a:t>modelling</a:t>
            </a:r>
            <a:r>
              <a:rPr sz="1100" spc="50" dirty="0">
                <a:latin typeface="Microsoft Sans Serif"/>
                <a:cs typeface="Microsoft Sans Serif"/>
              </a:rPr>
              <a:t> </a:t>
            </a:r>
            <a:r>
              <a:rPr sz="1100" spc="-65" dirty="0">
                <a:latin typeface="Microsoft Sans Serif"/>
                <a:cs typeface="Microsoft Sans Serif"/>
              </a:rPr>
              <a:t>and</a:t>
            </a:r>
            <a:r>
              <a:rPr sz="1100" spc="50" dirty="0">
                <a:latin typeface="Microsoft Sans Serif"/>
                <a:cs typeface="Microsoft Sans Serif"/>
              </a:rPr>
              <a:t> </a:t>
            </a:r>
            <a:r>
              <a:rPr sz="1100" spc="-35" dirty="0">
                <a:latin typeface="Microsoft Sans Serif"/>
                <a:cs typeface="Microsoft Sans Serif"/>
              </a:rPr>
              <a:t>prediction</a:t>
            </a:r>
            <a:endParaRPr sz="1100" dirty="0">
              <a:latin typeface="Microsoft Sans Serif"/>
              <a:cs typeface="Microsoft Sans Serif"/>
            </a:endParaRPr>
          </a:p>
          <a:p>
            <a:pPr>
              <a:lnSpc>
                <a:spcPct val="100000"/>
              </a:lnSpc>
              <a:spcBef>
                <a:spcPts val="25"/>
              </a:spcBef>
              <a:buFont typeface="Microsoft Sans Serif"/>
              <a:buChar char="-"/>
            </a:pPr>
            <a:endParaRPr sz="1050" dirty="0">
              <a:latin typeface="Microsoft Sans Serif"/>
              <a:cs typeface="Microsoft Sans Serif"/>
            </a:endParaRPr>
          </a:p>
          <a:p>
            <a:pPr marL="104775" indent="-92710">
              <a:lnSpc>
                <a:spcPct val="100000"/>
              </a:lnSpc>
              <a:buChar char="-"/>
              <a:tabLst>
                <a:tab pos="105410" algn="l"/>
              </a:tabLst>
            </a:pPr>
            <a:r>
              <a:rPr sz="1100" spc="-25" dirty="0">
                <a:latin typeface="Microsoft Sans Serif"/>
                <a:cs typeface="Microsoft Sans Serif"/>
              </a:rPr>
              <a:t>natural</a:t>
            </a:r>
            <a:r>
              <a:rPr sz="1100" spc="65" dirty="0">
                <a:latin typeface="Microsoft Sans Serif"/>
                <a:cs typeface="Microsoft Sans Serif"/>
              </a:rPr>
              <a:t> </a:t>
            </a:r>
            <a:r>
              <a:rPr sz="1100" spc="-70" dirty="0">
                <a:latin typeface="Microsoft Sans Serif"/>
                <a:cs typeface="Microsoft Sans Serif"/>
              </a:rPr>
              <a:t>language</a:t>
            </a:r>
            <a:r>
              <a:rPr sz="1100" spc="65" dirty="0">
                <a:latin typeface="Microsoft Sans Serif"/>
                <a:cs typeface="Microsoft Sans Serif"/>
              </a:rPr>
              <a:t> </a:t>
            </a:r>
            <a:r>
              <a:rPr sz="1100" spc="-70" dirty="0">
                <a:latin typeface="Microsoft Sans Serif"/>
                <a:cs typeface="Microsoft Sans Serif"/>
              </a:rPr>
              <a:t>processing</a:t>
            </a:r>
            <a:r>
              <a:rPr sz="1100" spc="70" dirty="0">
                <a:latin typeface="Microsoft Sans Serif"/>
                <a:cs typeface="Microsoft Sans Serif"/>
              </a:rPr>
              <a:t> </a:t>
            </a:r>
            <a:r>
              <a:rPr sz="1100" spc="-60" dirty="0">
                <a:latin typeface="Microsoft Sans Serif"/>
                <a:cs typeface="Microsoft Sans Serif"/>
              </a:rPr>
              <a:t>using</a:t>
            </a:r>
            <a:r>
              <a:rPr sz="1100" spc="65" dirty="0">
                <a:latin typeface="Microsoft Sans Serif"/>
                <a:cs typeface="Microsoft Sans Serif"/>
              </a:rPr>
              <a:t> </a:t>
            </a:r>
            <a:r>
              <a:rPr sz="1100" spc="-15" dirty="0">
                <a:latin typeface="Microsoft Sans Serif"/>
                <a:cs typeface="Microsoft Sans Serif"/>
              </a:rPr>
              <a:t>NLTK</a:t>
            </a:r>
            <a:endParaRPr sz="1100" dirty="0">
              <a:latin typeface="Microsoft Sans Serif"/>
              <a:cs typeface="Microsoft Sans Serif"/>
            </a:endParaRPr>
          </a:p>
          <a:p>
            <a:pPr>
              <a:lnSpc>
                <a:spcPct val="100000"/>
              </a:lnSpc>
              <a:spcBef>
                <a:spcPts val="25"/>
              </a:spcBef>
              <a:buFont typeface="Microsoft Sans Serif"/>
              <a:buChar char="-"/>
            </a:pPr>
            <a:endParaRPr sz="1050" dirty="0">
              <a:latin typeface="Microsoft Sans Serif"/>
              <a:cs typeface="Microsoft Sans Serif"/>
            </a:endParaRPr>
          </a:p>
          <a:p>
            <a:pPr marL="104775" indent="-92710">
              <a:lnSpc>
                <a:spcPct val="100000"/>
              </a:lnSpc>
              <a:buChar char="-"/>
              <a:tabLst>
                <a:tab pos="105410" algn="l"/>
              </a:tabLst>
            </a:pPr>
            <a:r>
              <a:rPr sz="1100" spc="-90" dirty="0">
                <a:latin typeface="Microsoft Sans Serif"/>
                <a:cs typeface="Microsoft Sans Serif"/>
              </a:rPr>
              <a:t>deep</a:t>
            </a:r>
            <a:r>
              <a:rPr sz="1100" spc="30" dirty="0">
                <a:latin typeface="Microsoft Sans Serif"/>
                <a:cs typeface="Microsoft Sans Serif"/>
              </a:rPr>
              <a:t> </a:t>
            </a:r>
            <a:r>
              <a:rPr sz="1100" spc="-50" dirty="0">
                <a:latin typeface="Microsoft Sans Serif"/>
                <a:cs typeface="Microsoft Sans Serif"/>
              </a:rPr>
              <a:t>learning</a:t>
            </a:r>
            <a:endParaRPr sz="1100" dirty="0">
              <a:latin typeface="Microsoft Sans Serif"/>
              <a:cs typeface="Microsoft Sans Serif"/>
            </a:endParaRPr>
          </a:p>
        </p:txBody>
      </p:sp>
      <p:pic>
        <p:nvPicPr>
          <p:cNvPr id="9" name="object 9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871448" y="1144325"/>
            <a:ext cx="914350" cy="269959"/>
          </a:xfrm>
          <a:prstGeom prst="rect">
            <a:avLst/>
          </a:prstGeom>
        </p:spPr>
      </p:pic>
      <p:pic>
        <p:nvPicPr>
          <p:cNvPr id="10" name="object 10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1017701" y="1465956"/>
            <a:ext cx="768102" cy="269955"/>
          </a:xfrm>
          <a:prstGeom prst="rect">
            <a:avLst/>
          </a:prstGeom>
        </p:spPr>
      </p:pic>
      <p:pic>
        <p:nvPicPr>
          <p:cNvPr id="11" name="object 11"/>
          <p:cNvPicPr/>
          <p:nvPr/>
        </p:nvPicPr>
        <p:blipFill>
          <a:blip r:embed="rId8" cstate="print"/>
          <a:stretch>
            <a:fillRect/>
          </a:stretch>
        </p:blipFill>
        <p:spPr>
          <a:xfrm>
            <a:off x="654126" y="1787529"/>
            <a:ext cx="1131691" cy="269997"/>
          </a:xfrm>
          <a:prstGeom prst="rect">
            <a:avLst/>
          </a:prstGeom>
        </p:spPr>
      </p:pic>
      <p:pic>
        <p:nvPicPr>
          <p:cNvPr id="12" name="object 12"/>
          <p:cNvPicPr/>
          <p:nvPr/>
        </p:nvPicPr>
        <p:blipFill>
          <a:blip r:embed="rId9" cstate="print"/>
          <a:stretch>
            <a:fillRect/>
          </a:stretch>
        </p:blipFill>
        <p:spPr>
          <a:xfrm>
            <a:off x="1284452" y="2109236"/>
            <a:ext cx="501395" cy="269918"/>
          </a:xfrm>
          <a:prstGeom prst="rect">
            <a:avLst/>
          </a:prstGeom>
        </p:spPr>
      </p:pic>
      <p:pic>
        <p:nvPicPr>
          <p:cNvPr id="13" name="object 13"/>
          <p:cNvPicPr/>
          <p:nvPr/>
        </p:nvPicPr>
        <p:blipFill>
          <a:blip r:embed="rId10" cstate="print"/>
          <a:stretch>
            <a:fillRect/>
          </a:stretch>
        </p:blipFill>
        <p:spPr>
          <a:xfrm>
            <a:off x="474865" y="2430764"/>
            <a:ext cx="1310945" cy="270005"/>
          </a:xfrm>
          <a:prstGeom prst="rect">
            <a:avLst/>
          </a:prstGeom>
        </p:spPr>
      </p:pic>
      <p:pic>
        <p:nvPicPr>
          <p:cNvPr id="14" name="object 14"/>
          <p:cNvPicPr/>
          <p:nvPr/>
        </p:nvPicPr>
        <p:blipFill>
          <a:blip r:embed="rId11" cstate="print"/>
          <a:stretch>
            <a:fillRect/>
          </a:stretch>
        </p:blipFill>
        <p:spPr>
          <a:xfrm>
            <a:off x="435914" y="2752424"/>
            <a:ext cx="1349862" cy="269972"/>
          </a:xfrm>
          <a:prstGeom prst="rect">
            <a:avLst/>
          </a:prstGeom>
        </p:spPr>
      </p:pic>
      <p:grpSp>
        <p:nvGrpSpPr>
          <p:cNvPr id="15" name="object 15"/>
          <p:cNvGrpSpPr/>
          <p:nvPr/>
        </p:nvGrpSpPr>
        <p:grpSpPr>
          <a:xfrm>
            <a:off x="0" y="3346348"/>
            <a:ext cx="4608195" cy="109855"/>
            <a:chOff x="0" y="3346348"/>
            <a:chExt cx="4608195" cy="109855"/>
          </a:xfrm>
        </p:grpSpPr>
        <p:sp>
          <p:nvSpPr>
            <p:cNvPr id="16" name="object 16"/>
            <p:cNvSpPr/>
            <p:nvPr/>
          </p:nvSpPr>
          <p:spPr>
            <a:xfrm>
              <a:off x="0" y="3346348"/>
              <a:ext cx="2304415" cy="109855"/>
            </a:xfrm>
            <a:custGeom>
              <a:avLst/>
              <a:gdLst/>
              <a:ahLst/>
              <a:cxnLst/>
              <a:rect l="l" t="t" r="r" b="b"/>
              <a:pathLst>
                <a:path w="2304415" h="109854">
                  <a:moveTo>
                    <a:pt x="2304008" y="0"/>
                  </a:moveTo>
                  <a:lnTo>
                    <a:pt x="1152004" y="0"/>
                  </a:lnTo>
                  <a:lnTo>
                    <a:pt x="0" y="0"/>
                  </a:lnTo>
                  <a:lnTo>
                    <a:pt x="0" y="109651"/>
                  </a:lnTo>
                  <a:lnTo>
                    <a:pt x="1152004" y="109651"/>
                  </a:lnTo>
                  <a:lnTo>
                    <a:pt x="2304008" y="109651"/>
                  </a:lnTo>
                  <a:lnTo>
                    <a:pt x="2304008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17" name="object 17"/>
            <p:cNvSpPr/>
            <p:nvPr/>
          </p:nvSpPr>
          <p:spPr>
            <a:xfrm>
              <a:off x="2303995" y="3346348"/>
              <a:ext cx="2304415" cy="109855"/>
            </a:xfrm>
            <a:custGeom>
              <a:avLst/>
              <a:gdLst/>
              <a:ahLst/>
              <a:cxnLst/>
              <a:rect l="l" t="t" r="r" b="b"/>
              <a:pathLst>
                <a:path w="2304415" h="109854">
                  <a:moveTo>
                    <a:pt x="2303996" y="0"/>
                  </a:moveTo>
                  <a:lnTo>
                    <a:pt x="1920024" y="0"/>
                  </a:lnTo>
                  <a:lnTo>
                    <a:pt x="0" y="0"/>
                  </a:lnTo>
                  <a:lnTo>
                    <a:pt x="0" y="109651"/>
                  </a:lnTo>
                  <a:lnTo>
                    <a:pt x="1920024" y="109651"/>
                  </a:lnTo>
                  <a:lnTo>
                    <a:pt x="2303996" y="109651"/>
                  </a:lnTo>
                  <a:lnTo>
                    <a:pt x="2303996" y="0"/>
                  </a:lnTo>
                  <a:close/>
                </a:path>
              </a:pathLst>
            </a:custGeom>
            <a:solidFill>
              <a:srgbClr val="8C2054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</p:grpSp>
      <p:sp>
        <p:nvSpPr>
          <p:cNvPr id="20" name="object 20"/>
          <p:cNvSpPr txBox="1"/>
          <p:nvPr/>
        </p:nvSpPr>
        <p:spPr>
          <a:xfrm>
            <a:off x="3086696" y="3351784"/>
            <a:ext cx="354965" cy="10223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5"/>
              </a:lnSpc>
            </a:pPr>
            <a:r>
              <a:rPr sz="600" spc="5" dirty="0">
                <a:solidFill>
                  <a:srgbClr val="FFFFFF"/>
                </a:solidFill>
                <a:latin typeface="Microsoft Sans Serif"/>
                <a:cs typeface="Microsoft Sans Serif"/>
              </a:rPr>
              <a:t>Tutorial</a:t>
            </a:r>
            <a:r>
              <a:rPr sz="600" spc="-10" dirty="0">
                <a:solidFill>
                  <a:srgbClr val="FFFFFF"/>
                </a:solidFill>
                <a:latin typeface="Microsoft Sans Serif"/>
                <a:cs typeface="Microsoft Sans Serif"/>
              </a:rPr>
              <a:t> </a:t>
            </a:r>
            <a:r>
              <a:rPr sz="600" spc="-20" dirty="0">
                <a:solidFill>
                  <a:srgbClr val="FFFFFF"/>
                </a:solidFill>
                <a:latin typeface="Microsoft Sans Serif"/>
                <a:cs typeface="Microsoft Sans Serif"/>
              </a:rPr>
              <a:t>1</a:t>
            </a:r>
            <a:endParaRPr sz="600" dirty="0">
              <a:latin typeface="Microsoft Sans Serif"/>
              <a:cs typeface="Microsoft Sans Serif"/>
            </a:endParaRPr>
          </a:p>
        </p:txBody>
      </p:sp>
      <p:sp>
        <p:nvSpPr>
          <p:cNvPr id="21" name="object 12">
            <a:extLst>
              <a:ext uri="{FF2B5EF4-FFF2-40B4-BE49-F238E27FC236}">
                <a16:creationId xmlns:a16="http://schemas.microsoft.com/office/drawing/2014/main" id="{4860D309-3B25-AD1D-E68D-B2383E93F565}"/>
              </a:ext>
            </a:extLst>
          </p:cNvPr>
          <p:cNvSpPr txBox="1">
            <a:spLocks noGrp="1"/>
          </p:cNvSpPr>
          <p:nvPr>
            <p:ph type="dt" sz="half" idx="6"/>
          </p:nvPr>
        </p:nvSpPr>
        <p:spPr>
          <a:xfrm>
            <a:off x="1506396" y="3351784"/>
            <a:ext cx="663029" cy="8976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5"/>
              </a:lnSpc>
            </a:pPr>
            <a:r>
              <a:rPr lang="en-US" spc="10" dirty="0"/>
              <a:t>Summer 2026</a:t>
            </a:r>
            <a:endParaRPr spc="-20" dirty="0"/>
          </a:p>
        </p:txBody>
      </p:sp>
      <p:sp>
        <p:nvSpPr>
          <p:cNvPr id="23" name="Footer Placeholder 10">
            <a:extLst>
              <a:ext uri="{FF2B5EF4-FFF2-40B4-BE49-F238E27FC236}">
                <a16:creationId xmlns:a16="http://schemas.microsoft.com/office/drawing/2014/main" id="{0B698714-11C7-16B8-05AB-F8CA51E296EB}"/>
              </a:ext>
            </a:extLst>
          </p:cNvPr>
          <p:cNvSpPr>
            <a:spLocks noGrp="1"/>
          </p:cNvSpPr>
          <p:nvPr>
            <p:ph type="ftr" sz="quarter" idx="5"/>
          </p:nvPr>
        </p:nvSpPr>
        <p:spPr>
          <a:xfrm>
            <a:off x="346620" y="3351783"/>
            <a:ext cx="663029" cy="207391"/>
          </a:xfrm>
        </p:spPr>
        <p:txBody>
          <a:bodyPr/>
          <a:lstStyle/>
          <a:p>
            <a:pPr marL="12700">
              <a:lnSpc>
                <a:spcPts val="675"/>
              </a:lnSpc>
            </a:pPr>
            <a:r>
              <a:rPr lang="en-US" spc="-20" dirty="0"/>
              <a:t>By Hazem</a:t>
            </a:r>
            <a:r>
              <a:rPr lang="en-US" spc="-5" dirty="0"/>
              <a:t> </a:t>
            </a:r>
            <a:r>
              <a:rPr lang="en-US" dirty="0"/>
              <a:t>Nabil</a:t>
            </a:r>
          </a:p>
        </p:txBody>
      </p:sp>
      <p:sp>
        <p:nvSpPr>
          <p:cNvPr id="25" name="Slide Number Placeholder 14">
            <a:extLst>
              <a:ext uri="{FF2B5EF4-FFF2-40B4-BE49-F238E27FC236}">
                <a16:creationId xmlns:a16="http://schemas.microsoft.com/office/drawing/2014/main" id="{38DC3AD0-8573-4CEA-D070-5B755686D100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>
          <a:xfrm>
            <a:off x="4246994" y="3356177"/>
            <a:ext cx="344804" cy="89768"/>
          </a:xfrm>
        </p:spPr>
        <p:txBody>
          <a:bodyPr/>
          <a:lstStyle/>
          <a:p>
            <a:pPr marL="38100">
              <a:lnSpc>
                <a:spcPts val="675"/>
              </a:lnSpc>
            </a:pPr>
            <a:fld id="{81D60167-4931-47E6-BA6A-407CBD079E47}" type="slidenum">
              <a:rPr lang="en-US" spc="-20" smtClean="0"/>
              <a:t>19</a:t>
            </a:fld>
            <a:r>
              <a:rPr lang="en-US" spc="20" dirty="0"/>
              <a:t> </a:t>
            </a:r>
            <a:r>
              <a:rPr lang="en-US" spc="150" dirty="0"/>
              <a:t>/</a:t>
            </a:r>
            <a:r>
              <a:rPr lang="en-US" spc="20" dirty="0"/>
              <a:t> </a:t>
            </a:r>
            <a:r>
              <a:rPr lang="en-US" spc="-20" dirty="0"/>
              <a:t>20</a:t>
            </a:r>
          </a:p>
        </p:txBody>
      </p:sp>
    </p:spTree>
  </p:cSld>
  <p:clrMapOvr>
    <a:masterClrMapping/>
  </p:clrMapOvr>
  <p:transition>
    <p:cut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268450" y="0"/>
            <a:ext cx="940435" cy="382270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441325" marR="5080" indent="73025" algn="r">
              <a:lnSpc>
                <a:spcPts val="700"/>
              </a:lnSpc>
              <a:spcBef>
                <a:spcPts val="135"/>
              </a:spcBef>
            </a:pPr>
            <a:r>
              <a:rPr sz="600" spc="10" dirty="0">
                <a:solidFill>
                  <a:srgbClr val="7F7F7F"/>
                </a:solidFill>
                <a:latin typeface="Microsoft Sans Serif"/>
                <a:cs typeface="Microsoft Sans Serif"/>
              </a:rPr>
              <a:t>Intr</a:t>
            </a:r>
            <a:r>
              <a:rPr sz="600" spc="30" dirty="0">
                <a:solidFill>
                  <a:srgbClr val="7F7F7F"/>
                </a:solidFill>
                <a:latin typeface="Microsoft Sans Serif"/>
                <a:cs typeface="Microsoft Sans Serif"/>
              </a:rPr>
              <a:t>o</a:t>
            </a:r>
            <a:r>
              <a:rPr sz="600" dirty="0">
                <a:solidFill>
                  <a:srgbClr val="7F7F7F"/>
                </a:solidFill>
                <a:latin typeface="Microsoft Sans Serif"/>
                <a:cs typeface="Microsoft Sans Serif"/>
              </a:rPr>
              <a:t>duction  </a:t>
            </a:r>
            <a:r>
              <a:rPr sz="600" spc="-30" dirty="0">
                <a:solidFill>
                  <a:srgbClr val="7F7F7F"/>
                </a:solidFill>
                <a:latin typeface="Microsoft Sans Serif"/>
                <a:cs typeface="Microsoft Sans Serif"/>
              </a:rPr>
              <a:t>Cours</a:t>
            </a:r>
            <a:r>
              <a:rPr sz="600" spc="-25" dirty="0">
                <a:solidFill>
                  <a:srgbClr val="7F7F7F"/>
                </a:solidFill>
                <a:latin typeface="Microsoft Sans Serif"/>
                <a:cs typeface="Microsoft Sans Serif"/>
              </a:rPr>
              <a:t>e</a:t>
            </a:r>
            <a:r>
              <a:rPr sz="600" spc="50" dirty="0">
                <a:solidFill>
                  <a:srgbClr val="7F7F7F"/>
                </a:solidFill>
                <a:latin typeface="Microsoft Sans Serif"/>
                <a:cs typeface="Microsoft Sans Serif"/>
              </a:rPr>
              <a:t> </a:t>
            </a:r>
            <a:r>
              <a:rPr sz="600" spc="-5" dirty="0">
                <a:solidFill>
                  <a:srgbClr val="7F7F7F"/>
                </a:solidFill>
                <a:latin typeface="Microsoft Sans Serif"/>
                <a:cs typeface="Microsoft Sans Serif"/>
              </a:rPr>
              <a:t>Details  </a:t>
            </a:r>
            <a:r>
              <a:rPr sz="600" spc="10" dirty="0">
                <a:solidFill>
                  <a:srgbClr val="7F7F7F"/>
                </a:solidFill>
                <a:latin typeface="Microsoft Sans Serif"/>
                <a:cs typeface="Microsoft Sans Serif"/>
              </a:rPr>
              <a:t>Motivation</a:t>
            </a:r>
            <a:endParaRPr sz="600" dirty="0">
              <a:latin typeface="Microsoft Sans Serif"/>
              <a:cs typeface="Microsoft Sans Serif"/>
            </a:endParaRPr>
          </a:p>
          <a:p>
            <a:pPr marR="5080" algn="r">
              <a:lnSpc>
                <a:spcPts val="670"/>
              </a:lnSpc>
            </a:pPr>
            <a:r>
              <a:rPr sz="600" spc="-25" dirty="0">
                <a:solidFill>
                  <a:srgbClr val="FFFFFF"/>
                </a:solidFill>
                <a:latin typeface="Microsoft Sans Serif"/>
                <a:cs typeface="Microsoft Sans Serif"/>
              </a:rPr>
              <a:t>Accessing</a:t>
            </a:r>
            <a:r>
              <a:rPr sz="600" spc="35" dirty="0">
                <a:solidFill>
                  <a:srgbClr val="FFFFFF"/>
                </a:solidFill>
                <a:latin typeface="Microsoft Sans Serif"/>
                <a:cs typeface="Microsoft Sans Serif"/>
              </a:rPr>
              <a:t> </a:t>
            </a:r>
            <a:r>
              <a:rPr sz="600" dirty="0">
                <a:solidFill>
                  <a:srgbClr val="FFFFFF"/>
                </a:solidFill>
                <a:latin typeface="Microsoft Sans Serif"/>
                <a:cs typeface="Microsoft Sans Serif"/>
              </a:rPr>
              <a:t>the</a:t>
            </a:r>
            <a:r>
              <a:rPr sz="600" spc="40" dirty="0">
                <a:solidFill>
                  <a:srgbClr val="FFFFFF"/>
                </a:solidFill>
                <a:latin typeface="Microsoft Sans Serif"/>
                <a:cs typeface="Microsoft Sans Serif"/>
              </a:rPr>
              <a:t> </a:t>
            </a:r>
            <a:r>
              <a:rPr sz="600" spc="-10" dirty="0">
                <a:solidFill>
                  <a:srgbClr val="FFFFFF"/>
                </a:solidFill>
                <a:latin typeface="Microsoft Sans Serif"/>
                <a:cs typeface="Microsoft Sans Serif"/>
              </a:rPr>
              <a:t>Lab</a:t>
            </a:r>
            <a:r>
              <a:rPr sz="600" spc="35" dirty="0">
                <a:solidFill>
                  <a:srgbClr val="FFFFFF"/>
                </a:solidFill>
                <a:latin typeface="Microsoft Sans Serif"/>
                <a:cs typeface="Microsoft Sans Serif"/>
              </a:rPr>
              <a:t> </a:t>
            </a:r>
            <a:r>
              <a:rPr sz="600" spc="5" dirty="0">
                <a:solidFill>
                  <a:srgbClr val="FFFFFF"/>
                </a:solidFill>
                <a:latin typeface="Microsoft Sans Serif"/>
                <a:cs typeface="Microsoft Sans Serif"/>
              </a:rPr>
              <a:t>Material</a:t>
            </a:r>
            <a:endParaRPr sz="600" dirty="0">
              <a:latin typeface="Microsoft Sans Serif"/>
              <a:cs typeface="Microsoft Sans Serif"/>
            </a:endParaRPr>
          </a:p>
        </p:txBody>
      </p:sp>
      <p:pic>
        <p:nvPicPr>
          <p:cNvPr id="3" name="object 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2303995" y="0"/>
            <a:ext cx="2304008" cy="366928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2679966" y="129636"/>
            <a:ext cx="1438910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900" b="1" spc="-20" dirty="0">
                <a:solidFill>
                  <a:srgbClr val="FFFFFF"/>
                </a:solidFill>
                <a:latin typeface="Trebuchet MS"/>
                <a:cs typeface="Trebuchet MS"/>
              </a:rPr>
              <a:t>German</a:t>
            </a:r>
            <a:r>
              <a:rPr sz="900" b="1" spc="40" dirty="0">
                <a:solidFill>
                  <a:srgbClr val="FFFFFF"/>
                </a:solidFill>
                <a:latin typeface="Trebuchet MS"/>
                <a:cs typeface="Trebuchet MS"/>
              </a:rPr>
              <a:t> </a:t>
            </a:r>
            <a:r>
              <a:rPr sz="900" b="1" spc="-25" dirty="0">
                <a:solidFill>
                  <a:srgbClr val="FFFFFF"/>
                </a:solidFill>
                <a:latin typeface="Trebuchet MS"/>
                <a:cs typeface="Trebuchet MS"/>
              </a:rPr>
              <a:t>University</a:t>
            </a:r>
            <a:r>
              <a:rPr sz="900" b="1" spc="45" dirty="0">
                <a:solidFill>
                  <a:srgbClr val="FFFFFF"/>
                </a:solidFill>
                <a:latin typeface="Trebuchet MS"/>
                <a:cs typeface="Trebuchet MS"/>
              </a:rPr>
              <a:t> </a:t>
            </a:r>
            <a:r>
              <a:rPr sz="900" b="1" spc="-35" dirty="0">
                <a:solidFill>
                  <a:srgbClr val="FFFFFF"/>
                </a:solidFill>
                <a:latin typeface="Trebuchet MS"/>
                <a:cs typeface="Trebuchet MS"/>
              </a:rPr>
              <a:t>in</a:t>
            </a:r>
            <a:r>
              <a:rPr sz="900" b="1" spc="40" dirty="0">
                <a:solidFill>
                  <a:srgbClr val="FFFFFF"/>
                </a:solidFill>
                <a:latin typeface="Trebuchet MS"/>
                <a:cs typeface="Trebuchet MS"/>
              </a:rPr>
              <a:t> </a:t>
            </a:r>
            <a:r>
              <a:rPr sz="900" b="1" spc="-15" dirty="0">
                <a:solidFill>
                  <a:srgbClr val="FFFFFF"/>
                </a:solidFill>
                <a:latin typeface="Trebuchet MS"/>
                <a:cs typeface="Trebuchet MS"/>
              </a:rPr>
              <a:t>Cairo</a:t>
            </a:r>
            <a:endParaRPr sz="900">
              <a:latin typeface="Trebuchet MS"/>
              <a:cs typeface="Trebuchet MS"/>
            </a:endParaRPr>
          </a:p>
        </p:txBody>
      </p:sp>
      <p:pic>
        <p:nvPicPr>
          <p:cNvPr id="5" name="object 5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0" y="366911"/>
            <a:ext cx="4604410" cy="260646"/>
          </a:xfrm>
          <a:prstGeom prst="rect">
            <a:avLst/>
          </a:prstGeom>
        </p:spPr>
      </p:pic>
      <p:sp>
        <p:nvSpPr>
          <p:cNvPr id="6" name="object 6"/>
          <p:cNvSpPr txBox="1"/>
          <p:nvPr/>
        </p:nvSpPr>
        <p:spPr>
          <a:xfrm>
            <a:off x="197218" y="364347"/>
            <a:ext cx="1273175" cy="24447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400" spc="-60" dirty="0">
                <a:solidFill>
                  <a:srgbClr val="FFFFFF"/>
                </a:solidFill>
                <a:latin typeface="Trebuchet MS"/>
                <a:cs typeface="Trebuchet MS"/>
              </a:rPr>
              <a:t>Useful</a:t>
            </a:r>
            <a:r>
              <a:rPr sz="1400" spc="-5" dirty="0">
                <a:solidFill>
                  <a:srgbClr val="FFFFFF"/>
                </a:solidFill>
                <a:latin typeface="Trebuchet MS"/>
                <a:cs typeface="Trebuchet MS"/>
              </a:rPr>
              <a:t> </a:t>
            </a:r>
            <a:r>
              <a:rPr sz="1400" spc="-55" dirty="0">
                <a:solidFill>
                  <a:srgbClr val="FFFFFF"/>
                </a:solidFill>
                <a:latin typeface="Trebuchet MS"/>
                <a:cs typeface="Trebuchet MS"/>
              </a:rPr>
              <a:t>Resources</a:t>
            </a:r>
            <a:endParaRPr sz="1400">
              <a:latin typeface="Trebuchet MS"/>
              <a:cs typeface="Trebuchet MS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384251" y="982686"/>
            <a:ext cx="3624579" cy="1892300"/>
          </a:xfrm>
          <a:prstGeom prst="rect">
            <a:avLst/>
          </a:prstGeom>
        </p:spPr>
        <p:txBody>
          <a:bodyPr vert="horz" wrap="square" lIns="0" tIns="6985" rIns="0" bIns="0" rtlCol="0">
            <a:spAutoFit/>
          </a:bodyPr>
          <a:lstStyle/>
          <a:p>
            <a:pPr marL="252729" marR="179070" indent="-139065">
              <a:lnSpc>
                <a:spcPct val="102600"/>
              </a:lnSpc>
              <a:spcBef>
                <a:spcPts val="55"/>
              </a:spcBef>
              <a:buClr>
                <a:srgbClr val="8C2054"/>
              </a:buClr>
              <a:buFont typeface="Arial"/>
              <a:buChar char="•"/>
              <a:tabLst>
                <a:tab pos="253365" algn="l"/>
              </a:tabLst>
            </a:pPr>
            <a:r>
              <a:rPr sz="1100" spc="-55" dirty="0">
                <a:latin typeface="Microsoft Sans Serif"/>
                <a:cs typeface="Microsoft Sans Serif"/>
              </a:rPr>
              <a:t>Beginner</a:t>
            </a:r>
            <a:r>
              <a:rPr sz="1100" spc="70" dirty="0">
                <a:latin typeface="Microsoft Sans Serif"/>
                <a:cs typeface="Microsoft Sans Serif"/>
              </a:rPr>
              <a:t> </a:t>
            </a:r>
            <a:r>
              <a:rPr sz="1100" spc="-30" dirty="0">
                <a:latin typeface="Microsoft Sans Serif"/>
                <a:cs typeface="Microsoft Sans Serif"/>
              </a:rPr>
              <a:t>Python</a:t>
            </a:r>
            <a:r>
              <a:rPr sz="1100" spc="75" dirty="0">
                <a:latin typeface="Microsoft Sans Serif"/>
                <a:cs typeface="Microsoft Sans Serif"/>
              </a:rPr>
              <a:t> </a:t>
            </a:r>
            <a:r>
              <a:rPr sz="1100" spc="-60" dirty="0">
                <a:latin typeface="Microsoft Sans Serif"/>
                <a:cs typeface="Microsoft Sans Serif"/>
              </a:rPr>
              <a:t>Cheat</a:t>
            </a:r>
            <a:r>
              <a:rPr sz="1100" spc="70" dirty="0">
                <a:latin typeface="Microsoft Sans Serif"/>
                <a:cs typeface="Microsoft Sans Serif"/>
              </a:rPr>
              <a:t> </a:t>
            </a:r>
            <a:r>
              <a:rPr sz="1100" spc="-70" dirty="0">
                <a:latin typeface="Microsoft Sans Serif"/>
                <a:cs typeface="Microsoft Sans Serif"/>
              </a:rPr>
              <a:t>Sheets:</a:t>
            </a:r>
            <a:r>
              <a:rPr sz="1100" spc="-25" dirty="0">
                <a:latin typeface="Microsoft Sans Serif"/>
                <a:cs typeface="Microsoft Sans Serif"/>
              </a:rPr>
              <a:t> </a:t>
            </a:r>
            <a:r>
              <a:rPr sz="1100" spc="20" dirty="0">
                <a:latin typeface="SimSun"/>
                <a:cs typeface="SimSun"/>
                <a:hlinkClick r:id="rId5"/>
              </a:rPr>
              <a:t>https://ehmatthes. </a:t>
            </a:r>
            <a:r>
              <a:rPr sz="1100" spc="-535" dirty="0">
                <a:latin typeface="SimSun"/>
                <a:cs typeface="SimSun"/>
              </a:rPr>
              <a:t> </a:t>
            </a:r>
            <a:r>
              <a:rPr sz="1100" spc="20" dirty="0">
                <a:latin typeface="SimSun"/>
                <a:cs typeface="SimSun"/>
                <a:hlinkClick r:id="rId5"/>
              </a:rPr>
              <a:t>github.io/pcc_2e/cheat_sheets/cheat_sheets/</a:t>
            </a:r>
            <a:endParaRPr sz="1100" dirty="0">
              <a:latin typeface="SimSun"/>
              <a:cs typeface="SimSun"/>
            </a:endParaRPr>
          </a:p>
          <a:p>
            <a:pPr marL="252729" indent="-139065">
              <a:lnSpc>
                <a:spcPct val="100000"/>
              </a:lnSpc>
              <a:spcBef>
                <a:spcPts val="335"/>
              </a:spcBef>
              <a:buClr>
                <a:srgbClr val="8C2054"/>
              </a:buClr>
              <a:buFont typeface="Arial"/>
              <a:buChar char="•"/>
              <a:tabLst>
                <a:tab pos="253365" algn="l"/>
              </a:tabLst>
            </a:pPr>
            <a:r>
              <a:rPr sz="1100" spc="-75" dirty="0">
                <a:latin typeface="Microsoft Sans Serif"/>
                <a:cs typeface="Microsoft Sans Serif"/>
              </a:rPr>
              <a:t>Comprehensive</a:t>
            </a:r>
            <a:r>
              <a:rPr sz="1100" spc="55" dirty="0">
                <a:latin typeface="Microsoft Sans Serif"/>
                <a:cs typeface="Microsoft Sans Serif"/>
              </a:rPr>
              <a:t> </a:t>
            </a:r>
            <a:r>
              <a:rPr sz="1100" spc="-30" dirty="0">
                <a:latin typeface="Microsoft Sans Serif"/>
                <a:cs typeface="Microsoft Sans Serif"/>
              </a:rPr>
              <a:t>Python</a:t>
            </a:r>
            <a:r>
              <a:rPr sz="1100" spc="60" dirty="0">
                <a:latin typeface="Microsoft Sans Serif"/>
                <a:cs typeface="Microsoft Sans Serif"/>
              </a:rPr>
              <a:t> </a:t>
            </a:r>
            <a:r>
              <a:rPr sz="1100" spc="-60" dirty="0">
                <a:latin typeface="Microsoft Sans Serif"/>
                <a:cs typeface="Microsoft Sans Serif"/>
              </a:rPr>
              <a:t>Cheat</a:t>
            </a:r>
            <a:r>
              <a:rPr sz="1100" spc="60" dirty="0">
                <a:latin typeface="Microsoft Sans Serif"/>
                <a:cs typeface="Microsoft Sans Serif"/>
              </a:rPr>
              <a:t> </a:t>
            </a:r>
            <a:r>
              <a:rPr sz="1100" spc="-60" dirty="0">
                <a:latin typeface="Microsoft Sans Serif"/>
                <a:cs typeface="Microsoft Sans Serif"/>
              </a:rPr>
              <a:t>Sheet:</a:t>
            </a:r>
            <a:endParaRPr sz="1100" dirty="0">
              <a:latin typeface="Microsoft Sans Serif"/>
              <a:cs typeface="Microsoft Sans Serif"/>
            </a:endParaRPr>
          </a:p>
          <a:p>
            <a:pPr marL="252729">
              <a:lnSpc>
                <a:spcPct val="100000"/>
              </a:lnSpc>
              <a:spcBef>
                <a:spcPts val="35"/>
              </a:spcBef>
            </a:pPr>
            <a:r>
              <a:rPr sz="1100" spc="20" dirty="0">
                <a:latin typeface="SimSun"/>
                <a:cs typeface="SimSun"/>
                <a:hlinkClick r:id="rId6"/>
              </a:rPr>
              <a:t>https://gto76.github.io/python-cheatsheet/</a:t>
            </a:r>
            <a:endParaRPr sz="1100" dirty="0">
              <a:latin typeface="SimSun"/>
              <a:cs typeface="SimSun"/>
            </a:endParaRPr>
          </a:p>
          <a:p>
            <a:pPr marL="252729" indent="-139065">
              <a:lnSpc>
                <a:spcPct val="100000"/>
              </a:lnSpc>
              <a:spcBef>
                <a:spcPts val="334"/>
              </a:spcBef>
              <a:buClr>
                <a:srgbClr val="8C2054"/>
              </a:buClr>
              <a:buFont typeface="Arial"/>
              <a:buChar char="•"/>
              <a:tabLst>
                <a:tab pos="253365" algn="l"/>
              </a:tabLst>
            </a:pPr>
            <a:r>
              <a:rPr sz="1100" spc="-30" dirty="0">
                <a:latin typeface="Microsoft Sans Serif"/>
                <a:cs typeface="Microsoft Sans Serif"/>
              </a:rPr>
              <a:t>Python</a:t>
            </a:r>
            <a:r>
              <a:rPr sz="1100" spc="60" dirty="0">
                <a:latin typeface="Microsoft Sans Serif"/>
                <a:cs typeface="Microsoft Sans Serif"/>
              </a:rPr>
              <a:t> </a:t>
            </a:r>
            <a:r>
              <a:rPr sz="1100" spc="-20" dirty="0">
                <a:latin typeface="Microsoft Sans Serif"/>
                <a:cs typeface="Microsoft Sans Serif"/>
              </a:rPr>
              <a:t>API</a:t>
            </a:r>
            <a:r>
              <a:rPr sz="1100" spc="60" dirty="0">
                <a:latin typeface="Microsoft Sans Serif"/>
                <a:cs typeface="Microsoft Sans Serif"/>
              </a:rPr>
              <a:t> </a:t>
            </a:r>
            <a:r>
              <a:rPr sz="1100" spc="-40" dirty="0">
                <a:latin typeface="Microsoft Sans Serif"/>
                <a:cs typeface="Microsoft Sans Serif"/>
              </a:rPr>
              <a:t>Quick</a:t>
            </a:r>
            <a:r>
              <a:rPr sz="1100" spc="65" dirty="0">
                <a:latin typeface="Microsoft Sans Serif"/>
                <a:cs typeface="Microsoft Sans Serif"/>
              </a:rPr>
              <a:t> </a:t>
            </a:r>
            <a:r>
              <a:rPr sz="1100" spc="-70" dirty="0">
                <a:latin typeface="Microsoft Sans Serif"/>
                <a:cs typeface="Microsoft Sans Serif"/>
              </a:rPr>
              <a:t>Reference:</a:t>
            </a:r>
            <a:endParaRPr sz="1100" dirty="0">
              <a:latin typeface="Microsoft Sans Serif"/>
              <a:cs typeface="Microsoft Sans Serif"/>
            </a:endParaRPr>
          </a:p>
          <a:p>
            <a:pPr marL="252729">
              <a:lnSpc>
                <a:spcPct val="100000"/>
              </a:lnSpc>
              <a:spcBef>
                <a:spcPts val="35"/>
              </a:spcBef>
            </a:pPr>
            <a:r>
              <a:rPr sz="1100" spc="20" dirty="0">
                <a:latin typeface="SimSun"/>
                <a:cs typeface="SimSun"/>
                <a:hlinkClick r:id="rId7"/>
              </a:rPr>
              <a:t>https://overapi.com/python</a:t>
            </a:r>
            <a:endParaRPr sz="1100" dirty="0">
              <a:latin typeface="SimSun"/>
              <a:cs typeface="SimSun"/>
            </a:endParaRPr>
          </a:p>
          <a:p>
            <a:pPr marL="252729" indent="-139065">
              <a:lnSpc>
                <a:spcPct val="100000"/>
              </a:lnSpc>
              <a:spcBef>
                <a:spcPts val="330"/>
              </a:spcBef>
              <a:buClr>
                <a:srgbClr val="8C2054"/>
              </a:buClr>
              <a:buFont typeface="Arial"/>
              <a:buChar char="•"/>
              <a:tabLst>
                <a:tab pos="253365" algn="l"/>
              </a:tabLst>
            </a:pPr>
            <a:r>
              <a:rPr sz="1100" spc="-65" dirty="0">
                <a:latin typeface="Microsoft Sans Serif"/>
                <a:cs typeface="Microsoft Sans Serif"/>
              </a:rPr>
              <a:t>Learn</a:t>
            </a:r>
            <a:r>
              <a:rPr sz="1100" spc="60" dirty="0">
                <a:latin typeface="Microsoft Sans Serif"/>
                <a:cs typeface="Microsoft Sans Serif"/>
              </a:rPr>
              <a:t> </a:t>
            </a:r>
            <a:r>
              <a:rPr sz="1100" spc="-10" dirty="0">
                <a:latin typeface="Microsoft Sans Serif"/>
                <a:cs typeface="Microsoft Sans Serif"/>
              </a:rPr>
              <a:t>X</a:t>
            </a:r>
            <a:r>
              <a:rPr sz="1100" spc="65" dirty="0">
                <a:latin typeface="Microsoft Sans Serif"/>
                <a:cs typeface="Microsoft Sans Serif"/>
              </a:rPr>
              <a:t> </a:t>
            </a:r>
            <a:r>
              <a:rPr sz="1100" spc="-20" dirty="0">
                <a:latin typeface="Microsoft Sans Serif"/>
                <a:cs typeface="Microsoft Sans Serif"/>
              </a:rPr>
              <a:t>in</a:t>
            </a:r>
            <a:r>
              <a:rPr sz="1100" spc="65" dirty="0">
                <a:latin typeface="Microsoft Sans Serif"/>
                <a:cs typeface="Microsoft Sans Serif"/>
              </a:rPr>
              <a:t> </a:t>
            </a:r>
            <a:r>
              <a:rPr sz="1100" spc="-10" dirty="0">
                <a:latin typeface="Microsoft Sans Serif"/>
                <a:cs typeface="Microsoft Sans Serif"/>
              </a:rPr>
              <a:t>Y</a:t>
            </a:r>
            <a:r>
              <a:rPr sz="1100" spc="65" dirty="0">
                <a:latin typeface="Microsoft Sans Serif"/>
                <a:cs typeface="Microsoft Sans Serif"/>
              </a:rPr>
              <a:t> </a:t>
            </a:r>
            <a:r>
              <a:rPr sz="1100" spc="-35" dirty="0">
                <a:latin typeface="Microsoft Sans Serif"/>
                <a:cs typeface="Microsoft Sans Serif"/>
              </a:rPr>
              <a:t>Minutes</a:t>
            </a:r>
            <a:r>
              <a:rPr sz="1100" spc="60" dirty="0">
                <a:latin typeface="Microsoft Sans Serif"/>
                <a:cs typeface="Microsoft Sans Serif"/>
              </a:rPr>
              <a:t> </a:t>
            </a:r>
            <a:r>
              <a:rPr sz="1100" spc="-5" dirty="0">
                <a:latin typeface="Microsoft Sans Serif"/>
                <a:cs typeface="Microsoft Sans Serif"/>
              </a:rPr>
              <a:t>-</a:t>
            </a:r>
            <a:r>
              <a:rPr sz="1100" spc="65" dirty="0">
                <a:latin typeface="Microsoft Sans Serif"/>
                <a:cs typeface="Microsoft Sans Serif"/>
              </a:rPr>
              <a:t> </a:t>
            </a:r>
            <a:r>
              <a:rPr sz="1100" spc="-25" dirty="0">
                <a:latin typeface="Microsoft Sans Serif"/>
                <a:cs typeface="Microsoft Sans Serif"/>
              </a:rPr>
              <a:t>Python:</a:t>
            </a:r>
            <a:endParaRPr sz="1100" dirty="0">
              <a:latin typeface="Microsoft Sans Serif"/>
              <a:cs typeface="Microsoft Sans Serif"/>
            </a:endParaRPr>
          </a:p>
          <a:p>
            <a:pPr marL="252729">
              <a:lnSpc>
                <a:spcPct val="100000"/>
              </a:lnSpc>
              <a:spcBef>
                <a:spcPts val="35"/>
              </a:spcBef>
            </a:pPr>
            <a:r>
              <a:rPr sz="1100" spc="20" dirty="0">
                <a:latin typeface="SimSun"/>
                <a:cs typeface="SimSun"/>
                <a:hlinkClick r:id="rId8"/>
              </a:rPr>
              <a:t>https://learnxinyminutes.com/docs/python/</a:t>
            </a:r>
            <a:endParaRPr sz="1100" dirty="0">
              <a:latin typeface="SimSun"/>
              <a:cs typeface="SimSun"/>
            </a:endParaRPr>
          </a:p>
          <a:p>
            <a:pPr marL="252729" indent="-139065">
              <a:lnSpc>
                <a:spcPct val="100000"/>
              </a:lnSpc>
              <a:spcBef>
                <a:spcPts val="335"/>
              </a:spcBef>
              <a:buClr>
                <a:srgbClr val="8C2054"/>
              </a:buClr>
              <a:buFont typeface="Arial"/>
              <a:buChar char="•"/>
              <a:tabLst>
                <a:tab pos="253365" algn="l"/>
              </a:tabLst>
            </a:pPr>
            <a:r>
              <a:rPr sz="1100" spc="-30" dirty="0">
                <a:latin typeface="Microsoft Sans Serif"/>
                <a:cs typeface="Microsoft Sans Serif"/>
              </a:rPr>
              <a:t>Python</a:t>
            </a:r>
            <a:r>
              <a:rPr sz="1100" spc="60" dirty="0">
                <a:latin typeface="Microsoft Sans Serif"/>
                <a:cs typeface="Microsoft Sans Serif"/>
              </a:rPr>
              <a:t> </a:t>
            </a:r>
            <a:r>
              <a:rPr sz="1100" spc="-25" dirty="0">
                <a:latin typeface="Microsoft Sans Serif"/>
                <a:cs typeface="Microsoft Sans Serif"/>
              </a:rPr>
              <a:t>Data</a:t>
            </a:r>
            <a:r>
              <a:rPr sz="1100" spc="60" dirty="0">
                <a:latin typeface="Microsoft Sans Serif"/>
                <a:cs typeface="Microsoft Sans Serif"/>
              </a:rPr>
              <a:t> </a:t>
            </a:r>
            <a:r>
              <a:rPr sz="1100" spc="-80" dirty="0">
                <a:latin typeface="Microsoft Sans Serif"/>
                <a:cs typeface="Microsoft Sans Serif"/>
              </a:rPr>
              <a:t>Science</a:t>
            </a:r>
            <a:r>
              <a:rPr sz="1100" spc="60" dirty="0">
                <a:latin typeface="Microsoft Sans Serif"/>
                <a:cs typeface="Microsoft Sans Serif"/>
              </a:rPr>
              <a:t> </a:t>
            </a:r>
            <a:r>
              <a:rPr sz="1100" spc="-40" dirty="0">
                <a:latin typeface="Microsoft Sans Serif"/>
                <a:cs typeface="Microsoft Sans Serif"/>
              </a:rPr>
              <a:t>Handbook:</a:t>
            </a:r>
            <a:r>
              <a:rPr sz="1100" spc="180" dirty="0">
                <a:latin typeface="Microsoft Sans Serif"/>
                <a:cs typeface="Microsoft Sans Serif"/>
              </a:rPr>
              <a:t> </a:t>
            </a:r>
            <a:r>
              <a:rPr sz="1100" spc="20" dirty="0">
                <a:latin typeface="SimSun"/>
                <a:cs typeface="SimSun"/>
                <a:hlinkClick r:id="rId9"/>
              </a:rPr>
              <a:t>https:</a:t>
            </a:r>
            <a:endParaRPr sz="1100" dirty="0">
              <a:latin typeface="SimSun"/>
              <a:cs typeface="SimSun"/>
            </a:endParaRPr>
          </a:p>
          <a:p>
            <a:pPr marL="252729">
              <a:lnSpc>
                <a:spcPct val="100000"/>
              </a:lnSpc>
              <a:spcBef>
                <a:spcPts val="35"/>
              </a:spcBef>
            </a:pPr>
            <a:r>
              <a:rPr sz="1100" spc="20" dirty="0">
                <a:latin typeface="SimSun"/>
                <a:cs typeface="SimSun"/>
                <a:hlinkClick r:id="rId9"/>
              </a:rPr>
              <a:t>//github.com/jakevdp/PythonDataScienceHandbook</a:t>
            </a:r>
            <a:endParaRPr sz="1100" dirty="0">
              <a:latin typeface="SimSun"/>
              <a:cs typeface="SimSun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0" y="3346348"/>
            <a:ext cx="4608195" cy="109855"/>
            <a:chOff x="0" y="3346348"/>
            <a:chExt cx="4608195" cy="109855"/>
          </a:xfrm>
        </p:grpSpPr>
        <p:sp>
          <p:nvSpPr>
            <p:cNvPr id="9" name="object 9"/>
            <p:cNvSpPr/>
            <p:nvPr/>
          </p:nvSpPr>
          <p:spPr>
            <a:xfrm>
              <a:off x="0" y="3346348"/>
              <a:ext cx="2304415" cy="109855"/>
            </a:xfrm>
            <a:custGeom>
              <a:avLst/>
              <a:gdLst/>
              <a:ahLst/>
              <a:cxnLst/>
              <a:rect l="l" t="t" r="r" b="b"/>
              <a:pathLst>
                <a:path w="2304415" h="109854">
                  <a:moveTo>
                    <a:pt x="2304008" y="0"/>
                  </a:moveTo>
                  <a:lnTo>
                    <a:pt x="1152004" y="0"/>
                  </a:lnTo>
                  <a:lnTo>
                    <a:pt x="0" y="0"/>
                  </a:lnTo>
                  <a:lnTo>
                    <a:pt x="0" y="109651"/>
                  </a:lnTo>
                  <a:lnTo>
                    <a:pt x="1152004" y="109651"/>
                  </a:lnTo>
                  <a:lnTo>
                    <a:pt x="2304008" y="109651"/>
                  </a:lnTo>
                  <a:lnTo>
                    <a:pt x="2304008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2303995" y="3346348"/>
              <a:ext cx="2304415" cy="109855"/>
            </a:xfrm>
            <a:custGeom>
              <a:avLst/>
              <a:gdLst/>
              <a:ahLst/>
              <a:cxnLst/>
              <a:rect l="l" t="t" r="r" b="b"/>
              <a:pathLst>
                <a:path w="2304415" h="109854">
                  <a:moveTo>
                    <a:pt x="2303996" y="0"/>
                  </a:moveTo>
                  <a:lnTo>
                    <a:pt x="1920024" y="0"/>
                  </a:lnTo>
                  <a:lnTo>
                    <a:pt x="0" y="0"/>
                  </a:lnTo>
                  <a:lnTo>
                    <a:pt x="0" y="109651"/>
                  </a:lnTo>
                  <a:lnTo>
                    <a:pt x="1920024" y="109651"/>
                  </a:lnTo>
                  <a:lnTo>
                    <a:pt x="2303996" y="109651"/>
                  </a:lnTo>
                  <a:lnTo>
                    <a:pt x="2303996" y="0"/>
                  </a:lnTo>
                  <a:close/>
                </a:path>
              </a:pathLst>
            </a:custGeom>
            <a:solidFill>
              <a:srgbClr val="8C205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object 13"/>
          <p:cNvSpPr txBox="1"/>
          <p:nvPr/>
        </p:nvSpPr>
        <p:spPr>
          <a:xfrm>
            <a:off x="3086696" y="3351784"/>
            <a:ext cx="354965" cy="10223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5"/>
              </a:lnSpc>
            </a:pPr>
            <a:r>
              <a:rPr sz="600" spc="5" dirty="0">
                <a:solidFill>
                  <a:srgbClr val="FFFFFF"/>
                </a:solidFill>
                <a:latin typeface="Microsoft Sans Serif"/>
                <a:cs typeface="Microsoft Sans Serif"/>
              </a:rPr>
              <a:t>Tutorial</a:t>
            </a:r>
            <a:r>
              <a:rPr sz="600" spc="-10" dirty="0">
                <a:solidFill>
                  <a:srgbClr val="FFFFFF"/>
                </a:solidFill>
                <a:latin typeface="Microsoft Sans Serif"/>
                <a:cs typeface="Microsoft Sans Serif"/>
              </a:rPr>
              <a:t> </a:t>
            </a:r>
            <a:r>
              <a:rPr sz="600" spc="-20" dirty="0">
                <a:solidFill>
                  <a:srgbClr val="FFFFFF"/>
                </a:solidFill>
                <a:latin typeface="Microsoft Sans Serif"/>
                <a:cs typeface="Microsoft Sans Serif"/>
              </a:rPr>
              <a:t>1</a:t>
            </a:r>
            <a:endParaRPr sz="600" dirty="0">
              <a:latin typeface="Microsoft Sans Serif"/>
              <a:cs typeface="Microsoft Sans Serif"/>
            </a:endParaRPr>
          </a:p>
        </p:txBody>
      </p:sp>
      <p:sp>
        <p:nvSpPr>
          <p:cNvPr id="14" name="object 12">
            <a:extLst>
              <a:ext uri="{FF2B5EF4-FFF2-40B4-BE49-F238E27FC236}">
                <a16:creationId xmlns:a16="http://schemas.microsoft.com/office/drawing/2014/main" id="{98DC8FA8-4F03-6088-5F7F-7D18CCA78CD5}"/>
              </a:ext>
            </a:extLst>
          </p:cNvPr>
          <p:cNvSpPr txBox="1">
            <a:spLocks noGrp="1"/>
          </p:cNvSpPr>
          <p:nvPr>
            <p:ph type="dt" sz="half" idx="6"/>
          </p:nvPr>
        </p:nvSpPr>
        <p:spPr>
          <a:xfrm>
            <a:off x="1506396" y="3351784"/>
            <a:ext cx="570053" cy="8976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5"/>
              </a:lnSpc>
            </a:pPr>
            <a:r>
              <a:rPr lang="en-US" spc="10" dirty="0"/>
              <a:t>Summer 2026</a:t>
            </a:r>
            <a:endParaRPr spc="-20" dirty="0"/>
          </a:p>
        </p:txBody>
      </p:sp>
      <p:sp>
        <p:nvSpPr>
          <p:cNvPr id="16" name="Footer Placeholder 10">
            <a:extLst>
              <a:ext uri="{FF2B5EF4-FFF2-40B4-BE49-F238E27FC236}">
                <a16:creationId xmlns:a16="http://schemas.microsoft.com/office/drawing/2014/main" id="{E56A5C1C-BFBD-CE5F-5FF4-FCA27039E053}"/>
              </a:ext>
            </a:extLst>
          </p:cNvPr>
          <p:cNvSpPr>
            <a:spLocks noGrp="1"/>
          </p:cNvSpPr>
          <p:nvPr>
            <p:ph type="ftr" sz="quarter" idx="5"/>
          </p:nvPr>
        </p:nvSpPr>
        <p:spPr>
          <a:xfrm>
            <a:off x="346620" y="3351783"/>
            <a:ext cx="663029" cy="207391"/>
          </a:xfrm>
        </p:spPr>
        <p:txBody>
          <a:bodyPr/>
          <a:lstStyle/>
          <a:p>
            <a:pPr marL="12700">
              <a:lnSpc>
                <a:spcPts val="675"/>
              </a:lnSpc>
            </a:pPr>
            <a:r>
              <a:rPr lang="en-US" spc="-20" dirty="0"/>
              <a:t>By Hazem</a:t>
            </a:r>
            <a:r>
              <a:rPr lang="en-US" spc="-5" dirty="0"/>
              <a:t> </a:t>
            </a:r>
            <a:r>
              <a:rPr lang="en-US" dirty="0"/>
              <a:t>Nabil</a:t>
            </a:r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pPr marL="38100">
              <a:lnSpc>
                <a:spcPts val="675"/>
              </a:lnSpc>
            </a:pPr>
            <a:fld id="{81D60167-4931-47E6-BA6A-407CBD079E47}" type="slidenum">
              <a:rPr lang="en-US" spc="-20" smtClean="0"/>
              <a:t>20</a:t>
            </a:fld>
            <a:r>
              <a:rPr lang="en-US" spc="20"/>
              <a:t> </a:t>
            </a:r>
            <a:r>
              <a:rPr lang="en-US" spc="150"/>
              <a:t>/</a:t>
            </a:r>
            <a:r>
              <a:rPr lang="en-US" spc="20"/>
              <a:t> </a:t>
            </a:r>
            <a:r>
              <a:rPr lang="en-US" spc="-20"/>
              <a:t>19</a:t>
            </a:r>
            <a:endParaRPr lang="en-US" spc="-20" dirty="0"/>
          </a:p>
        </p:txBody>
      </p:sp>
    </p:spTree>
  </p:cSld>
  <p:clrMapOvr>
    <a:masterClrMapping/>
  </p:clrMapOvr>
  <p:transition>
    <p:cut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1083</TotalTime>
  <Words>1202</Words>
  <Application>Microsoft Office PowerPoint</Application>
  <PresentationFormat>Custom</PresentationFormat>
  <Paragraphs>327</Paragraphs>
  <Slides>20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8" baseType="lpstr">
      <vt:lpstr>SimSun</vt:lpstr>
      <vt:lpstr>Arial</vt:lpstr>
      <vt:lpstr>Calibri</vt:lpstr>
      <vt:lpstr>Kufi Extended Outline</vt:lpstr>
      <vt:lpstr>Microsoft Sans Serif</vt:lpstr>
      <vt:lpstr>Times New Roman</vt:lpstr>
      <vt:lpstr>Trebuchet MS</vt:lpstr>
      <vt:lpstr>Office Theme</vt:lpstr>
      <vt:lpstr>PowerPoint Presentation</vt:lpstr>
      <vt:lpstr>PowerPoint Presentation</vt:lpstr>
      <vt:lpstr>PowerPoint Presentation</vt:lpstr>
      <vt:lpstr>German University in Cairo</vt:lpstr>
      <vt:lpstr>PowerPoint Presentation</vt:lpstr>
      <vt:lpstr>PowerPoint Presentation</vt:lpstr>
      <vt:lpstr>German University in Cairo</vt:lpstr>
      <vt:lpstr>German University in Cairo</vt:lpstr>
      <vt:lpstr>German University in Cairo</vt:lpstr>
      <vt:lpstr>German University in Cairo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Course Instructor: Ayman Alserafi</dc:creator>
  <cp:lastModifiedBy>Abdullah Mahmoud Farag</cp:lastModifiedBy>
  <cp:revision>139</cp:revision>
  <dcterms:created xsi:type="dcterms:W3CDTF">2022-09-27T10:57:53Z</dcterms:created>
  <dcterms:modified xsi:type="dcterms:W3CDTF">2026-06-28T11:55:04Z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2021-10-11T00:00:00Z</vt:filetime>
  </property>
  <property fmtid="{D5CDD505-2E9C-101B-9397-08002B2CF9AE}" pid="3" name="Creator">
    <vt:lpwstr>LaTeX with Beamer class</vt:lpwstr>
  </property>
  <property fmtid="{D5CDD505-2E9C-101B-9397-08002B2CF9AE}" pid="4" name="LastSaved">
    <vt:filetime>2022-09-27T00:00:00Z</vt:filetime>
  </property>
</Properties>
</file>