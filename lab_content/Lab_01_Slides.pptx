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01" r:id="rId4"/>
    <p:sldId id="259" r:id="rId5"/>
    <p:sldId id="265" r:id="rId6"/>
    <p:sldId id="266" r:id="rId7"/>
    <p:sldId id="267" r:id="rId8"/>
    <p:sldId id="268" r:id="rId9"/>
    <p:sldId id="269" r:id="rId10"/>
    <p:sldId id="300" r:id="rId11"/>
    <p:sldId id="302" r:id="rId12"/>
    <p:sldId id="277" r:id="rId13"/>
    <p:sldId id="278" r:id="rId14"/>
    <p:sldId id="280" r:id="rId15"/>
    <p:sldId id="288" r:id="rId16"/>
    <p:sldId id="289" r:id="rId17"/>
    <p:sldId id="290" r:id="rId18"/>
    <p:sldId id="295" r:id="rId19"/>
    <p:sldId id="296" r:id="rId20"/>
    <p:sldId id="297" r:id="rId21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14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AA5129-91B2-5814-A9B5-21E198B91C95}" v="327" dt="2024-09-13T18:41:26.817"/>
    <p1510:client id="{CEE78159-CFD3-99DB-07A4-CFFF8A9E67CC}" v="156" dt="2024-09-14T18:09:09.7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59"/>
  </p:normalViewPr>
  <p:slideViewPr>
    <p:cSldViewPr>
      <p:cViewPr varScale="1">
        <p:scale>
          <a:sx n="209" d="100"/>
          <a:sy n="209" d="100"/>
        </p:scale>
        <p:origin x="512" y="72"/>
      </p:cViewPr>
      <p:guideLst>
        <p:guide orient="horz" pos="2880"/>
        <p:guide pos="14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5B73A-AD1C-46F8-8E9D-607293466F8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2FCDD-D729-4471-8D61-86ABB555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1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2FCDD-D729-4471-8D61-86ABB5553C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37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2FCDD-D729-4471-8D61-86ABB5553C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86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2FCDD-D729-4471-8D61-86ABB5553C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0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2FCDD-D729-4471-8D61-86ABB5553C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04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2FCDD-D729-4471-8D61-86ABB5553C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21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2FCDD-D729-4471-8D61-86ABB5553C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62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2FCDD-D729-4471-8D61-86ABB5553C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73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2FCDD-D729-4471-8D61-86ABB5553C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70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2FCDD-D729-4471-8D61-86ABB5553CF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0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pc="-20"/>
              <a:t>By Hazem Nabil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20" dirty="0"/>
              <a:t> </a:t>
            </a:r>
            <a:r>
              <a:rPr spc="150" dirty="0"/>
              <a:t>/</a:t>
            </a:r>
            <a:r>
              <a:rPr spc="20" dirty="0"/>
              <a:t> </a:t>
            </a:r>
            <a:r>
              <a:rPr spc="-20" dirty="0"/>
              <a:t>19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pc="-20"/>
              <a:t>By Hazem Nabil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20" dirty="0"/>
              <a:t> </a:t>
            </a:r>
            <a:r>
              <a:rPr spc="150" dirty="0"/>
              <a:t>/</a:t>
            </a:r>
            <a:r>
              <a:rPr spc="20" dirty="0"/>
              <a:t> </a:t>
            </a:r>
            <a:r>
              <a:rPr spc="-20" dirty="0"/>
              <a:t>19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pc="-20"/>
              <a:t>By Hazem Nabil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20" dirty="0"/>
              <a:t> </a:t>
            </a:r>
            <a:r>
              <a:rPr spc="150" dirty="0"/>
              <a:t>/</a:t>
            </a:r>
            <a:r>
              <a:rPr spc="20" dirty="0"/>
              <a:t> </a:t>
            </a:r>
            <a:r>
              <a:rPr spc="-20" dirty="0"/>
              <a:t>19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pc="-20"/>
              <a:t>By Hazem Nabil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20" dirty="0"/>
              <a:t> </a:t>
            </a:r>
            <a:r>
              <a:rPr spc="150" dirty="0"/>
              <a:t>/</a:t>
            </a:r>
            <a:r>
              <a:rPr spc="20" dirty="0"/>
              <a:t> </a:t>
            </a:r>
            <a:r>
              <a:rPr spc="-20" dirty="0"/>
              <a:t>19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pc="-20"/>
              <a:t>By Hazem Nabil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20" dirty="0"/>
              <a:t> </a:t>
            </a:r>
            <a:r>
              <a:rPr spc="150" dirty="0"/>
              <a:t>/</a:t>
            </a:r>
            <a:r>
              <a:rPr spc="20" dirty="0"/>
              <a:t> </a:t>
            </a:r>
            <a:r>
              <a:rPr spc="-20" dirty="0"/>
              <a:t>19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53383" y="1391983"/>
            <a:ext cx="2054611" cy="20574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2304415" cy="367030"/>
          </a:xfrm>
          <a:custGeom>
            <a:avLst/>
            <a:gdLst/>
            <a:ahLst/>
            <a:cxnLst/>
            <a:rect l="l" t="t" r="r" b="b"/>
            <a:pathLst>
              <a:path w="2304415" h="367030">
                <a:moveTo>
                  <a:pt x="2303995" y="0"/>
                </a:moveTo>
                <a:lnTo>
                  <a:pt x="0" y="0"/>
                </a:lnTo>
                <a:lnTo>
                  <a:pt x="0" y="366928"/>
                </a:lnTo>
                <a:lnTo>
                  <a:pt x="2303995" y="366928"/>
                </a:lnTo>
                <a:lnTo>
                  <a:pt x="23039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1223" y="129636"/>
            <a:ext cx="3627653" cy="162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9994" y="1282611"/>
            <a:ext cx="3345815" cy="1108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6621" y="3351784"/>
            <a:ext cx="45847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pc="-20"/>
              <a:t>By Hazem Nabil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06397" y="3351784"/>
            <a:ext cx="443230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20" dirty="0"/>
              <a:t> </a:t>
            </a:r>
            <a:r>
              <a:rPr spc="150" dirty="0"/>
              <a:t>/</a:t>
            </a:r>
            <a:r>
              <a:rPr spc="20" dirty="0"/>
              <a:t> </a:t>
            </a:r>
            <a:r>
              <a:rPr spc="-20" dirty="0"/>
              <a:t>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mailto:ayman.alserafi@guc.edu.e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hyperlink" Target="mailto:farah.bashir@guc.edu.eg" TargetMode="External"/><Relationship Id="rId5" Type="http://schemas.openxmlformats.org/officeDocument/2006/relationships/hyperlink" Target="mailto:Abdullah.farag@guc.edu.eg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4.jp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github.com/GUC-DM/W2024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jp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xinyminutes.com/docs/python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overapi.com/pyth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gto76.github.io/python-cheatsheet/" TargetMode="External"/><Relationship Id="rId5" Type="http://schemas.openxmlformats.org/officeDocument/2006/relationships/hyperlink" Target="https://ehmatthes.github.io/pcc_2e/cheat_sheets/cheat_sheets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github.com/jakevdp/PythonDataScienceHandboo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450" y="-17588"/>
            <a:ext cx="167640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/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endParaRPr lang="en-US" sz="600" dirty="0">
              <a:solidFill>
                <a:srgbClr val="7F7F7F"/>
              </a:solidFill>
              <a:latin typeface="Microsoft Sans Serif"/>
              <a:cs typeface="Microsoft Sans Serif"/>
            </a:endParaRPr>
          </a:p>
          <a:p>
            <a:pPr marL="441325" marR="5080" indent="73025" algn="r"/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</a:t>
            </a:r>
            <a:endParaRPr lang="en-US" sz="600" spc="-5" dirty="0">
              <a:solidFill>
                <a:srgbClr val="7F7F7F"/>
              </a:solidFill>
              <a:latin typeface="Microsoft Sans Serif"/>
              <a:cs typeface="Microsoft Sans Serif"/>
            </a:endParaRPr>
          </a:p>
          <a:p>
            <a:pPr marL="441325" marR="5080" indent="73025" algn="r"/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/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9181" y="760971"/>
            <a:ext cx="3989704" cy="670560"/>
          </a:xfrm>
          <a:custGeom>
            <a:avLst/>
            <a:gdLst/>
            <a:ahLst/>
            <a:cxnLst/>
            <a:rect l="l" t="t" r="r" b="b"/>
            <a:pathLst>
              <a:path w="3989704" h="670560">
                <a:moveTo>
                  <a:pt x="3989654" y="44424"/>
                </a:moveTo>
                <a:lnTo>
                  <a:pt x="3988358" y="44424"/>
                </a:lnTo>
                <a:lnTo>
                  <a:pt x="3985653" y="31076"/>
                </a:lnTo>
                <a:lnTo>
                  <a:pt x="3974731" y="14922"/>
                </a:lnTo>
                <a:lnTo>
                  <a:pt x="3958577" y="4013"/>
                </a:lnTo>
                <a:lnTo>
                  <a:pt x="3938854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619125"/>
                </a:lnTo>
                <a:lnTo>
                  <a:pt x="4013" y="638860"/>
                </a:lnTo>
                <a:lnTo>
                  <a:pt x="14922" y="655015"/>
                </a:lnTo>
                <a:lnTo>
                  <a:pt x="31076" y="665924"/>
                </a:lnTo>
                <a:lnTo>
                  <a:pt x="50812" y="669937"/>
                </a:lnTo>
                <a:lnTo>
                  <a:pt x="3938854" y="669937"/>
                </a:lnTo>
                <a:lnTo>
                  <a:pt x="3958577" y="665924"/>
                </a:lnTo>
                <a:lnTo>
                  <a:pt x="3974731" y="655015"/>
                </a:lnTo>
                <a:lnTo>
                  <a:pt x="3985653" y="638860"/>
                </a:lnTo>
                <a:lnTo>
                  <a:pt x="3989654" y="619125"/>
                </a:lnTo>
                <a:lnTo>
                  <a:pt x="3989654" y="82384"/>
                </a:lnTo>
                <a:lnTo>
                  <a:pt x="3989654" y="50800"/>
                </a:lnTo>
                <a:lnTo>
                  <a:pt x="3989654" y="44424"/>
                </a:lnTo>
                <a:close/>
              </a:path>
            </a:pathLst>
          </a:custGeom>
          <a:solidFill>
            <a:srgbClr val="8C20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87017" y="818856"/>
            <a:ext cx="1894205" cy="50736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[CSEN</a:t>
            </a:r>
            <a:r>
              <a:rPr sz="14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911]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Mining</a:t>
            </a:r>
            <a:endParaRPr sz="1400" dirty="0">
              <a:latin typeface="Trebuchet MS"/>
              <a:cs typeface="Trebuchet MS"/>
            </a:endParaRPr>
          </a:p>
          <a:p>
            <a:pPr marR="51435" algn="ctr">
              <a:lnSpc>
                <a:spcPct val="100000"/>
              </a:lnSpc>
              <a:spcBef>
                <a:spcPts val="325"/>
              </a:spcBef>
            </a:pPr>
            <a:r>
              <a:rPr sz="11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11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9612" y="1535079"/>
            <a:ext cx="2888615" cy="1406154"/>
          </a:xfrm>
          <a:prstGeom prst="rect">
            <a:avLst/>
          </a:prstGeom>
        </p:spPr>
        <p:txBody>
          <a:bodyPr vert="horz" wrap="square" lIns="0" tIns="92075" rIns="0" bIns="0" rtlCol="0" anchor="t">
            <a:spAutoFit/>
          </a:bodyPr>
          <a:lstStyle/>
          <a:p>
            <a:pPr marL="46990" algn="ctr">
              <a:lnSpc>
                <a:spcPct val="100000"/>
              </a:lnSpc>
              <a:spcBef>
                <a:spcPts val="725"/>
              </a:spcBef>
            </a:pPr>
            <a:r>
              <a:rPr sz="1100" spc="-85" dirty="0">
                <a:latin typeface="Microsoft Sans Serif"/>
                <a:cs typeface="Microsoft Sans Serif"/>
              </a:rPr>
              <a:t>Course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Instructor:</a:t>
            </a:r>
            <a:r>
              <a:rPr sz="1100" spc="170" dirty="0">
                <a:latin typeface="Microsoft Sans Serif"/>
                <a:cs typeface="Microsoft Sans Serif"/>
              </a:rPr>
              <a:t> </a:t>
            </a:r>
            <a:r>
              <a:rPr lang="en-US" sz="1100" spc="170" dirty="0" err="1">
                <a:latin typeface="Microsoft Sans Serif"/>
                <a:cs typeface="Kufi Extended Outline" panose="04010401010101010101" pitchFamily="82" charset="-78"/>
              </a:rPr>
              <a:t>Dr.</a:t>
            </a:r>
            <a:r>
              <a:rPr sz="1100" spc="-50" dirty="0" err="1">
                <a:latin typeface="Microsoft Sans Serif"/>
                <a:cs typeface="Kufi Extended Outline" panose="04010401010101010101" pitchFamily="82" charset="-78"/>
              </a:rPr>
              <a:t>Ayman</a:t>
            </a:r>
            <a:r>
              <a:rPr sz="1100" spc="60" dirty="0">
                <a:latin typeface="Microsoft Sans Serif"/>
                <a:cs typeface="Kufi Extended Outline" panose="04010401010101010101" pitchFamily="82" charset="-78"/>
              </a:rPr>
              <a:t> </a:t>
            </a:r>
            <a:r>
              <a:rPr sz="1100" spc="-40" dirty="0" err="1">
                <a:latin typeface="Microsoft Sans Serif"/>
                <a:cs typeface="Kufi Extended Outline" panose="04010401010101010101" pitchFamily="82" charset="-78"/>
              </a:rPr>
              <a:t>Alserafi</a:t>
            </a:r>
            <a:endParaRPr sz="1100" dirty="0" err="1">
              <a:latin typeface="Microsoft Sans Serif"/>
              <a:cs typeface="Kufi Extended Outline" panose="04010401010101010101" pitchFamily="82" charset="-78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1000" spc="20" dirty="0">
                <a:latin typeface="SimSun"/>
                <a:cs typeface="SimSun"/>
                <a:hlinkClick r:id="rId4"/>
              </a:rPr>
              <a:t>ayman.alserafi@guc.edu.eg</a:t>
            </a:r>
            <a:endParaRPr sz="100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SimSun"/>
              <a:cs typeface="SimSun"/>
            </a:endParaRPr>
          </a:p>
          <a:p>
            <a:pPr marL="35560" algn="ctr">
              <a:lnSpc>
                <a:spcPts val="955"/>
              </a:lnSpc>
            </a:pPr>
            <a:r>
              <a:rPr sz="800" spc="-5" dirty="0">
                <a:latin typeface="Microsoft Sans Serif"/>
                <a:cs typeface="Microsoft Sans Serif"/>
              </a:rPr>
              <a:t>Faculty</a:t>
            </a:r>
            <a:r>
              <a:rPr sz="800" spc="40" dirty="0">
                <a:latin typeface="Microsoft Sans Serif"/>
                <a:cs typeface="Microsoft Sans Serif"/>
              </a:rPr>
              <a:t> </a:t>
            </a:r>
            <a:r>
              <a:rPr sz="800" spc="5" dirty="0">
                <a:latin typeface="Microsoft Sans Serif"/>
                <a:cs typeface="Microsoft Sans Serif"/>
              </a:rPr>
              <a:t>of</a:t>
            </a:r>
            <a:r>
              <a:rPr sz="800" spc="40" dirty="0">
                <a:latin typeface="Microsoft Sans Serif"/>
                <a:cs typeface="Microsoft Sans Serif"/>
              </a:rPr>
              <a:t> </a:t>
            </a:r>
            <a:r>
              <a:rPr sz="800" spc="-10" dirty="0">
                <a:latin typeface="Microsoft Sans Serif"/>
                <a:cs typeface="Microsoft Sans Serif"/>
              </a:rPr>
              <a:t>Management</a:t>
            </a:r>
            <a:r>
              <a:rPr sz="800" spc="35" dirty="0">
                <a:latin typeface="Microsoft Sans Serif"/>
                <a:cs typeface="Microsoft Sans Serif"/>
              </a:rPr>
              <a:t> </a:t>
            </a:r>
            <a:r>
              <a:rPr sz="800" spc="-15" dirty="0">
                <a:latin typeface="Microsoft Sans Serif"/>
                <a:cs typeface="Microsoft Sans Serif"/>
              </a:rPr>
              <a:t>Technology</a:t>
            </a:r>
            <a:endParaRPr sz="800" dirty="0">
              <a:latin typeface="Microsoft Sans Serif"/>
              <a:cs typeface="Microsoft Sans Serif"/>
            </a:endParaRPr>
          </a:p>
          <a:p>
            <a:pPr marL="12065" marR="5080" algn="ctr">
              <a:lnSpc>
                <a:spcPts val="950"/>
              </a:lnSpc>
              <a:spcBef>
                <a:spcPts val="35"/>
              </a:spcBef>
            </a:pPr>
            <a:r>
              <a:rPr sz="800" dirty="0">
                <a:latin typeface="Microsoft Sans Serif"/>
                <a:cs typeface="Microsoft Sans Serif"/>
              </a:rPr>
              <a:t>Department </a:t>
            </a:r>
            <a:r>
              <a:rPr sz="800" spc="5" dirty="0">
                <a:latin typeface="Microsoft Sans Serif"/>
                <a:cs typeface="Microsoft Sans Serif"/>
              </a:rPr>
              <a:t>of </a:t>
            </a:r>
            <a:r>
              <a:rPr sz="800" spc="-35" dirty="0">
                <a:latin typeface="Microsoft Sans Serif"/>
                <a:cs typeface="Microsoft Sans Serif"/>
              </a:rPr>
              <a:t>Business</a:t>
            </a:r>
            <a:r>
              <a:rPr sz="800" spc="-30" dirty="0">
                <a:latin typeface="Microsoft Sans Serif"/>
                <a:cs typeface="Microsoft Sans Serif"/>
              </a:rPr>
              <a:t> </a:t>
            </a:r>
            <a:r>
              <a:rPr sz="800" spc="-5" dirty="0">
                <a:latin typeface="Microsoft Sans Serif"/>
                <a:cs typeface="Microsoft Sans Serif"/>
              </a:rPr>
              <a:t>Informatics </a:t>
            </a:r>
            <a:r>
              <a:rPr sz="800" spc="105" dirty="0">
                <a:latin typeface="Microsoft Sans Serif"/>
                <a:cs typeface="Microsoft Sans Serif"/>
              </a:rPr>
              <a:t>&amp; </a:t>
            </a:r>
            <a:r>
              <a:rPr sz="800" spc="-10" dirty="0">
                <a:latin typeface="Microsoft Sans Serif"/>
                <a:cs typeface="Microsoft Sans Serif"/>
              </a:rPr>
              <a:t>Operations</a:t>
            </a:r>
            <a:r>
              <a:rPr sz="800" spc="-5" dirty="0">
                <a:latin typeface="Microsoft Sans Serif"/>
                <a:cs typeface="Microsoft Sans Serif"/>
              </a:rPr>
              <a:t> </a:t>
            </a:r>
            <a:r>
              <a:rPr sz="800" spc="-10" dirty="0">
                <a:latin typeface="Microsoft Sans Serif"/>
                <a:cs typeface="Microsoft Sans Serif"/>
              </a:rPr>
              <a:t>Management </a:t>
            </a:r>
            <a:r>
              <a:rPr sz="800" spc="-200" dirty="0">
                <a:latin typeface="Microsoft Sans Serif"/>
                <a:cs typeface="Microsoft Sans Serif"/>
              </a:rPr>
              <a:t> </a:t>
            </a:r>
            <a:r>
              <a:rPr sz="800" spc="-25" dirty="0">
                <a:latin typeface="Microsoft Sans Serif"/>
                <a:cs typeface="Microsoft Sans Serif"/>
              </a:rPr>
              <a:t>German</a:t>
            </a:r>
            <a:r>
              <a:rPr sz="800" spc="60" dirty="0">
                <a:latin typeface="Microsoft Sans Serif"/>
                <a:cs typeface="Microsoft Sans Serif"/>
              </a:rPr>
              <a:t> </a:t>
            </a:r>
            <a:r>
              <a:rPr sz="800" spc="-10" dirty="0">
                <a:latin typeface="Microsoft Sans Serif"/>
                <a:cs typeface="Microsoft Sans Serif"/>
              </a:rPr>
              <a:t>University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5" dirty="0">
                <a:latin typeface="Microsoft Sans Serif"/>
                <a:cs typeface="Microsoft Sans Serif"/>
              </a:rPr>
              <a:t>in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Cairo</a:t>
            </a:r>
            <a:endParaRPr sz="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lang="en-US" sz="1100" spc="-15" dirty="0">
                <a:latin typeface="Microsoft Sans Serif"/>
                <a:cs typeface="Microsoft Sans Serif"/>
              </a:rPr>
              <a:t>Summer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lang="en-US" sz="1100" spc="-70" dirty="0">
                <a:latin typeface="Microsoft Sans Serif"/>
                <a:cs typeface="Microsoft Sans Serif"/>
              </a:rPr>
              <a:t>2026</a:t>
            </a:r>
            <a:endParaRPr lang="en-US" sz="1100" spc="-70" dirty="0">
              <a:latin typeface="Microsoft Sans Serif"/>
              <a:ea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05" y="3347973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152004" y="109651"/>
                  </a:lnTo>
                  <a:lnTo>
                    <a:pt x="2304008" y="109651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920024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1D730D11-54DC-2107-FBD3-3E49BDFB650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D6DCA7D9-4A72-23FB-01CC-C58820F946E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CFBE7D46-35B4-97C2-47D9-620628C563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1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Outline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294" y="1143773"/>
            <a:ext cx="2872156" cy="1351011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200000"/>
              </a:lnSpc>
              <a:spcBef>
                <a:spcPts val="90"/>
              </a:spcBef>
            </a:pPr>
            <a:r>
              <a:rPr lang="en-US" sz="1100" spc="-15" dirty="0">
                <a:solidFill>
                  <a:srgbClr val="8C2054"/>
                </a:solidFill>
                <a:latin typeface="Microsoft Sans Serif"/>
                <a:cs typeface="Microsoft Sans Serif"/>
              </a:rPr>
              <a:t>Introduction</a:t>
            </a:r>
            <a:endParaRPr lang="en-US" sz="1100" dirty="0">
              <a:solidFill>
                <a:srgbClr val="000000"/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12700">
              <a:lnSpc>
                <a:spcPct val="200000"/>
              </a:lnSpc>
              <a:spcBef>
                <a:spcPts val="90"/>
              </a:spcBef>
            </a:pPr>
            <a:r>
              <a:rPr lang="en-US" sz="1100" spc="-85" dirty="0">
                <a:solidFill>
                  <a:srgbClr val="8C2054"/>
                </a:solidFill>
                <a:latin typeface="Microsoft Sans Serif"/>
                <a:cs typeface="Microsoft Sans Serif"/>
              </a:rPr>
              <a:t>Course</a:t>
            </a:r>
            <a:r>
              <a:rPr sz="1100" spc="25" dirty="0">
                <a:solidFill>
                  <a:srgbClr val="8C2054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8C2054"/>
                </a:solidFill>
                <a:latin typeface="Microsoft Sans Serif"/>
                <a:cs typeface="Microsoft Sans Serif"/>
              </a:rPr>
              <a:t>Details</a:t>
            </a:r>
            <a:endParaRPr lang="en-US" sz="1100" dirty="0">
              <a:solidFill>
                <a:srgbClr val="000000"/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12700">
              <a:lnSpc>
                <a:spcPct val="200000"/>
              </a:lnSpc>
              <a:spcBef>
                <a:spcPts val="90"/>
              </a:spcBef>
            </a:pPr>
            <a:r>
              <a:rPr lang="en-US" sz="1100" spc="-10" dirty="0">
                <a:solidFill>
                  <a:srgbClr val="8C2054"/>
                </a:solidFill>
                <a:latin typeface="Microsoft Sans Serif"/>
                <a:cs typeface="Microsoft Sans Serif"/>
              </a:rPr>
              <a:t>Motivation</a:t>
            </a:r>
            <a:endParaRPr lang="en-US" sz="1100" dirty="0">
              <a:solidFill>
                <a:srgbClr val="000000"/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12700">
              <a:lnSpc>
                <a:spcPct val="200000"/>
              </a:lnSpc>
              <a:spcBef>
                <a:spcPts val="90"/>
              </a:spcBef>
            </a:pPr>
            <a:r>
              <a:rPr sz="1100" spc="-75" dirty="0">
                <a:solidFill>
                  <a:srgbClr val="8C2054"/>
                </a:solidFill>
                <a:latin typeface="Microsoft Sans Serif"/>
                <a:cs typeface="Microsoft Sans Serif"/>
              </a:rPr>
              <a:t>Accessing</a:t>
            </a:r>
            <a:r>
              <a:rPr sz="1100" spc="55" dirty="0">
                <a:solidFill>
                  <a:srgbClr val="8C2054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8C2054"/>
                </a:solidFill>
                <a:latin typeface="Microsoft Sans Serif"/>
                <a:cs typeface="Microsoft Sans Serif"/>
              </a:rPr>
              <a:t>the</a:t>
            </a:r>
            <a:r>
              <a:rPr sz="1100" spc="60" dirty="0">
                <a:solidFill>
                  <a:srgbClr val="8C2054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8C2054"/>
                </a:solidFill>
                <a:latin typeface="Microsoft Sans Serif"/>
                <a:cs typeface="Microsoft Sans Serif"/>
              </a:rPr>
              <a:t>Lab</a:t>
            </a:r>
            <a:r>
              <a:rPr sz="1100" spc="60" dirty="0">
                <a:solidFill>
                  <a:srgbClr val="8C2054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8C2054"/>
                </a:solidFill>
                <a:latin typeface="Microsoft Sans Serif"/>
                <a:cs typeface="Microsoft Sans Serif"/>
              </a:rPr>
              <a:t>Material</a:t>
            </a:r>
            <a:endParaRPr lang="en-US" sz="1100">
              <a:latin typeface="Microsoft Sans Serif"/>
              <a:ea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152004" y="109639"/>
                  </a:lnTo>
                  <a:lnTo>
                    <a:pt x="2304008" y="109639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920024" y="109639"/>
                  </a:lnTo>
                  <a:lnTo>
                    <a:pt x="2303996" y="109639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lang="en-US" spc="-20" dirty="0"/>
          </a:p>
        </p:txBody>
      </p:sp>
      <p:sp>
        <p:nvSpPr>
          <p:cNvPr id="13" name="object 13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4" name="Slide Number Placeholder 14">
            <a:extLst>
              <a:ext uri="{FF2B5EF4-FFF2-40B4-BE49-F238E27FC236}">
                <a16:creationId xmlns:a16="http://schemas.microsoft.com/office/drawing/2014/main" id="{28F61C02-527C-AF49-CC41-64DDE0E74F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2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09193" y="933678"/>
            <a:ext cx="3989704" cy="187960"/>
          </a:xfrm>
          <a:custGeom>
            <a:avLst/>
            <a:gdLst/>
            <a:ahLst/>
            <a:cxnLst/>
            <a:rect l="l" t="t" r="r" b="b"/>
            <a:pathLst>
              <a:path w="3989704" h="1879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3989652" y="187823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691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7218" y="364347"/>
            <a:ext cx="1405255" cy="7562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50" dirty="0">
                <a:solidFill>
                  <a:srgbClr val="FFFFFF"/>
                </a:solidFill>
                <a:latin typeface="Trebuchet MS"/>
                <a:cs typeface="Trebuchet MS"/>
              </a:rPr>
              <a:t>Introduction</a:t>
            </a:r>
            <a:r>
              <a:rPr lang="en-US" sz="1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1400" spc="-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lang="en-US" sz="1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1400" spc="30" dirty="0">
                <a:solidFill>
                  <a:srgbClr val="FFFFFF"/>
                </a:solidFill>
                <a:latin typeface="Trebuchet MS"/>
                <a:cs typeface="Trebuchet MS"/>
              </a:rPr>
              <a:t>TAs</a:t>
            </a:r>
            <a:endParaRPr lang="en-US"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en-US" sz="1400" dirty="0">
              <a:latin typeface="Trebuchet MS"/>
              <a:cs typeface="Trebuchet MS"/>
            </a:endParaRPr>
          </a:p>
          <a:p>
            <a:pPr marL="162560">
              <a:lnSpc>
                <a:spcPct val="100000"/>
              </a:lnSpc>
              <a:spcBef>
                <a:spcPts val="969"/>
              </a:spcBef>
            </a:pPr>
            <a:r>
              <a:rPr lang="en-US" sz="1200" spc="-65" dirty="0">
                <a:solidFill>
                  <a:srgbClr val="FFFFFF"/>
                </a:solidFill>
                <a:latin typeface="Trebuchet MS"/>
                <a:cs typeface="Trebuchet MS"/>
              </a:rPr>
              <a:t>Abdullah Khodary</a:t>
            </a:r>
            <a:endParaRPr lang="en-US" sz="1200" dirty="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7353" y="1115259"/>
            <a:ext cx="3989704" cy="802640"/>
            <a:chOff x="309193" y="1108849"/>
            <a:chExt cx="3989704" cy="80264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1108849"/>
              <a:ext cx="3989651" cy="506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9193" y="1153120"/>
              <a:ext cx="3989704" cy="758190"/>
            </a:xfrm>
            <a:custGeom>
              <a:avLst/>
              <a:gdLst/>
              <a:ahLst/>
              <a:cxnLst/>
              <a:rect l="l" t="t" r="r" b="b"/>
              <a:pathLst>
                <a:path w="3989704" h="758189">
                  <a:moveTo>
                    <a:pt x="3989652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3938852" y="758039"/>
                  </a:lnTo>
                  <a:lnTo>
                    <a:pt x="3958576" y="754030"/>
                  </a:lnTo>
                  <a:lnTo>
                    <a:pt x="3974729" y="743116"/>
                  </a:lnTo>
                  <a:lnTo>
                    <a:pt x="3985644" y="726963"/>
                  </a:lnTo>
                  <a:lnTo>
                    <a:pt x="3989652" y="70723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0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23214" y="1147634"/>
            <a:ext cx="749300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98145" marR="5080" indent="12065" algn="r">
              <a:lnSpc>
                <a:spcPct val="102699"/>
              </a:lnSpc>
              <a:spcBef>
                <a:spcPts val="55"/>
              </a:spcBef>
            </a:pPr>
            <a:r>
              <a:rPr lang="en-US" sz="1100" spc="-40" dirty="0">
                <a:latin typeface="Microsoft Sans Serif"/>
                <a:cs typeface="Microsoft Sans Serif"/>
              </a:rPr>
              <a:t>Email  Office</a:t>
            </a:r>
            <a:endParaRPr lang="en-US" sz="1100" dirty="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  <a:spcBef>
                <a:spcPts val="35"/>
              </a:spcBef>
            </a:pPr>
            <a:r>
              <a:rPr lang="en-US" sz="1100" spc="-40" dirty="0">
                <a:latin typeface="Microsoft Sans Serif"/>
                <a:cs typeface="Microsoft Sans Serif"/>
              </a:rPr>
              <a:t>Office</a:t>
            </a:r>
            <a:r>
              <a:rPr lang="en-US" sz="1100" dirty="0">
                <a:latin typeface="Microsoft Sans Serif"/>
                <a:cs typeface="Microsoft Sans Serif"/>
              </a:rPr>
              <a:t> </a:t>
            </a:r>
            <a:r>
              <a:rPr lang="en-US" sz="1100" spc="-55" dirty="0">
                <a:latin typeface="Microsoft Sans Serif"/>
                <a:cs typeface="Microsoft Sans Serif"/>
              </a:rPr>
              <a:t>Hours</a:t>
            </a:r>
            <a:endParaRPr lang="en-US" sz="1100" dirty="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  <a:spcBef>
                <a:spcPts val="35"/>
              </a:spcBef>
            </a:pPr>
            <a:r>
              <a:rPr lang="en-US" sz="1100" spc="-35" dirty="0">
                <a:latin typeface="Microsoft Sans Serif"/>
                <a:cs typeface="Microsoft Sans Serif"/>
              </a:rPr>
              <a:t>Day-off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8254" y="1147634"/>
            <a:ext cx="2073596" cy="686663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20" dirty="0">
                <a:latin typeface="Microsoft Sans Serif" panose="020B0604020202020204" pitchFamily="34" charset="0"/>
                <a:cs typeface="Microsoft Sans Serif" panose="020B0604020202020204" pitchFamily="34" charset="0"/>
                <a:hlinkClick r:id="rId5"/>
              </a:rPr>
              <a:t>abdullah.farag@guc.edu.eg</a:t>
            </a:r>
            <a:endParaRPr lang="en-US" sz="1100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n-US" sz="1100" spc="-50" dirty="0">
                <a:latin typeface="Microsoft Sans Serif"/>
                <a:cs typeface="Microsoft Sans Serif"/>
              </a:rPr>
              <a:t>B1.322</a:t>
            </a:r>
            <a:endParaRPr lang="en-US" sz="1100" dirty="0">
              <a:latin typeface="Microsoft Sans Serif"/>
              <a:cs typeface="Microsoft Sans Serif"/>
            </a:endParaRPr>
          </a:p>
          <a:p>
            <a:pPr marL="12700" marR="5080" indent="-635">
              <a:lnSpc>
                <a:spcPct val="102600"/>
              </a:lnSpc>
            </a:pPr>
            <a:r>
              <a:rPr lang="en-US" sz="1100" spc="-65" dirty="0">
                <a:latin typeface="Microsoft Sans Serif"/>
                <a:cs typeface="Microsoft Sans Serif"/>
              </a:rPr>
              <a:t>by</a:t>
            </a:r>
            <a:r>
              <a:rPr lang="en-US" sz="1100" spc="55" dirty="0">
                <a:latin typeface="Microsoft Sans Serif"/>
                <a:cs typeface="Microsoft Sans Serif"/>
              </a:rPr>
              <a:t> </a:t>
            </a:r>
            <a:r>
              <a:rPr lang="en-US" sz="1100" spc="-30" dirty="0">
                <a:latin typeface="Microsoft Sans Serif"/>
                <a:cs typeface="Microsoft Sans Serif"/>
              </a:rPr>
              <a:t>appointment </a:t>
            </a:r>
            <a:r>
              <a:rPr lang="en-US" sz="1100" spc="-275" dirty="0">
                <a:latin typeface="Microsoft Sans Serif"/>
                <a:cs typeface="Microsoft Sans Serif"/>
              </a:rPr>
              <a:t> </a:t>
            </a:r>
          </a:p>
          <a:p>
            <a:pPr marL="12700" marR="5080" indent="-635">
              <a:lnSpc>
                <a:spcPct val="102600"/>
              </a:lnSpc>
            </a:pPr>
            <a:r>
              <a:rPr lang="en-US" sz="1100" spc="-80" dirty="0">
                <a:latin typeface="Microsoft Sans Serif"/>
                <a:cs typeface="Microsoft Sans Serif"/>
              </a:rPr>
              <a:t>Saturday</a:t>
            </a:r>
            <a:endParaRPr lang="en-US" sz="1100" dirty="0">
              <a:latin typeface="Microsoft Sans Serif"/>
              <a:ea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152004" y="109651"/>
                  </a:lnTo>
                  <a:lnTo>
                    <a:pt x="2304008" y="109651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03995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920024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26" name="object 12">
            <a:extLst>
              <a:ext uri="{FF2B5EF4-FFF2-40B4-BE49-F238E27FC236}">
                <a16:creationId xmlns:a16="http://schemas.microsoft.com/office/drawing/2014/main" id="{D4848A93-C17C-6D74-7580-EAEE71A324D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lang="en-US" spc="-20" dirty="0"/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27" name="Footer Placeholder 10">
            <a:extLst>
              <a:ext uri="{FF2B5EF4-FFF2-40B4-BE49-F238E27FC236}">
                <a16:creationId xmlns:a16="http://schemas.microsoft.com/office/drawing/2014/main" id="{D56F82EB-FB6D-2421-224B-EB1BB671481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23" name="Slide Number Placeholder 14">
            <a:extLst>
              <a:ext uri="{FF2B5EF4-FFF2-40B4-BE49-F238E27FC236}">
                <a16:creationId xmlns:a16="http://schemas.microsoft.com/office/drawing/2014/main" id="{07B325F9-7352-983E-606E-FCE0768072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3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F9BA9C87-5746-8121-8C0C-DB282AB11FD3}"/>
              </a:ext>
            </a:extLst>
          </p:cNvPr>
          <p:cNvSpPr/>
          <p:nvPr/>
        </p:nvSpPr>
        <p:spPr>
          <a:xfrm>
            <a:off x="309141" y="2044444"/>
            <a:ext cx="3989704" cy="187960"/>
          </a:xfrm>
          <a:custGeom>
            <a:avLst/>
            <a:gdLst/>
            <a:ahLst/>
            <a:cxnLst/>
            <a:rect l="l" t="t" r="r" b="b"/>
            <a:pathLst>
              <a:path w="3989704" h="1879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3989652" y="187823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691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8">
            <a:extLst>
              <a:ext uri="{FF2B5EF4-FFF2-40B4-BE49-F238E27FC236}">
                <a16:creationId xmlns:a16="http://schemas.microsoft.com/office/drawing/2014/main" id="{1121D5A3-E081-0D46-6ADF-3C8C32D139DA}"/>
              </a:ext>
            </a:extLst>
          </p:cNvPr>
          <p:cNvGrpSpPr/>
          <p:nvPr/>
        </p:nvGrpSpPr>
        <p:grpSpPr>
          <a:xfrm>
            <a:off x="309141" y="2219615"/>
            <a:ext cx="3989704" cy="802640"/>
            <a:chOff x="309193" y="1108849"/>
            <a:chExt cx="3989704" cy="802640"/>
          </a:xfrm>
        </p:grpSpPr>
        <p:pic>
          <p:nvPicPr>
            <p:cNvPr id="15" name="object 9">
              <a:extLst>
                <a:ext uri="{FF2B5EF4-FFF2-40B4-BE49-F238E27FC236}">
                  <a16:creationId xmlns:a16="http://schemas.microsoft.com/office/drawing/2014/main" id="{80F2178E-F99A-A660-084C-F6D9D06CBCF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1108849"/>
              <a:ext cx="3989651" cy="50609"/>
            </a:xfrm>
            <a:prstGeom prst="rect">
              <a:avLst/>
            </a:prstGeom>
          </p:spPr>
        </p:pic>
        <p:sp>
          <p:nvSpPr>
            <p:cNvPr id="16" name="object 10">
              <a:extLst>
                <a:ext uri="{FF2B5EF4-FFF2-40B4-BE49-F238E27FC236}">
                  <a16:creationId xmlns:a16="http://schemas.microsoft.com/office/drawing/2014/main" id="{D355B498-4C3D-6190-4D1B-596E0C944215}"/>
                </a:ext>
              </a:extLst>
            </p:cNvPr>
            <p:cNvSpPr/>
            <p:nvPr/>
          </p:nvSpPr>
          <p:spPr>
            <a:xfrm>
              <a:off x="309193" y="1153120"/>
              <a:ext cx="3989704" cy="758190"/>
            </a:xfrm>
            <a:custGeom>
              <a:avLst/>
              <a:gdLst/>
              <a:ahLst/>
              <a:cxnLst/>
              <a:rect l="l" t="t" r="r" b="b"/>
              <a:pathLst>
                <a:path w="3989704" h="758189">
                  <a:moveTo>
                    <a:pt x="3989652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3938852" y="758039"/>
                  </a:lnTo>
                  <a:lnTo>
                    <a:pt x="3958576" y="754030"/>
                  </a:lnTo>
                  <a:lnTo>
                    <a:pt x="3974729" y="743116"/>
                  </a:lnTo>
                  <a:lnTo>
                    <a:pt x="3985644" y="726963"/>
                  </a:lnTo>
                  <a:lnTo>
                    <a:pt x="3989652" y="70723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0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1">
            <a:extLst>
              <a:ext uri="{FF2B5EF4-FFF2-40B4-BE49-F238E27FC236}">
                <a16:creationId xmlns:a16="http://schemas.microsoft.com/office/drawing/2014/main" id="{A2160E14-1450-1ADC-ED93-35FC3E1D2EBC}"/>
              </a:ext>
            </a:extLst>
          </p:cNvPr>
          <p:cNvSpPr txBox="1"/>
          <p:nvPr/>
        </p:nvSpPr>
        <p:spPr>
          <a:xfrm>
            <a:off x="423162" y="2258400"/>
            <a:ext cx="749300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98145" marR="5080" indent="12065" algn="r">
              <a:lnSpc>
                <a:spcPct val="102699"/>
              </a:lnSpc>
              <a:spcBef>
                <a:spcPts val="55"/>
              </a:spcBef>
            </a:pPr>
            <a:r>
              <a:rPr lang="en-US" sz="1100" spc="-40" dirty="0">
                <a:latin typeface="Microsoft Sans Serif"/>
                <a:cs typeface="Microsoft Sans Serif"/>
              </a:rPr>
              <a:t>Email  Office</a:t>
            </a:r>
            <a:endParaRPr lang="en-US" sz="1100" dirty="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  <a:spcBef>
                <a:spcPts val="35"/>
              </a:spcBef>
            </a:pPr>
            <a:r>
              <a:rPr lang="en-US" sz="1100" spc="-40" dirty="0">
                <a:latin typeface="Microsoft Sans Serif"/>
                <a:cs typeface="Microsoft Sans Serif"/>
              </a:rPr>
              <a:t>Office</a:t>
            </a:r>
            <a:r>
              <a:rPr lang="en-US" sz="1100" dirty="0">
                <a:latin typeface="Microsoft Sans Serif"/>
                <a:cs typeface="Microsoft Sans Serif"/>
              </a:rPr>
              <a:t> </a:t>
            </a:r>
            <a:r>
              <a:rPr lang="en-US" sz="1100" spc="-55" dirty="0">
                <a:latin typeface="Microsoft Sans Serif"/>
                <a:cs typeface="Microsoft Sans Serif"/>
              </a:rPr>
              <a:t>Hours</a:t>
            </a:r>
            <a:endParaRPr lang="en-US" sz="1100" dirty="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  <a:spcBef>
                <a:spcPts val="35"/>
              </a:spcBef>
            </a:pPr>
            <a:r>
              <a:rPr lang="en-US" sz="1100" spc="-35" dirty="0">
                <a:latin typeface="Microsoft Sans Serif"/>
                <a:cs typeface="Microsoft Sans Serif"/>
              </a:rPr>
              <a:t>Day-off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3FC24DB8-4DF5-05F0-7B20-8126ED806DC8}"/>
              </a:ext>
            </a:extLst>
          </p:cNvPr>
          <p:cNvSpPr txBox="1"/>
          <p:nvPr/>
        </p:nvSpPr>
        <p:spPr>
          <a:xfrm>
            <a:off x="1298202" y="2258400"/>
            <a:ext cx="2073596" cy="686598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n-US" sz="1100" spc="-50" dirty="0">
                <a:latin typeface="Microsoft Sans Serif"/>
                <a:cs typeface="Microsoft Sans Serif"/>
                <a:hlinkClick r:id="rId6"/>
              </a:rPr>
              <a:t>farah.bashir@guc.edu.eg</a:t>
            </a:r>
            <a:endParaRPr lang="en-US" sz="1100" spc="-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n-US" sz="1100" spc="-50" dirty="0">
                <a:latin typeface="Microsoft Sans Serif"/>
                <a:cs typeface="Microsoft Sans Serif"/>
              </a:rPr>
              <a:t>B1.320</a:t>
            </a:r>
            <a:endParaRPr lang="en-US" sz="1100" dirty="0">
              <a:latin typeface="Microsoft Sans Serif"/>
              <a:cs typeface="Microsoft Sans Serif"/>
            </a:endParaRPr>
          </a:p>
          <a:p>
            <a:pPr marL="12700" marR="5080" indent="-635">
              <a:lnSpc>
                <a:spcPct val="102600"/>
              </a:lnSpc>
            </a:pPr>
            <a:r>
              <a:rPr lang="en-US" sz="1100" spc="-65" dirty="0">
                <a:latin typeface="Microsoft Sans Serif"/>
                <a:cs typeface="Microsoft Sans Serif"/>
              </a:rPr>
              <a:t>by</a:t>
            </a:r>
            <a:r>
              <a:rPr lang="en-US" sz="1100" spc="55" dirty="0">
                <a:latin typeface="Microsoft Sans Serif"/>
                <a:cs typeface="Microsoft Sans Serif"/>
              </a:rPr>
              <a:t> </a:t>
            </a:r>
            <a:r>
              <a:rPr lang="en-US" sz="1100" spc="-30" dirty="0">
                <a:latin typeface="Microsoft Sans Serif"/>
                <a:cs typeface="Microsoft Sans Serif"/>
              </a:rPr>
              <a:t>appointment </a:t>
            </a:r>
            <a:r>
              <a:rPr lang="en-US" sz="1100" spc="-275" dirty="0">
                <a:latin typeface="Microsoft Sans Serif"/>
                <a:cs typeface="Microsoft Sans Serif"/>
              </a:rPr>
              <a:t> </a:t>
            </a:r>
          </a:p>
          <a:p>
            <a:pPr marL="12700" marR="5080" indent="-635">
              <a:lnSpc>
                <a:spcPct val="102600"/>
              </a:lnSpc>
            </a:pPr>
            <a:r>
              <a:rPr lang="en-US" sz="1100" spc="-80" dirty="0">
                <a:latin typeface="Microsoft Sans Serif"/>
                <a:cs typeface="Microsoft Sans Serif"/>
              </a:rPr>
              <a:t>Saturday</a:t>
            </a:r>
            <a:endParaRPr lang="en-US" sz="1100" dirty="0">
              <a:latin typeface="Microsoft Sans Serif"/>
              <a:ea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324790035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091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German</a:t>
            </a:r>
            <a:r>
              <a:rPr spc="40" dirty="0"/>
              <a:t> </a:t>
            </a:r>
            <a:r>
              <a:rPr spc="-25" dirty="0"/>
              <a:t>University</a:t>
            </a:r>
            <a:r>
              <a:rPr spc="45" dirty="0"/>
              <a:t> </a:t>
            </a:r>
            <a:r>
              <a:rPr spc="-35" dirty="0"/>
              <a:t>in</a:t>
            </a:r>
            <a:r>
              <a:rPr spc="40" dirty="0"/>
              <a:t> </a:t>
            </a:r>
            <a:r>
              <a:rPr spc="-15" dirty="0"/>
              <a:t>Cairo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14338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Course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Assessment</a:t>
            </a:r>
            <a:endParaRPr sz="1400">
              <a:latin typeface="Trebuchet MS"/>
              <a:cs typeface="Trebuchet M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823444"/>
              </p:ext>
            </p:extLst>
          </p:nvPr>
        </p:nvGraphicFramePr>
        <p:xfrm>
          <a:off x="567677" y="1044575"/>
          <a:ext cx="3469056" cy="16766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1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2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939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sz="1100" spc="-85" dirty="0">
                          <a:latin typeface="Microsoft Sans Serif"/>
                          <a:cs typeface="Microsoft Sans Serif"/>
                        </a:rPr>
                        <a:t>Assessment</a:t>
                      </a:r>
                      <a:r>
                        <a:rPr sz="11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25" dirty="0">
                          <a:latin typeface="Microsoft Sans Serif"/>
                          <a:cs typeface="Microsoft Sans Serif"/>
                        </a:rPr>
                        <a:t>Method</a:t>
                      </a:r>
                      <a:endParaRPr sz="11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sz="1100" spc="-35" dirty="0">
                          <a:latin typeface="Microsoft Sans Serif"/>
                          <a:cs typeface="Microsoft Sans Serif"/>
                        </a:rPr>
                        <a:t>Weight</a:t>
                      </a:r>
                      <a:endParaRPr sz="11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0"/>
                        </a:lnSpc>
                      </a:pPr>
                      <a:r>
                        <a:rPr sz="1100" spc="-80" dirty="0">
                          <a:latin typeface="Microsoft Sans Serif"/>
                          <a:cs typeface="Microsoft Sans Serif"/>
                        </a:rPr>
                        <a:t>Remarks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556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75" dirty="0">
                          <a:latin typeface="Microsoft Sans Serif"/>
                          <a:cs typeface="Microsoft Sans Serif"/>
                        </a:rPr>
                        <a:t>Quizzes</a:t>
                      </a:r>
                    </a:p>
                    <a:p>
                      <a:pPr marL="75565" lvl="0">
                        <a:lnSpc>
                          <a:spcPct val="100000"/>
                        </a:lnSpc>
                        <a:spcBef>
                          <a:spcPts val="190"/>
                        </a:spcBef>
                        <a:buNone/>
                      </a:pPr>
                      <a:endParaRPr lang="en-US" sz="1100" spc="-75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70" dirty="0">
                          <a:latin typeface="Microsoft Sans Serif"/>
                          <a:cs typeface="Microsoft Sans Serif"/>
                        </a:rPr>
                        <a:t>10%</a:t>
                      </a:r>
                      <a:endParaRPr sz="11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45" dirty="0">
                          <a:latin typeface="Microsoft Sans Serif"/>
                          <a:cs typeface="Microsoft Sans Serif"/>
                        </a:rPr>
                        <a:t>Best</a:t>
                      </a:r>
                      <a:r>
                        <a:rPr sz="11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70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11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out</a:t>
                      </a:r>
                      <a:r>
                        <a:rPr sz="11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20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1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7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1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9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55" dirty="0">
                          <a:latin typeface="Microsoft Sans Serif"/>
                          <a:cs typeface="Microsoft Sans Serif"/>
                        </a:rPr>
                        <a:t>Lab</a:t>
                      </a:r>
                      <a:r>
                        <a:rPr sz="11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40" dirty="0">
                          <a:latin typeface="Microsoft Sans Serif"/>
                          <a:cs typeface="Microsoft Sans Serif"/>
                        </a:rPr>
                        <a:t>Work</a:t>
                      </a:r>
                      <a:r>
                        <a:rPr sz="11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100" spc="-5" dirty="0">
                          <a:latin typeface="Microsoft Sans Serif"/>
                          <a:cs typeface="Microsoft Sans Serif"/>
                        </a:rPr>
                        <a:t>– 3</a:t>
                      </a:r>
                      <a:r>
                        <a:rPr sz="11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Mini</a:t>
                      </a:r>
                      <a:r>
                        <a:rPr sz="11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40" dirty="0">
                          <a:latin typeface="Microsoft Sans Serif"/>
                          <a:cs typeface="Microsoft Sans Serif"/>
                        </a:rPr>
                        <a:t>Projects</a:t>
                      </a:r>
                    </a:p>
                    <a:p>
                      <a:pPr marL="75565" lvl="0">
                        <a:lnSpc>
                          <a:spcPts val="1175"/>
                        </a:lnSpc>
                        <a:buNone/>
                      </a:pPr>
                      <a:endParaRPr lang="en-US" sz="1100" spc="-4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70" dirty="0">
                          <a:latin typeface="Microsoft Sans Serif"/>
                          <a:cs typeface="Microsoft Sans Serif"/>
                        </a:rPr>
                        <a:t>20%</a:t>
                      </a:r>
                      <a:endParaRPr sz="11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75" dirty="0">
                          <a:latin typeface="Microsoft Sans Serif"/>
                          <a:cs typeface="Microsoft Sans Serif"/>
                        </a:rPr>
                        <a:t>Groups</a:t>
                      </a:r>
                      <a:r>
                        <a:rPr sz="11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20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1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7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1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75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Midterm</a:t>
                      </a:r>
                      <a:r>
                        <a:rPr sz="11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70" dirty="0">
                          <a:latin typeface="Microsoft Sans Serif"/>
                          <a:cs typeface="Microsoft Sans Serif"/>
                        </a:rPr>
                        <a:t>Exam</a:t>
                      </a:r>
                    </a:p>
                    <a:p>
                      <a:pPr marL="75565" lvl="0">
                        <a:lnSpc>
                          <a:spcPts val="1175"/>
                        </a:lnSpc>
                        <a:buNone/>
                      </a:pPr>
                      <a:endParaRPr lang="en-US" sz="1100" spc="-7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70" dirty="0">
                          <a:latin typeface="Microsoft Sans Serif"/>
                          <a:cs typeface="Microsoft Sans Serif"/>
                        </a:rPr>
                        <a:t>30%</a:t>
                      </a:r>
                      <a:endParaRPr sz="11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852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35" dirty="0">
                          <a:latin typeface="Microsoft Sans Serif"/>
                          <a:cs typeface="Microsoft Sans Serif"/>
                        </a:rPr>
                        <a:t>Final</a:t>
                      </a:r>
                      <a:r>
                        <a:rPr sz="11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70" dirty="0">
                          <a:latin typeface="Microsoft Sans Serif"/>
                          <a:cs typeface="Microsoft Sans Serif"/>
                        </a:rPr>
                        <a:t>Exam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70" dirty="0">
                          <a:latin typeface="Microsoft Sans Serif"/>
                          <a:cs typeface="Microsoft Sans Serif"/>
                        </a:rPr>
                        <a:t>40%</a:t>
                      </a:r>
                      <a:endParaRPr lang="en-US" sz="1100" spc="-70" dirty="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ts val="1175"/>
                        </a:lnSpc>
                      </a:pPr>
                      <a:endParaRPr sz="11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473">
                <a:tc>
                  <a:txBody>
                    <a:bodyPr/>
                    <a:lstStyle/>
                    <a:p>
                      <a:pPr marL="75565">
                        <a:lnSpc>
                          <a:spcPts val="1165"/>
                        </a:lnSpc>
                      </a:pPr>
                      <a:r>
                        <a:rPr sz="1100" spc="-20" dirty="0">
                          <a:latin typeface="Microsoft Sans Serif"/>
                          <a:cs typeface="Microsoft Sans Serif"/>
                        </a:rPr>
                        <a:t>Total</a:t>
                      </a:r>
                      <a:endParaRPr sz="11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1100" spc="-70" dirty="0">
                          <a:latin typeface="Microsoft Sans Serif"/>
                          <a:cs typeface="Microsoft Sans Serif"/>
                        </a:rPr>
                        <a:t>100%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152004" y="109651"/>
                  </a:lnTo>
                  <a:lnTo>
                    <a:pt x="2304008" y="109651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920024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609ED662-F1C8-BC06-0F36-BE3EF11F2CE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32104782-44EB-ACA4-399F-24B97765FE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4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6"/>
          </p:nvPr>
        </p:nvSpPr>
        <p:spPr>
          <a:xfrm>
            <a:off x="1506396" y="3351784"/>
            <a:ext cx="646253" cy="179536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lang="en-US" spc="-2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29946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>Why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Study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Mining/Data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Science?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351" y="986233"/>
            <a:ext cx="3726815" cy="1867819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213995" marR="322580" indent="-139065">
              <a:lnSpc>
                <a:spcPct val="150000"/>
              </a:lnSpc>
              <a:spcBef>
                <a:spcPts val="55"/>
              </a:spcBef>
              <a:buClr>
                <a:srgbClr val="8C2054"/>
              </a:buClr>
              <a:buFont typeface="Arial"/>
              <a:buChar char="•"/>
              <a:tabLst>
                <a:tab pos="215265" algn="l"/>
              </a:tabLst>
            </a:pPr>
            <a:r>
              <a:rPr sz="1100" spc="-80" dirty="0">
                <a:latin typeface="Microsoft Sans Serif"/>
                <a:cs typeface="Microsoft Sans Serif"/>
              </a:rPr>
              <a:t>One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of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the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most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demanded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jobs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in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recent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times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due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10" dirty="0">
                <a:latin typeface="Microsoft Sans Serif"/>
                <a:cs typeface="Microsoft Sans Serif"/>
              </a:rPr>
              <a:t>to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digitization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and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explosive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data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growth!</a:t>
            </a:r>
            <a:endParaRPr lang="en-US" sz="1100">
              <a:latin typeface="Microsoft Sans Serif"/>
              <a:ea typeface="Microsoft Sans Serif"/>
              <a:cs typeface="Microsoft Sans Serif"/>
            </a:endParaRPr>
          </a:p>
          <a:p>
            <a:pPr marL="213995" indent="-139065">
              <a:lnSpc>
                <a:spcPct val="150000"/>
              </a:lnSpc>
              <a:spcBef>
                <a:spcPts val="335"/>
              </a:spcBef>
              <a:buClr>
                <a:srgbClr val="8C2054"/>
              </a:buClr>
              <a:buFont typeface="Arial"/>
              <a:buChar char="•"/>
              <a:tabLst>
                <a:tab pos="215265" algn="l"/>
              </a:tabLst>
            </a:pPr>
            <a:r>
              <a:rPr sz="1100" spc="-15" dirty="0">
                <a:latin typeface="Microsoft Sans Serif"/>
                <a:cs typeface="Microsoft Sans Serif"/>
              </a:rPr>
              <a:t>Extract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useful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insights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from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large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amounts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of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data</a:t>
            </a:r>
            <a:endParaRPr sz="1100">
              <a:latin typeface="Microsoft Sans Serif"/>
              <a:ea typeface="Microsoft Sans Serif"/>
              <a:cs typeface="Microsoft Sans Serif"/>
            </a:endParaRPr>
          </a:p>
          <a:p>
            <a:pPr marL="213995" indent="-139065">
              <a:lnSpc>
                <a:spcPct val="150000"/>
              </a:lnSpc>
              <a:spcBef>
                <a:spcPts val="334"/>
              </a:spcBef>
              <a:buClr>
                <a:srgbClr val="8C2054"/>
              </a:buClr>
              <a:buFont typeface="Arial"/>
              <a:buChar char="•"/>
              <a:tabLst>
                <a:tab pos="215265" algn="l"/>
              </a:tabLst>
            </a:pPr>
            <a:r>
              <a:rPr sz="1100" spc="-65" dirty="0">
                <a:latin typeface="Microsoft Sans Serif"/>
                <a:cs typeface="Microsoft Sans Serif"/>
              </a:rPr>
              <a:t>Enable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up-to-date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data-driven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decision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making</a:t>
            </a:r>
            <a:endParaRPr sz="1100">
              <a:latin typeface="Microsoft Sans Serif"/>
              <a:ea typeface="Microsoft Sans Serif"/>
              <a:cs typeface="Microsoft Sans Serif"/>
            </a:endParaRPr>
          </a:p>
          <a:p>
            <a:pPr marL="213995" marR="30480" indent="-139065">
              <a:lnSpc>
                <a:spcPct val="150000"/>
              </a:lnSpc>
              <a:spcBef>
                <a:spcPts val="295"/>
              </a:spcBef>
              <a:buClr>
                <a:srgbClr val="8C2054"/>
              </a:buClr>
              <a:buFont typeface="Arial"/>
              <a:buChar char="•"/>
              <a:tabLst>
                <a:tab pos="215265" algn="l"/>
              </a:tabLst>
            </a:pPr>
            <a:r>
              <a:rPr sz="1100" spc="-40" dirty="0">
                <a:latin typeface="Microsoft Sans Serif"/>
                <a:cs typeface="Microsoft Sans Serif"/>
              </a:rPr>
              <a:t>Many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different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application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95" dirty="0">
                <a:latin typeface="Microsoft Sans Serif"/>
                <a:cs typeface="Microsoft Sans Serif"/>
              </a:rPr>
              <a:t>areas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you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can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80" dirty="0">
                <a:latin typeface="Microsoft Sans Serif"/>
                <a:cs typeface="Microsoft Sans Serif"/>
              </a:rPr>
              <a:t>choose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from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90" dirty="0">
                <a:latin typeface="Microsoft Sans Serif"/>
                <a:cs typeface="Microsoft Sans Serif"/>
              </a:rPr>
              <a:t>based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on</a:t>
            </a:r>
            <a:r>
              <a:rPr sz="1100" spc="-55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your </a:t>
            </a:r>
            <a:r>
              <a:rPr sz="1100" spc="-60" dirty="0">
                <a:latin typeface="Microsoft Sans Serif"/>
                <a:cs typeface="Microsoft Sans Serif"/>
              </a:rPr>
              <a:t>personal</a:t>
            </a:r>
            <a:r>
              <a:rPr sz="1100" spc="-5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interest: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business,</a:t>
            </a:r>
            <a:r>
              <a:rPr sz="1100" spc="-70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energy,</a:t>
            </a:r>
            <a:r>
              <a:rPr sz="1100" spc="-7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government, 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healthcare,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intelligence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and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security,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logistics,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etc.</a:t>
            </a:r>
            <a:endParaRPr sz="1100">
              <a:latin typeface="Microsoft Sans Serif"/>
              <a:ea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151991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151991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83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920024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BDF553E7-372A-68B4-C0D6-AE56B14B475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lang="en-US" spc="-20" dirty="0"/>
          </a:p>
        </p:txBody>
      </p:sp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1E13AEB3-8538-5C07-891D-9F2D3030AE3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8AAB8F2F-97A8-2E58-BF7A-AF4342B1A3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5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21482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Job</a:t>
            </a:r>
            <a:r>
              <a:rPr sz="14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titles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related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4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field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0451" y="1116937"/>
            <a:ext cx="1290320" cy="159893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76530" indent="-139065">
              <a:lnSpc>
                <a:spcPct val="100000"/>
              </a:lnSpc>
              <a:spcBef>
                <a:spcPts val="330"/>
              </a:spcBef>
              <a:buClr>
                <a:srgbClr val="8C2054"/>
              </a:buClr>
              <a:buFont typeface="Arial"/>
              <a:buChar char="•"/>
              <a:tabLst>
                <a:tab pos="177165" algn="l"/>
              </a:tabLst>
            </a:pPr>
            <a:r>
              <a:rPr sz="1100" spc="-35" dirty="0">
                <a:latin typeface="Microsoft Sans Serif"/>
                <a:cs typeface="Microsoft Sans Serif"/>
              </a:rPr>
              <a:t>Analytics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Engineer</a:t>
            </a:r>
            <a:endParaRPr sz="1100" dirty="0">
              <a:latin typeface="Microsoft Sans Serif"/>
              <a:cs typeface="Microsoft Sans Serif"/>
            </a:endParaRPr>
          </a:p>
          <a:p>
            <a:pPr marL="176530" indent="-139065">
              <a:lnSpc>
                <a:spcPct val="100000"/>
              </a:lnSpc>
              <a:spcBef>
                <a:spcPts val="225"/>
              </a:spcBef>
              <a:buClr>
                <a:srgbClr val="8C2054"/>
              </a:buClr>
              <a:buFont typeface="Arial"/>
              <a:buChar char="•"/>
              <a:tabLst>
                <a:tab pos="177165" algn="l"/>
              </a:tabLst>
            </a:pPr>
            <a:r>
              <a:rPr sz="1100" spc="-35" dirty="0">
                <a:latin typeface="Microsoft Sans Serif"/>
                <a:cs typeface="Microsoft Sans Serif"/>
              </a:rPr>
              <a:t>Analytics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Manager</a:t>
            </a:r>
            <a:endParaRPr sz="1100" dirty="0">
              <a:latin typeface="Microsoft Sans Serif"/>
              <a:cs typeface="Microsoft Sans Serif"/>
            </a:endParaRPr>
          </a:p>
          <a:p>
            <a:pPr marL="176530" indent="-139065">
              <a:lnSpc>
                <a:spcPct val="100000"/>
              </a:lnSpc>
              <a:spcBef>
                <a:spcPts val="229"/>
              </a:spcBef>
              <a:buClr>
                <a:srgbClr val="8C2054"/>
              </a:buClr>
              <a:buFont typeface="Arial"/>
              <a:buChar char="•"/>
              <a:tabLst>
                <a:tab pos="177165" algn="l"/>
              </a:tabLst>
            </a:pPr>
            <a:r>
              <a:rPr sz="1100" spc="-25" dirty="0">
                <a:latin typeface="Microsoft Sans Serif"/>
                <a:cs typeface="Microsoft Sans Serif"/>
              </a:rPr>
              <a:t>Big</a:t>
            </a:r>
            <a:r>
              <a:rPr sz="1100" spc="4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Data</a:t>
            </a:r>
            <a:r>
              <a:rPr sz="1100" spc="4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Engineer</a:t>
            </a:r>
            <a:endParaRPr sz="1100" dirty="0">
              <a:latin typeface="Microsoft Sans Serif"/>
              <a:cs typeface="Microsoft Sans Serif"/>
            </a:endParaRPr>
          </a:p>
          <a:p>
            <a:pPr marL="176530" indent="-139065">
              <a:lnSpc>
                <a:spcPct val="100000"/>
              </a:lnSpc>
              <a:spcBef>
                <a:spcPts val="229"/>
              </a:spcBef>
              <a:buClr>
                <a:srgbClr val="8C2054"/>
              </a:buClr>
              <a:buFont typeface="Arial"/>
              <a:buChar char="•"/>
              <a:tabLst>
                <a:tab pos="177165" algn="l"/>
              </a:tabLst>
            </a:pPr>
            <a:r>
              <a:rPr sz="1100" spc="-80" dirty="0">
                <a:latin typeface="Microsoft Sans Serif"/>
                <a:cs typeface="Microsoft Sans Serif"/>
              </a:rPr>
              <a:t>Business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Analyst</a:t>
            </a:r>
            <a:endParaRPr sz="1100" dirty="0">
              <a:latin typeface="Microsoft Sans Serif"/>
              <a:cs typeface="Microsoft Sans Serif"/>
            </a:endParaRPr>
          </a:p>
          <a:p>
            <a:pPr marL="176530" indent="-139065">
              <a:lnSpc>
                <a:spcPct val="100000"/>
              </a:lnSpc>
              <a:spcBef>
                <a:spcPts val="229"/>
              </a:spcBef>
              <a:buClr>
                <a:srgbClr val="8C2054"/>
              </a:buClr>
              <a:buFont typeface="Arial"/>
              <a:buChar char="•"/>
              <a:tabLst>
                <a:tab pos="177165" algn="l"/>
              </a:tabLst>
            </a:pPr>
            <a:r>
              <a:rPr sz="1100" spc="-25" dirty="0">
                <a:latin typeface="Microsoft Sans Serif"/>
                <a:cs typeface="Microsoft Sans Serif"/>
              </a:rPr>
              <a:t>Data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Architect</a:t>
            </a:r>
            <a:endParaRPr sz="1100" dirty="0">
              <a:latin typeface="Microsoft Sans Serif"/>
              <a:cs typeface="Microsoft Sans Serif"/>
            </a:endParaRPr>
          </a:p>
          <a:p>
            <a:pPr marL="176530" indent="-139065">
              <a:lnSpc>
                <a:spcPct val="100000"/>
              </a:lnSpc>
              <a:spcBef>
                <a:spcPts val="225"/>
              </a:spcBef>
              <a:buClr>
                <a:srgbClr val="8C2054"/>
              </a:buClr>
              <a:buFont typeface="Arial"/>
              <a:buChar char="•"/>
              <a:tabLst>
                <a:tab pos="177165" algn="l"/>
              </a:tabLst>
            </a:pPr>
            <a:r>
              <a:rPr sz="1100" spc="-25" dirty="0">
                <a:latin typeface="Microsoft Sans Serif"/>
                <a:cs typeface="Microsoft Sans Serif"/>
              </a:rPr>
              <a:t>Data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Analyst</a:t>
            </a:r>
            <a:endParaRPr sz="1100" dirty="0">
              <a:latin typeface="Microsoft Sans Serif"/>
              <a:cs typeface="Microsoft Sans Serif"/>
            </a:endParaRPr>
          </a:p>
          <a:p>
            <a:pPr marL="176530" indent="-139065">
              <a:lnSpc>
                <a:spcPct val="100000"/>
              </a:lnSpc>
              <a:spcBef>
                <a:spcPts val="229"/>
              </a:spcBef>
              <a:buClr>
                <a:srgbClr val="8C2054"/>
              </a:buClr>
              <a:buFont typeface="Arial"/>
              <a:buChar char="•"/>
              <a:tabLst>
                <a:tab pos="177165" algn="l"/>
              </a:tabLst>
            </a:pPr>
            <a:r>
              <a:rPr sz="1100" spc="-25" dirty="0">
                <a:latin typeface="Microsoft Sans Serif"/>
                <a:cs typeface="Microsoft Sans Serif"/>
              </a:rPr>
              <a:t>Data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Engineer</a:t>
            </a:r>
            <a:endParaRPr sz="1100" dirty="0">
              <a:latin typeface="Microsoft Sans Serif"/>
              <a:cs typeface="Microsoft Sans Serif"/>
            </a:endParaRPr>
          </a:p>
          <a:p>
            <a:pPr marL="176530" indent="-139065">
              <a:lnSpc>
                <a:spcPct val="100000"/>
              </a:lnSpc>
              <a:spcBef>
                <a:spcPts val="229"/>
              </a:spcBef>
              <a:buClr>
                <a:srgbClr val="8C2054"/>
              </a:buClr>
              <a:buFont typeface="Arial"/>
              <a:buChar char="•"/>
              <a:tabLst>
                <a:tab pos="177165" algn="l"/>
              </a:tabLst>
            </a:pPr>
            <a:r>
              <a:rPr sz="1100" spc="-25" dirty="0">
                <a:latin typeface="Microsoft Sans Serif"/>
                <a:cs typeface="Microsoft Sans Serif"/>
              </a:rPr>
              <a:t>Data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Scientist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3111" y="1147342"/>
            <a:ext cx="1227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1130" indent="-139065">
              <a:lnSpc>
                <a:spcPct val="100000"/>
              </a:lnSpc>
              <a:spcBef>
                <a:spcPts val="90"/>
              </a:spcBef>
              <a:buClr>
                <a:srgbClr val="8C2054"/>
              </a:buClr>
              <a:buFont typeface="Arial"/>
              <a:buChar char="•"/>
              <a:tabLst>
                <a:tab pos="151765" algn="l"/>
              </a:tabLst>
            </a:pPr>
            <a:r>
              <a:rPr sz="1100" spc="-25" dirty="0">
                <a:latin typeface="Microsoft Sans Serif"/>
                <a:cs typeface="Microsoft Sans Serif"/>
              </a:rPr>
              <a:t>Data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Visualization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1655" y="1319414"/>
            <a:ext cx="5702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0" dirty="0">
                <a:latin typeface="Microsoft Sans Serif"/>
                <a:cs typeface="Microsoft Sans Serif"/>
              </a:rPr>
              <a:t>S</a:t>
            </a:r>
            <a:r>
              <a:rPr sz="1100" spc="-55" dirty="0">
                <a:latin typeface="Microsoft Sans Serif"/>
                <a:cs typeface="Microsoft Sans Serif"/>
              </a:rPr>
              <a:t>p</a:t>
            </a:r>
            <a:r>
              <a:rPr sz="1100" spc="-40" dirty="0">
                <a:latin typeface="Microsoft Sans Serif"/>
                <a:cs typeface="Microsoft Sans Serif"/>
              </a:rPr>
              <a:t>ecialist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3111" y="1548852"/>
            <a:ext cx="1631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1130" indent="-139065">
              <a:lnSpc>
                <a:spcPct val="100000"/>
              </a:lnSpc>
              <a:spcBef>
                <a:spcPts val="90"/>
              </a:spcBef>
              <a:buClr>
                <a:srgbClr val="8C2054"/>
              </a:buClr>
              <a:buFont typeface="Arial"/>
              <a:buChar char="•"/>
              <a:tabLst>
                <a:tab pos="151765" algn="l"/>
              </a:tabLst>
            </a:pPr>
            <a:r>
              <a:rPr sz="1100" spc="-80" dirty="0">
                <a:latin typeface="Microsoft Sans Serif"/>
                <a:cs typeface="Microsoft Sans Serif"/>
              </a:rPr>
              <a:t>Business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Intelligence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spc="25" dirty="0">
                <a:latin typeface="Microsoft Sans Serif"/>
                <a:cs typeface="Microsoft Sans Serif"/>
              </a:rPr>
              <a:t>(BI)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31655" y="1720924"/>
            <a:ext cx="554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5" dirty="0">
                <a:latin typeface="Microsoft Sans Serif"/>
                <a:cs typeface="Microsoft Sans Serif"/>
              </a:rPr>
              <a:t>Architect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93111" y="1950350"/>
            <a:ext cx="13468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1130" indent="-139065">
              <a:lnSpc>
                <a:spcPct val="100000"/>
              </a:lnSpc>
              <a:spcBef>
                <a:spcPts val="90"/>
              </a:spcBef>
              <a:buClr>
                <a:srgbClr val="8C2054"/>
              </a:buClr>
              <a:buFont typeface="Arial"/>
              <a:buChar char="•"/>
              <a:tabLst>
                <a:tab pos="151765" algn="l"/>
              </a:tabLst>
            </a:pPr>
            <a:r>
              <a:rPr sz="1100" spc="-80" dirty="0">
                <a:latin typeface="Microsoft Sans Serif"/>
                <a:cs typeface="Microsoft Sans Serif"/>
              </a:rPr>
              <a:t>Business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Intelligence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31655" y="2122435"/>
            <a:ext cx="5238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Microsoft Sans Serif"/>
                <a:cs typeface="Microsoft Sans Serif"/>
              </a:rPr>
              <a:t>Engineer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93111" y="2351861"/>
            <a:ext cx="13468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1130" indent="-139065">
              <a:lnSpc>
                <a:spcPct val="100000"/>
              </a:lnSpc>
              <a:spcBef>
                <a:spcPts val="90"/>
              </a:spcBef>
              <a:buClr>
                <a:srgbClr val="8C2054"/>
              </a:buClr>
              <a:buFont typeface="Arial"/>
              <a:buChar char="•"/>
              <a:tabLst>
                <a:tab pos="151765" algn="l"/>
              </a:tabLst>
            </a:pPr>
            <a:r>
              <a:rPr sz="1100" spc="-80" dirty="0">
                <a:latin typeface="Microsoft Sans Serif"/>
                <a:cs typeface="Microsoft Sans Serif"/>
              </a:rPr>
              <a:t>Business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Intelligence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31655" y="2523933"/>
            <a:ext cx="5702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0" dirty="0">
                <a:latin typeface="Microsoft Sans Serif"/>
                <a:cs typeface="Microsoft Sans Serif"/>
              </a:rPr>
              <a:t>S</a:t>
            </a:r>
            <a:r>
              <a:rPr sz="1100" spc="-55" dirty="0">
                <a:latin typeface="Microsoft Sans Serif"/>
                <a:cs typeface="Microsoft Sans Serif"/>
              </a:rPr>
              <a:t>p</a:t>
            </a:r>
            <a:r>
              <a:rPr sz="1100" spc="-40" dirty="0">
                <a:latin typeface="Microsoft Sans Serif"/>
                <a:cs typeface="Microsoft Sans Serif"/>
              </a:rPr>
              <a:t>ecialist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152004" y="109651"/>
                  </a:lnTo>
                  <a:lnTo>
                    <a:pt x="2304008" y="109651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03995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920024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22" name="object 12">
            <a:extLst>
              <a:ext uri="{FF2B5EF4-FFF2-40B4-BE49-F238E27FC236}">
                <a16:creationId xmlns:a16="http://schemas.microsoft.com/office/drawing/2014/main" id="{6C4EE54D-A8C3-A919-C447-E201F10C23C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lang="en-US" spc="-20" dirty="0"/>
          </a:p>
        </p:txBody>
      </p:sp>
      <p:sp>
        <p:nvSpPr>
          <p:cNvPr id="24" name="Footer Placeholder 10">
            <a:extLst>
              <a:ext uri="{FF2B5EF4-FFF2-40B4-BE49-F238E27FC236}">
                <a16:creationId xmlns:a16="http://schemas.microsoft.com/office/drawing/2014/main" id="{DA4EF858-2E90-4FD3-F329-64BDE69C7E4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9" name="Slide Number Placeholder 14">
            <a:extLst>
              <a:ext uri="{FF2B5EF4-FFF2-40B4-BE49-F238E27FC236}">
                <a16:creationId xmlns:a16="http://schemas.microsoft.com/office/drawing/2014/main" id="{07FC75B6-F6DB-FE36-EE8D-CC098AEB0E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6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091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German</a:t>
            </a:r>
            <a:r>
              <a:rPr spc="40" dirty="0"/>
              <a:t> </a:t>
            </a:r>
            <a:r>
              <a:rPr spc="-25" dirty="0"/>
              <a:t>University</a:t>
            </a:r>
            <a:r>
              <a:rPr spc="45" dirty="0"/>
              <a:t> </a:t>
            </a:r>
            <a:r>
              <a:rPr spc="-35" dirty="0"/>
              <a:t>in</a:t>
            </a:r>
            <a:r>
              <a:rPr spc="40" dirty="0"/>
              <a:t> </a:t>
            </a:r>
            <a:r>
              <a:rPr spc="-15" dirty="0"/>
              <a:t>Cairo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17024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Example</a:t>
            </a:r>
            <a:r>
              <a:rPr sz="1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Job</a:t>
            </a:r>
            <a:r>
              <a:rPr sz="1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Offerings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1434" y="1049753"/>
            <a:ext cx="1608486" cy="16725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7267" y="1031384"/>
            <a:ext cx="1620072" cy="182871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152004" y="109651"/>
                  </a:lnTo>
                  <a:lnTo>
                    <a:pt x="2304008" y="109651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920024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31CAD117-A568-478D-5093-02CB1CFC1E5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7CC2387A-79B9-C926-C1CC-D4B10A5931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DDD3E09E-424F-F628-A756-9C8B9DF98C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7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091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German</a:t>
            </a:r>
            <a:r>
              <a:rPr spc="40" dirty="0"/>
              <a:t> </a:t>
            </a:r>
            <a:r>
              <a:rPr spc="-25" dirty="0"/>
              <a:t>University</a:t>
            </a:r>
            <a:r>
              <a:rPr spc="45" dirty="0"/>
              <a:t> </a:t>
            </a:r>
            <a:r>
              <a:rPr spc="-35" dirty="0"/>
              <a:t>in</a:t>
            </a:r>
            <a:r>
              <a:rPr spc="40" dirty="0"/>
              <a:t> </a:t>
            </a:r>
            <a:r>
              <a:rPr spc="-15" dirty="0"/>
              <a:t>Cairo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17024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Example</a:t>
            </a:r>
            <a:r>
              <a:rPr sz="1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Job</a:t>
            </a:r>
            <a:r>
              <a:rPr sz="1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Offerings</a:t>
            </a:r>
            <a:endParaRPr sz="1400" dirty="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5721" y="826938"/>
            <a:ext cx="1592950" cy="17884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7267" y="809001"/>
            <a:ext cx="1619930" cy="247062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152004" y="109639"/>
                  </a:lnTo>
                  <a:lnTo>
                    <a:pt x="2304008" y="109639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920024" y="109639"/>
                  </a:lnTo>
                  <a:lnTo>
                    <a:pt x="2303996" y="109639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15DA6452-CC69-444B-89DF-DEFC748DE0D8}"/>
              </a:ext>
            </a:extLst>
          </p:cNvPr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A1434275-B234-9050-BD0A-44F370BB9EC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66302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19" name="Footer Placeholder 10">
            <a:extLst>
              <a:ext uri="{FF2B5EF4-FFF2-40B4-BE49-F238E27FC236}">
                <a16:creationId xmlns:a16="http://schemas.microsoft.com/office/drawing/2014/main" id="{8B51BA78-F29C-B83B-D684-C6C3D2AA9A2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2" name="Slide Number Placeholder 14">
            <a:extLst>
              <a:ext uri="{FF2B5EF4-FFF2-40B4-BE49-F238E27FC236}">
                <a16:creationId xmlns:a16="http://schemas.microsoft.com/office/drawing/2014/main" id="{ED82599A-8A6A-DA23-44F4-BD6096F3B7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8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091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German</a:t>
            </a:r>
            <a:r>
              <a:rPr spc="40" dirty="0"/>
              <a:t> </a:t>
            </a:r>
            <a:r>
              <a:rPr spc="-25" dirty="0"/>
              <a:t>University</a:t>
            </a:r>
            <a:r>
              <a:rPr spc="45" dirty="0"/>
              <a:t> </a:t>
            </a:r>
            <a:r>
              <a:rPr spc="-35" dirty="0"/>
              <a:t>in</a:t>
            </a:r>
            <a:r>
              <a:rPr spc="40" dirty="0"/>
              <a:t> </a:t>
            </a:r>
            <a:r>
              <a:rPr spc="-15" dirty="0"/>
              <a:t>Cairo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17024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Example</a:t>
            </a:r>
            <a:r>
              <a:rPr sz="1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Job</a:t>
            </a:r>
            <a:r>
              <a:rPr sz="1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Offerings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994" y="1043559"/>
            <a:ext cx="1595111" cy="18155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7267" y="1027773"/>
            <a:ext cx="1619900" cy="114970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152004" y="109639"/>
                  </a:lnTo>
                  <a:lnTo>
                    <a:pt x="2304008" y="109639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920024" y="109639"/>
                  </a:lnTo>
                  <a:lnTo>
                    <a:pt x="2303996" y="109639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43C46362-C14E-01EB-648D-BCF2D3FFE92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19" name="Footer Placeholder 10">
            <a:extLst>
              <a:ext uri="{FF2B5EF4-FFF2-40B4-BE49-F238E27FC236}">
                <a16:creationId xmlns:a16="http://schemas.microsoft.com/office/drawing/2014/main" id="{A4DF63F0-2028-5E49-D178-C04CBE4F03C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7EDE4A0F-8CC9-4429-143B-A450AEB6A6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9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0910">
              <a:lnSpc>
                <a:spcPct val="100000"/>
              </a:lnSpc>
              <a:spcBef>
                <a:spcPts val="95"/>
              </a:spcBef>
            </a:pPr>
            <a:r>
              <a:rPr lang="en-US" spc="-20" dirty="0"/>
              <a:t>G</a:t>
            </a:r>
            <a:r>
              <a:rPr spc="-20" dirty="0"/>
              <a:t>erman</a:t>
            </a:r>
            <a:r>
              <a:rPr spc="40" dirty="0"/>
              <a:t> </a:t>
            </a:r>
            <a:r>
              <a:rPr spc="-25" dirty="0"/>
              <a:t>University</a:t>
            </a:r>
            <a:r>
              <a:rPr spc="45" dirty="0"/>
              <a:t> </a:t>
            </a:r>
            <a:r>
              <a:rPr spc="-35" dirty="0"/>
              <a:t>in</a:t>
            </a:r>
            <a:r>
              <a:rPr spc="40" dirty="0"/>
              <a:t> </a:t>
            </a:r>
            <a:r>
              <a:rPr spc="-15" dirty="0"/>
              <a:t>Cairo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7" y="364347"/>
            <a:ext cx="175240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50" dirty="0">
                <a:solidFill>
                  <a:srgbClr val="FFFFFF"/>
                </a:solidFill>
                <a:latin typeface="Trebuchet MS"/>
                <a:cs typeface="Trebuchet MS"/>
              </a:rPr>
              <a:t>Uses of Data Mining 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686495"/>
              </p:ext>
            </p:extLst>
          </p:nvPr>
        </p:nvGraphicFramePr>
        <p:xfrm>
          <a:off x="247650" y="1033294"/>
          <a:ext cx="4190999" cy="1824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4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6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12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1100" spc="-15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Application</a:t>
                      </a:r>
                      <a:endParaRPr sz="1100" spc="-15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1100" spc="-15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Technique</a:t>
                      </a:r>
                      <a:endParaRPr sz="1100" spc="-15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2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1050" spc="-15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Inventory Planning</a:t>
                      </a:r>
                      <a:endParaRPr sz="1050" spc="-15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1050" spc="-15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Forecasting</a:t>
                      </a:r>
                      <a:endParaRPr sz="1050" spc="-15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130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47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1050" spc="-15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Music/Video/Shopping Recommendations</a:t>
                      </a:r>
                      <a:endParaRPr sz="1050" spc="-15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1050" spc="-15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Recommender Systems</a:t>
                      </a:r>
                      <a:endParaRPr sz="1050" spc="-15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47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1050" spc="-15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Automated Product Bundling</a:t>
                      </a:r>
                      <a:endParaRPr sz="1050" spc="-15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1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spc="-15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Association Rule Mining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05282179"/>
                  </a:ext>
                </a:extLst>
              </a:tr>
              <a:tr h="237479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lang="en-US" sz="1050" spc="-1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Disease Prediction</a:t>
                      </a:r>
                      <a:endParaRPr sz="105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 indent="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1050" spc="-15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Classification</a:t>
                      </a:r>
                      <a:endParaRPr sz="1050" spc="-15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278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lang="en-US" sz="1050" spc="-3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Credit Card Fraud Detection</a:t>
                      </a:r>
                      <a:endParaRPr sz="105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7556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1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spc="-15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Anomaly Detection</a:t>
                      </a:r>
                    </a:p>
                  </a:txBody>
                  <a:tcPr marL="0" marR="0" marT="0" marB="0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278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lang="en-US" sz="10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Customer Segmentation</a:t>
                      </a:r>
                      <a:endParaRPr sz="105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5565" indent="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1050" spc="-15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Clustering</a:t>
                      </a:r>
                      <a:endParaRPr sz="1050" spc="-15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814842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152004" y="109651"/>
                  </a:lnTo>
                  <a:lnTo>
                    <a:pt x="2304008" y="109651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920024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2A1B34EF-2256-40D8-9A48-F4EF6640CDC3}"/>
              </a:ext>
            </a:extLst>
          </p:cNvPr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3081D173-7F4C-5A21-9858-133ACDF7EAE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14" name="Footer Placeholder 10">
            <a:extLst>
              <a:ext uri="{FF2B5EF4-FFF2-40B4-BE49-F238E27FC236}">
                <a16:creationId xmlns:a16="http://schemas.microsoft.com/office/drawing/2014/main" id="{FFE179D3-1FB1-0DC5-3BE3-9431B6BBA2E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8C445413-B684-E33E-1A27-92B53025D8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10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211356894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E15AD0-C2B0-4B51-919A-2D950DBE54D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/>
              <a:t>By Hazem Nabil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F37029-1316-4529-8980-B1BBD89C4C7A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521714" y="3348757"/>
            <a:ext cx="443230" cy="89768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26</a:t>
            </a:r>
            <a:endParaRPr lang="en-US" spc="-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B0C6C-F627-4761-9077-944FA79A07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11</a:t>
            </a:fld>
            <a:r>
              <a:rPr lang="en-US" spc="20"/>
              <a:t> </a:t>
            </a:r>
            <a:r>
              <a:rPr lang="en-US" spc="150"/>
              <a:t>/</a:t>
            </a:r>
            <a:r>
              <a:rPr lang="en-US" spc="20"/>
              <a:t> </a:t>
            </a:r>
            <a:r>
              <a:rPr lang="en-US" spc="-20"/>
              <a:t>19</a:t>
            </a:r>
            <a:endParaRPr lang="en-US" spc="-2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D587B6-0C0A-42BC-BA3B-2FE2595DD7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62" y="587375"/>
            <a:ext cx="4278572" cy="2286000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5FCAB749-5741-4EBE-A7F3-3DC98E200276}"/>
              </a:ext>
            </a:extLst>
          </p:cNvPr>
          <p:cNvSpPr txBox="1"/>
          <p:nvPr/>
        </p:nvSpPr>
        <p:spPr>
          <a:xfrm>
            <a:off x="1257794" y="-12446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4498F31D-6DBE-485E-A9B7-8A9B90BE834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84CA754A-0533-41D0-80F7-2B5034082FD6}"/>
              </a:ext>
            </a:extLst>
          </p:cNvPr>
          <p:cNvSpPr txBox="1"/>
          <p:nvPr/>
        </p:nvSpPr>
        <p:spPr>
          <a:xfrm>
            <a:off x="2533650" y="10896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 dirty="0">
              <a:latin typeface="Trebuchet MS"/>
              <a:cs typeface="Trebuchet MS"/>
            </a:endParaRPr>
          </a:p>
        </p:txBody>
      </p:sp>
      <p:grpSp>
        <p:nvGrpSpPr>
          <p:cNvPr id="11" name="object 8">
            <a:extLst>
              <a:ext uri="{FF2B5EF4-FFF2-40B4-BE49-F238E27FC236}">
                <a16:creationId xmlns:a16="http://schemas.microsoft.com/office/drawing/2014/main" id="{89721AEA-12F7-441B-96BF-8EEC241C2A70}"/>
              </a:ext>
            </a:extLst>
          </p:cNvPr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E6018F8D-683E-4F95-BD84-2DEE5D3BC1E8}"/>
                </a:ext>
              </a:extLst>
            </p:cNvPr>
            <p:cNvSpPr/>
            <p:nvPr/>
          </p:nvSpPr>
          <p:spPr>
            <a:xfrm>
              <a:off x="0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152004" y="109651"/>
                  </a:lnTo>
                  <a:lnTo>
                    <a:pt x="2304008" y="109651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2068A7FA-0A8A-46AA-B7B4-1D9E8B012431}"/>
                </a:ext>
              </a:extLst>
            </p:cNvPr>
            <p:cNvSpPr/>
            <p:nvPr/>
          </p:nvSpPr>
          <p:spPr>
            <a:xfrm>
              <a:off x="2303995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920024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3">
            <a:extLst>
              <a:ext uri="{FF2B5EF4-FFF2-40B4-BE49-F238E27FC236}">
                <a16:creationId xmlns:a16="http://schemas.microsoft.com/office/drawing/2014/main" id="{370F2FBA-9187-4D3C-895C-2266CF2AD199}"/>
              </a:ext>
            </a:extLst>
          </p:cNvPr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D1CB1A41-CF32-4F5F-8288-2159059206D4}"/>
              </a:ext>
            </a:extLst>
          </p:cNvPr>
          <p:cNvSpPr txBox="1">
            <a:spLocks/>
          </p:cNvSpPr>
          <p:nvPr/>
        </p:nvSpPr>
        <p:spPr>
          <a:xfrm>
            <a:off x="346620" y="3351783"/>
            <a:ext cx="663029" cy="2073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675"/>
              </a:lnSpc>
            </a:pPr>
            <a:r>
              <a:rPr lang="en-US" spc="-20"/>
              <a:t>By Hazem</a:t>
            </a:r>
            <a:r>
              <a:rPr lang="en-US" spc="-5"/>
              <a:t> </a:t>
            </a:r>
            <a:r>
              <a:rPr lang="en-US"/>
              <a:t>Nabil</a:t>
            </a:r>
            <a:endParaRPr lang="en-US" dirty="0"/>
          </a:p>
        </p:txBody>
      </p:sp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9B613127-0E97-4749-9876-70680F5F563B}"/>
              </a:ext>
            </a:extLst>
          </p:cNvPr>
          <p:cNvSpPr txBox="1">
            <a:spLocks/>
          </p:cNvSpPr>
          <p:nvPr/>
        </p:nvSpPr>
        <p:spPr>
          <a:xfrm>
            <a:off x="4246994" y="3351784"/>
            <a:ext cx="344804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pPr marL="38100">
                <a:lnSpc>
                  <a:spcPts val="675"/>
                </a:lnSpc>
              </a:pPr>
              <a:t>11</a:t>
            </a:fld>
            <a:r>
              <a:rPr lang="en-US" spc="20"/>
              <a:t> </a:t>
            </a:r>
            <a:r>
              <a:rPr lang="en-US" spc="150"/>
              <a:t>/</a:t>
            </a:r>
            <a:r>
              <a:rPr lang="en-US" spc="20"/>
              <a:t> </a:t>
            </a:r>
            <a:r>
              <a:rPr lang="en-US" spc="-20"/>
              <a:t>20</a:t>
            </a:r>
            <a:endParaRPr lang="en-US" spc="-20" dirty="0"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66D8C548-28E6-DC93-700F-2D27D7C0CCB6}"/>
              </a:ext>
            </a:extLst>
          </p:cNvPr>
          <p:cNvSpPr txBox="1">
            <a:spLocks/>
          </p:cNvSpPr>
          <p:nvPr/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675"/>
              </a:lnSpc>
            </a:pPr>
            <a:r>
              <a:rPr lang="en-US" spc="10"/>
              <a:t>Summer 2026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638718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14192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Mining</a:t>
            </a:r>
            <a:r>
              <a:rPr sz="14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Tools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9193" y="958544"/>
            <a:ext cx="1967864" cy="384175"/>
          </a:xfrm>
          <a:custGeom>
            <a:avLst/>
            <a:gdLst/>
            <a:ahLst/>
            <a:cxnLst/>
            <a:rect l="l" t="t" r="r" b="b"/>
            <a:pathLst>
              <a:path w="1967864" h="384175">
                <a:moveTo>
                  <a:pt x="1917048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83940"/>
                </a:lnTo>
                <a:lnTo>
                  <a:pt x="1967849" y="383940"/>
                </a:lnTo>
                <a:lnTo>
                  <a:pt x="1967849" y="50800"/>
                </a:lnTo>
                <a:lnTo>
                  <a:pt x="1963840" y="31075"/>
                </a:lnTo>
                <a:lnTo>
                  <a:pt x="1952926" y="14922"/>
                </a:lnTo>
                <a:lnTo>
                  <a:pt x="1936773" y="4008"/>
                </a:lnTo>
                <a:lnTo>
                  <a:pt x="1917048" y="0"/>
                </a:lnTo>
                <a:close/>
              </a:path>
            </a:pathLst>
          </a:custGeom>
          <a:solidFill>
            <a:srgbClr val="691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7294" y="937549"/>
            <a:ext cx="1572260" cy="384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z="1200" spc="-70" dirty="0">
                <a:solidFill>
                  <a:srgbClr val="FFFFFF"/>
                </a:solidFill>
                <a:latin typeface="Trebuchet MS"/>
                <a:cs typeface="Trebuchet MS"/>
              </a:rPr>
              <a:t>Graphical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Trebuchet MS"/>
                <a:cs typeface="Trebuchet MS"/>
              </a:rPr>
              <a:t>Interfaces </a:t>
            </a:r>
            <a:r>
              <a:rPr sz="1200" spc="-3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rebuchet MS"/>
                <a:cs typeface="Trebuchet MS"/>
              </a:rPr>
              <a:t>(GUIs)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9193" y="1329829"/>
            <a:ext cx="1967864" cy="1925320"/>
            <a:chOff x="309193" y="1329829"/>
            <a:chExt cx="1967864" cy="192532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194" y="1329829"/>
              <a:ext cx="1967848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193" y="1374083"/>
              <a:ext cx="1967864" cy="1880870"/>
            </a:xfrm>
            <a:custGeom>
              <a:avLst/>
              <a:gdLst/>
              <a:ahLst/>
              <a:cxnLst/>
              <a:rect l="l" t="t" r="r" b="b"/>
              <a:pathLst>
                <a:path w="1967864" h="1880870">
                  <a:moveTo>
                    <a:pt x="1967849" y="0"/>
                  </a:moveTo>
                  <a:lnTo>
                    <a:pt x="0" y="0"/>
                  </a:lnTo>
                  <a:lnTo>
                    <a:pt x="0" y="1830063"/>
                  </a:lnTo>
                  <a:lnTo>
                    <a:pt x="4008" y="1849787"/>
                  </a:lnTo>
                  <a:lnTo>
                    <a:pt x="14922" y="1865940"/>
                  </a:lnTo>
                  <a:lnTo>
                    <a:pt x="31075" y="1876855"/>
                  </a:lnTo>
                  <a:lnTo>
                    <a:pt x="50800" y="1880863"/>
                  </a:lnTo>
                  <a:lnTo>
                    <a:pt x="1917048" y="1880863"/>
                  </a:lnTo>
                  <a:lnTo>
                    <a:pt x="1936773" y="1876855"/>
                  </a:lnTo>
                  <a:lnTo>
                    <a:pt x="1952926" y="1865940"/>
                  </a:lnTo>
                  <a:lnTo>
                    <a:pt x="1963840" y="1849787"/>
                  </a:lnTo>
                  <a:lnTo>
                    <a:pt x="1967849" y="1830063"/>
                  </a:lnTo>
                  <a:lnTo>
                    <a:pt x="1967849" y="0"/>
                  </a:lnTo>
                  <a:close/>
                </a:path>
              </a:pathLst>
            </a:custGeom>
            <a:solidFill>
              <a:srgbClr val="F0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1894" y="1308301"/>
            <a:ext cx="1797050" cy="188705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85" dirty="0">
                <a:latin typeface="Microsoft Sans Serif"/>
                <a:cs typeface="Microsoft Sans Serif"/>
              </a:rPr>
              <a:t>Free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and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open-source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(FOSS)</a:t>
            </a:r>
            <a:endParaRPr sz="1100" dirty="0">
              <a:latin typeface="Microsoft Sans Serif"/>
              <a:cs typeface="Microsoft Sans Serif"/>
            </a:endParaRPr>
          </a:p>
          <a:p>
            <a:pPr marL="314960" indent="-139065">
              <a:lnSpc>
                <a:spcPct val="100000"/>
              </a:lnSpc>
              <a:spcBef>
                <a:spcPts val="334"/>
              </a:spcBef>
              <a:buClr>
                <a:srgbClr val="8C2054"/>
              </a:buClr>
              <a:buFont typeface="Arial"/>
              <a:buChar char="•"/>
              <a:tabLst>
                <a:tab pos="315595" algn="l"/>
              </a:tabLst>
            </a:pPr>
            <a:r>
              <a:rPr sz="1100" spc="-20" dirty="0">
                <a:latin typeface="Microsoft Sans Serif"/>
                <a:cs typeface="Microsoft Sans Serif"/>
              </a:rPr>
              <a:t>WEKA</a:t>
            </a:r>
            <a:endParaRPr sz="1100" dirty="0">
              <a:latin typeface="Microsoft Sans Serif"/>
              <a:cs typeface="Microsoft Sans Serif"/>
            </a:endParaRPr>
          </a:p>
          <a:p>
            <a:pPr marL="314960" indent="-139065">
              <a:lnSpc>
                <a:spcPct val="100000"/>
              </a:lnSpc>
              <a:spcBef>
                <a:spcPts val="330"/>
              </a:spcBef>
              <a:buClr>
                <a:srgbClr val="8C2054"/>
              </a:buClr>
              <a:buFont typeface="Arial"/>
              <a:buChar char="•"/>
              <a:tabLst>
                <a:tab pos="31559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KNIME</a:t>
            </a:r>
            <a:endParaRPr lang="en-US" sz="1100" dirty="0">
              <a:latin typeface="Microsoft Sans Serif"/>
              <a:cs typeface="Microsoft Sans Serif"/>
            </a:endParaRPr>
          </a:p>
          <a:p>
            <a:pPr marL="314960" indent="-139065">
              <a:lnSpc>
                <a:spcPct val="100000"/>
              </a:lnSpc>
              <a:spcBef>
                <a:spcPts val="330"/>
              </a:spcBef>
              <a:buClr>
                <a:srgbClr val="8C2054"/>
              </a:buClr>
              <a:buFont typeface="Arial"/>
              <a:buChar char="•"/>
              <a:tabLst>
                <a:tab pos="315595" algn="l"/>
              </a:tabLst>
            </a:pPr>
            <a:r>
              <a:rPr sz="1100" spc="-65" dirty="0">
                <a:latin typeface="Microsoft Sans Serif"/>
                <a:cs typeface="Microsoft Sans Serif"/>
              </a:rPr>
              <a:t>Orange</a:t>
            </a:r>
            <a:endParaRPr lang="en-US" sz="1100" spc="-65" dirty="0">
              <a:latin typeface="Microsoft Sans Serif"/>
              <a:cs typeface="Microsoft Sans Serif"/>
            </a:endParaRPr>
          </a:p>
          <a:p>
            <a:pPr marL="57150">
              <a:lnSpc>
                <a:spcPct val="100000"/>
              </a:lnSpc>
              <a:spcBef>
                <a:spcPts val="330"/>
              </a:spcBef>
              <a:buClr>
                <a:srgbClr val="8C2054"/>
              </a:buClr>
              <a:tabLst>
                <a:tab pos="315595" algn="l"/>
              </a:tabLst>
            </a:pPr>
            <a:r>
              <a:rPr sz="1100" spc="-35" dirty="0">
                <a:latin typeface="Microsoft Sans Serif"/>
                <a:cs typeface="Microsoft Sans Serif"/>
              </a:rPr>
              <a:t>Commercial/Proprietary</a:t>
            </a:r>
            <a:endParaRPr sz="1100" dirty="0">
              <a:latin typeface="Microsoft Sans Serif"/>
              <a:cs typeface="Microsoft Sans Serif"/>
            </a:endParaRPr>
          </a:p>
          <a:p>
            <a:pPr marL="314960" indent="-139065">
              <a:lnSpc>
                <a:spcPct val="100000"/>
              </a:lnSpc>
              <a:spcBef>
                <a:spcPts val="335"/>
              </a:spcBef>
              <a:buClr>
                <a:srgbClr val="8C2054"/>
              </a:buClr>
              <a:buFont typeface="Arial"/>
              <a:buChar char="•"/>
              <a:tabLst>
                <a:tab pos="315595" algn="l"/>
              </a:tabLst>
            </a:pPr>
            <a:r>
              <a:rPr sz="1100" spc="-90" dirty="0">
                <a:latin typeface="Microsoft Sans Serif"/>
                <a:cs typeface="Microsoft Sans Serif"/>
              </a:rPr>
              <a:t>SAS</a:t>
            </a:r>
            <a:r>
              <a:rPr sz="1100" spc="4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Enterprise</a:t>
            </a:r>
            <a:r>
              <a:rPr sz="1100" spc="4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Miner</a:t>
            </a:r>
            <a:endParaRPr sz="1100" dirty="0">
              <a:latin typeface="Microsoft Sans Serif"/>
              <a:cs typeface="Microsoft Sans Serif"/>
            </a:endParaRPr>
          </a:p>
          <a:p>
            <a:pPr marL="314960" indent="-139065">
              <a:lnSpc>
                <a:spcPct val="100000"/>
              </a:lnSpc>
              <a:spcBef>
                <a:spcPts val="335"/>
              </a:spcBef>
              <a:buClr>
                <a:srgbClr val="8C2054"/>
              </a:buClr>
              <a:buFont typeface="Arial"/>
              <a:buChar char="•"/>
              <a:tabLst>
                <a:tab pos="315595" algn="l"/>
              </a:tabLst>
            </a:pPr>
            <a:r>
              <a:rPr sz="1100" spc="5" dirty="0">
                <a:latin typeface="Microsoft Sans Serif"/>
                <a:cs typeface="Microsoft Sans Serif"/>
              </a:rPr>
              <a:t>IBM</a:t>
            </a:r>
            <a:r>
              <a:rPr sz="1100" spc="45" dirty="0">
                <a:latin typeface="Microsoft Sans Serif"/>
                <a:cs typeface="Microsoft Sans Serif"/>
              </a:rPr>
              <a:t> </a:t>
            </a:r>
            <a:r>
              <a:rPr sz="1100" spc="-110" dirty="0">
                <a:latin typeface="Microsoft Sans Serif"/>
                <a:cs typeface="Microsoft Sans Serif"/>
              </a:rPr>
              <a:t>SPSS</a:t>
            </a:r>
            <a:r>
              <a:rPr sz="1100" spc="4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Modeller</a:t>
            </a:r>
            <a:endParaRPr sz="1100" dirty="0">
              <a:latin typeface="Microsoft Sans Serif"/>
              <a:cs typeface="Microsoft Sans Serif"/>
            </a:endParaRPr>
          </a:p>
          <a:p>
            <a:pPr marL="314960" indent="-139065">
              <a:lnSpc>
                <a:spcPct val="100000"/>
              </a:lnSpc>
              <a:spcBef>
                <a:spcPts val="334"/>
              </a:spcBef>
              <a:buClr>
                <a:srgbClr val="8C2054"/>
              </a:buClr>
              <a:buFont typeface="Arial"/>
              <a:buChar char="•"/>
              <a:tabLst>
                <a:tab pos="315595" algn="l"/>
              </a:tabLst>
            </a:pPr>
            <a:r>
              <a:rPr sz="1100" spc="5" dirty="0">
                <a:latin typeface="Microsoft Sans Serif"/>
                <a:cs typeface="Microsoft Sans Serif"/>
              </a:rPr>
              <a:t>IBM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Watson</a:t>
            </a:r>
            <a:endParaRPr sz="1100" dirty="0">
              <a:latin typeface="Microsoft Sans Serif"/>
              <a:cs typeface="Microsoft Sans Serif"/>
            </a:endParaRPr>
          </a:p>
          <a:p>
            <a:pPr marL="314960" indent="-139065">
              <a:lnSpc>
                <a:spcPct val="100000"/>
              </a:lnSpc>
              <a:spcBef>
                <a:spcPts val="330"/>
              </a:spcBef>
              <a:buClr>
                <a:srgbClr val="8C2054"/>
              </a:buClr>
              <a:buFont typeface="Arial"/>
              <a:buChar char="•"/>
              <a:tabLst>
                <a:tab pos="315595" algn="l"/>
              </a:tabLst>
            </a:pPr>
            <a:r>
              <a:rPr sz="1100" spc="-50" dirty="0">
                <a:latin typeface="Microsoft Sans Serif"/>
                <a:cs typeface="Microsoft Sans Serif"/>
              </a:rPr>
              <a:t>Rapidminer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30970" y="958544"/>
            <a:ext cx="1967864" cy="384175"/>
          </a:xfrm>
          <a:custGeom>
            <a:avLst/>
            <a:gdLst/>
            <a:ahLst/>
            <a:cxnLst/>
            <a:rect l="l" t="t" r="r" b="b"/>
            <a:pathLst>
              <a:path w="1967864" h="384175">
                <a:moveTo>
                  <a:pt x="1917048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83940"/>
                </a:lnTo>
                <a:lnTo>
                  <a:pt x="1967849" y="383940"/>
                </a:lnTo>
                <a:lnTo>
                  <a:pt x="1967849" y="50800"/>
                </a:lnTo>
                <a:lnTo>
                  <a:pt x="1963840" y="31075"/>
                </a:lnTo>
                <a:lnTo>
                  <a:pt x="1952926" y="14922"/>
                </a:lnTo>
                <a:lnTo>
                  <a:pt x="1936773" y="4008"/>
                </a:lnTo>
                <a:lnTo>
                  <a:pt x="1917048" y="0"/>
                </a:lnTo>
                <a:close/>
              </a:path>
            </a:pathLst>
          </a:custGeom>
          <a:solidFill>
            <a:srgbClr val="691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69083" y="937549"/>
            <a:ext cx="1544320" cy="384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z="1200" spc="-55" dirty="0">
                <a:solidFill>
                  <a:srgbClr val="FFFFFF"/>
                </a:solidFill>
                <a:latin typeface="Trebuchet MS"/>
                <a:cs typeface="Trebuchet MS"/>
              </a:rPr>
              <a:t>Programmatic</a:t>
            </a:r>
            <a:r>
              <a:rPr sz="12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Trebuchet MS"/>
                <a:cs typeface="Trebuchet MS"/>
              </a:rPr>
              <a:t>Interfaces </a:t>
            </a:r>
            <a:r>
              <a:rPr sz="1200" spc="-3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rebuchet MS"/>
                <a:cs typeface="Trebuchet MS"/>
              </a:rPr>
              <a:t>(APIs)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30982" y="1329829"/>
            <a:ext cx="1967864" cy="1268095"/>
            <a:chOff x="2330982" y="1329829"/>
            <a:chExt cx="1967864" cy="126809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0983" y="1329829"/>
              <a:ext cx="1967848" cy="506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330982" y="1374094"/>
              <a:ext cx="1967864" cy="1224280"/>
            </a:xfrm>
            <a:custGeom>
              <a:avLst/>
              <a:gdLst/>
              <a:ahLst/>
              <a:cxnLst/>
              <a:rect l="l" t="t" r="r" b="b"/>
              <a:pathLst>
                <a:path w="1967864" h="1224280">
                  <a:moveTo>
                    <a:pt x="1967849" y="0"/>
                  </a:moveTo>
                  <a:lnTo>
                    <a:pt x="0" y="0"/>
                  </a:lnTo>
                  <a:lnTo>
                    <a:pt x="0" y="1173017"/>
                  </a:lnTo>
                  <a:lnTo>
                    <a:pt x="4008" y="1192742"/>
                  </a:lnTo>
                  <a:lnTo>
                    <a:pt x="14922" y="1208895"/>
                  </a:lnTo>
                  <a:lnTo>
                    <a:pt x="31075" y="1219809"/>
                  </a:lnTo>
                  <a:lnTo>
                    <a:pt x="50800" y="1223818"/>
                  </a:lnTo>
                  <a:lnTo>
                    <a:pt x="1917048" y="1223818"/>
                  </a:lnTo>
                  <a:lnTo>
                    <a:pt x="1936773" y="1219809"/>
                  </a:lnTo>
                  <a:lnTo>
                    <a:pt x="1952926" y="1208895"/>
                  </a:lnTo>
                  <a:lnTo>
                    <a:pt x="1963840" y="1192742"/>
                  </a:lnTo>
                  <a:lnTo>
                    <a:pt x="1967849" y="1173017"/>
                  </a:lnTo>
                  <a:lnTo>
                    <a:pt x="1967849" y="0"/>
                  </a:lnTo>
                  <a:close/>
                </a:path>
              </a:pathLst>
            </a:custGeom>
            <a:solidFill>
              <a:srgbClr val="F0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43683" y="1324112"/>
            <a:ext cx="1797050" cy="1196481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sz="1100" spc="-85" dirty="0">
                <a:latin typeface="Microsoft Sans Serif"/>
                <a:cs typeface="Microsoft Sans Serif"/>
              </a:rPr>
              <a:t>Free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and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open-source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(FOSS)</a:t>
            </a:r>
            <a:endParaRPr sz="1100" dirty="0">
              <a:latin typeface="Microsoft Sans Serif"/>
              <a:cs typeface="Microsoft Sans Serif"/>
            </a:endParaRPr>
          </a:p>
          <a:p>
            <a:pPr marL="314960" indent="-139065">
              <a:lnSpc>
                <a:spcPct val="100000"/>
              </a:lnSpc>
              <a:spcBef>
                <a:spcPts val="210"/>
              </a:spcBef>
              <a:buClr>
                <a:srgbClr val="8C2054"/>
              </a:buClr>
              <a:buFont typeface="Arial"/>
              <a:buChar char="•"/>
              <a:tabLst>
                <a:tab pos="315595" algn="l"/>
              </a:tabLst>
            </a:pPr>
            <a:r>
              <a:rPr sz="1100" spc="-30" dirty="0">
                <a:latin typeface="Microsoft Sans Serif"/>
                <a:cs typeface="Microsoft Sans Serif"/>
              </a:rPr>
              <a:t>R</a:t>
            </a:r>
            <a:endParaRPr lang="en-US" sz="1100" spc="-30" dirty="0">
              <a:latin typeface="Microsoft Sans Serif"/>
              <a:cs typeface="Microsoft Sans Serif"/>
            </a:endParaRPr>
          </a:p>
          <a:p>
            <a:pPr marL="314960" indent="-139065">
              <a:lnSpc>
                <a:spcPct val="100000"/>
              </a:lnSpc>
              <a:spcBef>
                <a:spcPts val="210"/>
              </a:spcBef>
              <a:buClr>
                <a:srgbClr val="8C2054"/>
              </a:buClr>
              <a:buFont typeface="Arial"/>
              <a:buChar char="•"/>
              <a:tabLst>
                <a:tab pos="315595" algn="l"/>
              </a:tabLst>
            </a:pPr>
            <a:r>
              <a:rPr sz="1100" spc="-30" dirty="0">
                <a:latin typeface="Microsoft Sans Serif"/>
                <a:cs typeface="Microsoft Sans Serif"/>
              </a:rPr>
              <a:t>Python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(using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libraries)</a:t>
            </a:r>
            <a:endParaRPr lang="en-US" sz="1100" dirty="0">
              <a:latin typeface="Microsoft Sans Serif"/>
              <a:cs typeface="Microsoft Sans Serif"/>
            </a:endParaRPr>
          </a:p>
          <a:p>
            <a:pPr marL="314960" indent="-139065">
              <a:lnSpc>
                <a:spcPct val="100000"/>
              </a:lnSpc>
              <a:spcBef>
                <a:spcPts val="210"/>
              </a:spcBef>
              <a:buClr>
                <a:srgbClr val="8C2054"/>
              </a:buClr>
              <a:buFont typeface="Arial"/>
              <a:buChar char="•"/>
              <a:tabLst>
                <a:tab pos="315595" algn="l"/>
              </a:tabLst>
            </a:pPr>
            <a:r>
              <a:rPr sz="1100" spc="-20" dirty="0">
                <a:latin typeface="Microsoft Sans Serif"/>
                <a:cs typeface="Microsoft Sans Serif"/>
              </a:rPr>
              <a:t>WEKA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APIs</a:t>
            </a:r>
            <a:endParaRPr lang="en-US" sz="1100" spc="-50" dirty="0">
              <a:latin typeface="Microsoft Sans Serif"/>
              <a:cs typeface="Microsoft Sans Serif"/>
            </a:endParaRPr>
          </a:p>
          <a:p>
            <a:pPr marL="57150">
              <a:lnSpc>
                <a:spcPct val="100000"/>
              </a:lnSpc>
              <a:spcBef>
                <a:spcPts val="210"/>
              </a:spcBef>
              <a:buClr>
                <a:srgbClr val="8C2054"/>
              </a:buClr>
              <a:tabLst>
                <a:tab pos="315595" algn="l"/>
              </a:tabLst>
            </a:pPr>
            <a:r>
              <a:rPr sz="1100" spc="-35" dirty="0">
                <a:latin typeface="Microsoft Sans Serif"/>
                <a:cs typeface="Microsoft Sans Serif"/>
              </a:rPr>
              <a:t>Commercial/Proprietary</a:t>
            </a:r>
            <a:endParaRPr sz="1100" dirty="0">
              <a:latin typeface="Microsoft Sans Serif"/>
              <a:cs typeface="Microsoft Sans Serif"/>
            </a:endParaRPr>
          </a:p>
          <a:p>
            <a:pPr marL="314960" indent="-139065">
              <a:lnSpc>
                <a:spcPct val="100000"/>
              </a:lnSpc>
              <a:spcBef>
                <a:spcPts val="335"/>
              </a:spcBef>
              <a:buClr>
                <a:srgbClr val="8C2054"/>
              </a:buClr>
              <a:buFont typeface="Arial"/>
              <a:buChar char="•"/>
              <a:tabLst>
                <a:tab pos="315595" algn="l"/>
              </a:tabLst>
            </a:pPr>
            <a:r>
              <a:rPr sz="1100" spc="-90" dirty="0">
                <a:latin typeface="Microsoft Sans Serif"/>
                <a:cs typeface="Microsoft Sans Serif"/>
              </a:rPr>
              <a:t>SAS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APIs</a:t>
            </a:r>
            <a:endParaRPr sz="1100" dirty="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152004" y="109651"/>
                  </a:lnTo>
                  <a:lnTo>
                    <a:pt x="2304008" y="109651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03995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920024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25" name="object 12">
            <a:extLst>
              <a:ext uri="{FF2B5EF4-FFF2-40B4-BE49-F238E27FC236}">
                <a16:creationId xmlns:a16="http://schemas.microsoft.com/office/drawing/2014/main" id="{36989DC9-9399-D50E-C9D2-884414446BA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612548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27" name="Footer Placeholder 10">
            <a:extLst>
              <a:ext uri="{FF2B5EF4-FFF2-40B4-BE49-F238E27FC236}">
                <a16:creationId xmlns:a16="http://schemas.microsoft.com/office/drawing/2014/main" id="{99F3B2BA-AF7E-26EC-804D-CD6BCC5F6BC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22" name="Slide Number Placeholder 14">
            <a:extLst>
              <a:ext uri="{FF2B5EF4-FFF2-40B4-BE49-F238E27FC236}">
                <a16:creationId xmlns:a16="http://schemas.microsoft.com/office/drawing/2014/main" id="{2DBD8CC1-82CB-F016-5703-45CD57A081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12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29718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Mining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Tools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4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Visual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Comparison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9193" y="1348993"/>
            <a:ext cx="1967864" cy="198755"/>
          </a:xfrm>
          <a:custGeom>
            <a:avLst/>
            <a:gdLst/>
            <a:ahLst/>
            <a:cxnLst/>
            <a:rect l="l" t="t" r="r" b="b"/>
            <a:pathLst>
              <a:path w="1967864" h="198755">
                <a:moveTo>
                  <a:pt x="1917048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1967849" y="198367"/>
                </a:lnTo>
                <a:lnTo>
                  <a:pt x="1967849" y="50800"/>
                </a:lnTo>
                <a:lnTo>
                  <a:pt x="1963840" y="31075"/>
                </a:lnTo>
                <a:lnTo>
                  <a:pt x="1952926" y="14922"/>
                </a:lnTo>
                <a:lnTo>
                  <a:pt x="1936773" y="4008"/>
                </a:lnTo>
                <a:lnTo>
                  <a:pt x="1917048" y="0"/>
                </a:lnTo>
                <a:close/>
              </a:path>
            </a:pathLst>
          </a:custGeom>
          <a:solidFill>
            <a:srgbClr val="691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7294" y="1327998"/>
            <a:ext cx="14516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5" dirty="0">
                <a:solidFill>
                  <a:srgbClr val="FFFFFF"/>
                </a:solidFill>
                <a:latin typeface="Trebuchet MS"/>
                <a:cs typeface="Trebuchet MS"/>
              </a:rPr>
              <a:t>GUI</a:t>
            </a:r>
            <a:r>
              <a:rPr sz="12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rebuchet MS"/>
                <a:cs typeface="Trebuchet MS"/>
              </a:rPr>
              <a:t>Example</a:t>
            </a:r>
            <a:r>
              <a:rPr sz="12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2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Trebuchet MS"/>
                <a:cs typeface="Trebuchet MS"/>
              </a:rPr>
              <a:t>KNIME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9193" y="1534706"/>
            <a:ext cx="1967864" cy="1134745"/>
            <a:chOff x="309193" y="1534706"/>
            <a:chExt cx="1967864" cy="113474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1534706"/>
              <a:ext cx="1967848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193" y="1578977"/>
              <a:ext cx="1967864" cy="1090295"/>
            </a:xfrm>
            <a:custGeom>
              <a:avLst/>
              <a:gdLst/>
              <a:ahLst/>
              <a:cxnLst/>
              <a:rect l="l" t="t" r="r" b="b"/>
              <a:pathLst>
                <a:path w="1967864" h="1090295">
                  <a:moveTo>
                    <a:pt x="1967849" y="0"/>
                  </a:moveTo>
                  <a:lnTo>
                    <a:pt x="0" y="0"/>
                  </a:lnTo>
                  <a:lnTo>
                    <a:pt x="0" y="1039496"/>
                  </a:lnTo>
                  <a:lnTo>
                    <a:pt x="4008" y="1059221"/>
                  </a:lnTo>
                  <a:lnTo>
                    <a:pt x="14922" y="1075373"/>
                  </a:lnTo>
                  <a:lnTo>
                    <a:pt x="31075" y="1086288"/>
                  </a:lnTo>
                  <a:lnTo>
                    <a:pt x="50800" y="1090296"/>
                  </a:lnTo>
                  <a:lnTo>
                    <a:pt x="1917048" y="1090296"/>
                  </a:lnTo>
                  <a:lnTo>
                    <a:pt x="1936773" y="1086288"/>
                  </a:lnTo>
                  <a:lnTo>
                    <a:pt x="1952926" y="1075373"/>
                  </a:lnTo>
                  <a:lnTo>
                    <a:pt x="1963840" y="1059221"/>
                  </a:lnTo>
                  <a:lnTo>
                    <a:pt x="1967849" y="1039496"/>
                  </a:lnTo>
                  <a:lnTo>
                    <a:pt x="1967849" y="0"/>
                  </a:lnTo>
                  <a:close/>
                </a:path>
              </a:pathLst>
            </a:custGeom>
            <a:solidFill>
              <a:srgbClr val="F0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1604294"/>
              <a:ext cx="1866156" cy="1020554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2330970" y="1348993"/>
            <a:ext cx="1967864" cy="198755"/>
          </a:xfrm>
          <a:custGeom>
            <a:avLst/>
            <a:gdLst/>
            <a:ahLst/>
            <a:cxnLst/>
            <a:rect l="l" t="t" r="r" b="b"/>
            <a:pathLst>
              <a:path w="1967864" h="198755">
                <a:moveTo>
                  <a:pt x="1917048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1967849" y="198367"/>
                </a:lnTo>
                <a:lnTo>
                  <a:pt x="1967849" y="50800"/>
                </a:lnTo>
                <a:lnTo>
                  <a:pt x="1963840" y="31075"/>
                </a:lnTo>
                <a:lnTo>
                  <a:pt x="1952926" y="14922"/>
                </a:lnTo>
                <a:lnTo>
                  <a:pt x="1936773" y="4008"/>
                </a:lnTo>
                <a:lnTo>
                  <a:pt x="1917048" y="0"/>
                </a:lnTo>
                <a:close/>
              </a:path>
            </a:pathLst>
          </a:custGeom>
          <a:solidFill>
            <a:srgbClr val="691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69083" y="1327998"/>
            <a:ext cx="14224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40" dirty="0">
                <a:solidFill>
                  <a:srgbClr val="FFFFFF"/>
                </a:solidFill>
                <a:latin typeface="Trebuchet MS"/>
                <a:cs typeface="Trebuchet MS"/>
              </a:rPr>
              <a:t>API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rebuchet MS"/>
                <a:cs typeface="Trebuchet MS"/>
              </a:rPr>
              <a:t>Example</a:t>
            </a:r>
            <a:r>
              <a:rPr sz="12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2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30982" y="1534706"/>
            <a:ext cx="1967864" cy="1078230"/>
            <a:chOff x="2330982" y="1534706"/>
            <a:chExt cx="1967864" cy="107823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0983" y="1534706"/>
              <a:ext cx="1967848" cy="506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330982" y="1578984"/>
              <a:ext cx="1967864" cy="1033780"/>
            </a:xfrm>
            <a:custGeom>
              <a:avLst/>
              <a:gdLst/>
              <a:ahLst/>
              <a:cxnLst/>
              <a:rect l="l" t="t" r="r" b="b"/>
              <a:pathLst>
                <a:path w="1967864" h="1033780">
                  <a:moveTo>
                    <a:pt x="1967849" y="0"/>
                  </a:moveTo>
                  <a:lnTo>
                    <a:pt x="0" y="0"/>
                  </a:lnTo>
                  <a:lnTo>
                    <a:pt x="0" y="982974"/>
                  </a:lnTo>
                  <a:lnTo>
                    <a:pt x="4008" y="1002699"/>
                  </a:lnTo>
                  <a:lnTo>
                    <a:pt x="14922" y="1018851"/>
                  </a:lnTo>
                  <a:lnTo>
                    <a:pt x="31075" y="1029766"/>
                  </a:lnTo>
                  <a:lnTo>
                    <a:pt x="50800" y="1033774"/>
                  </a:lnTo>
                  <a:lnTo>
                    <a:pt x="1917048" y="1033774"/>
                  </a:lnTo>
                  <a:lnTo>
                    <a:pt x="1936773" y="1029766"/>
                  </a:lnTo>
                  <a:lnTo>
                    <a:pt x="1952926" y="1018851"/>
                  </a:lnTo>
                  <a:lnTo>
                    <a:pt x="1963840" y="1002699"/>
                  </a:lnTo>
                  <a:lnTo>
                    <a:pt x="1967849" y="982974"/>
                  </a:lnTo>
                  <a:lnTo>
                    <a:pt x="1967849" y="0"/>
                  </a:lnTo>
                  <a:close/>
                </a:path>
              </a:pathLst>
            </a:custGeom>
            <a:solidFill>
              <a:srgbClr val="F0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81783" y="1604290"/>
              <a:ext cx="1866233" cy="964042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152004" y="109651"/>
                  </a:lnTo>
                  <a:lnTo>
                    <a:pt x="2304008" y="109651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03995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920024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25" name="object 12">
            <a:extLst>
              <a:ext uri="{FF2B5EF4-FFF2-40B4-BE49-F238E27FC236}">
                <a16:creationId xmlns:a16="http://schemas.microsoft.com/office/drawing/2014/main" id="{8CADDEF2-8C31-11CC-6DC4-CEC5E1D104F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27" name="Footer Placeholder 10">
            <a:extLst>
              <a:ext uri="{FF2B5EF4-FFF2-40B4-BE49-F238E27FC236}">
                <a16:creationId xmlns:a16="http://schemas.microsoft.com/office/drawing/2014/main" id="{BF90A8D8-3F92-DB79-E167-80DB916EADB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22" name="Slide Number Placeholder 14">
            <a:extLst>
              <a:ext uri="{FF2B5EF4-FFF2-40B4-BE49-F238E27FC236}">
                <a16:creationId xmlns:a16="http://schemas.microsoft.com/office/drawing/2014/main" id="{8517BF94-D4C0-6892-D4DE-E6EB810AB2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13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30365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Tool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throughout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tutorials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294" y="1656840"/>
            <a:ext cx="23145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Microsoft Sans Serif"/>
                <a:cs typeface="Microsoft Sans Serif"/>
              </a:rPr>
              <a:t>In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this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course,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85" dirty="0">
                <a:latin typeface="Microsoft Sans Serif"/>
                <a:cs typeface="Microsoft Sans Serif"/>
              </a:rPr>
              <a:t>w</a:t>
            </a:r>
            <a:r>
              <a:rPr sz="1100" spc="-15" dirty="0">
                <a:latin typeface="Microsoft Sans Serif"/>
                <a:cs typeface="Microsoft Sans Serif"/>
              </a:rPr>
              <a:t>e’ll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b</a:t>
            </a:r>
            <a:r>
              <a:rPr sz="1100" spc="-130" dirty="0">
                <a:latin typeface="Microsoft Sans Serif"/>
                <a:cs typeface="Microsoft Sans Serif"/>
              </a:rPr>
              <a:t>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using.</a:t>
            </a:r>
            <a:r>
              <a:rPr sz="1100" spc="-114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.</a:t>
            </a:r>
            <a:r>
              <a:rPr sz="1100" spc="-1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.</a:t>
            </a:r>
            <a:r>
              <a:rPr sz="1100" spc="-1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Python!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152004" y="109639"/>
                  </a:lnTo>
                  <a:lnTo>
                    <a:pt x="2304008" y="109639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920024" y="109639"/>
                  </a:lnTo>
                  <a:lnTo>
                    <a:pt x="2303996" y="109639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39913DCB-D379-EB2F-3FA0-10B58EFAC34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30A82B7F-BC5B-36FA-965F-5D84DB0221C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21F9246D-A670-B0BE-9016-AC2A645453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14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10420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>Why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Python?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594" y="815975"/>
            <a:ext cx="3934460" cy="2210476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02260" indent="-139065">
              <a:lnSpc>
                <a:spcPct val="100000"/>
              </a:lnSpc>
              <a:spcBef>
                <a:spcPts val="434"/>
              </a:spcBef>
              <a:buClr>
                <a:srgbClr val="8C2054"/>
              </a:buClr>
              <a:buFont typeface="Arial"/>
              <a:buChar char="•"/>
              <a:tabLst>
                <a:tab pos="302895" algn="l"/>
              </a:tabLst>
            </a:pPr>
            <a:r>
              <a:rPr sz="1100" spc="-30" dirty="0">
                <a:latin typeface="Microsoft Sans Serif"/>
                <a:cs typeface="Microsoft Sans Serif"/>
              </a:rPr>
              <a:t>Highly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requested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in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job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qualifications</a:t>
            </a:r>
            <a:endParaRPr sz="1100" dirty="0">
              <a:latin typeface="Microsoft Sans Serif"/>
              <a:cs typeface="Microsoft Sans Serif"/>
            </a:endParaRPr>
          </a:p>
          <a:p>
            <a:pPr marL="302260" indent="-139065">
              <a:lnSpc>
                <a:spcPct val="100000"/>
              </a:lnSpc>
              <a:spcBef>
                <a:spcPts val="334"/>
              </a:spcBef>
              <a:buClr>
                <a:srgbClr val="8C2054"/>
              </a:buClr>
              <a:buFont typeface="Arial"/>
              <a:buChar char="•"/>
              <a:tabLst>
                <a:tab pos="302895" algn="l"/>
              </a:tabLst>
            </a:pPr>
            <a:r>
              <a:rPr sz="1100" spc="-40" dirty="0">
                <a:latin typeface="Microsoft Sans Serif"/>
                <a:cs typeface="Microsoft Sans Serif"/>
              </a:rPr>
              <a:t>Familiar</a:t>
            </a:r>
            <a:r>
              <a:rPr lang="en-US" sz="1100" spc="55" dirty="0">
                <a:latin typeface="Microsoft Sans Serif"/>
                <a:cs typeface="Microsoft Sans Serif"/>
              </a:rPr>
              <a:t> </a:t>
            </a:r>
            <a:r>
              <a:rPr lang="en-US" sz="1100" spc="-25" dirty="0">
                <a:latin typeface="Microsoft Sans Serif"/>
                <a:cs typeface="Microsoft Sans Serif"/>
              </a:rPr>
              <a:t>from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spc="-85" dirty="0">
                <a:latin typeface="Microsoft Sans Serif"/>
                <a:cs typeface="Microsoft Sans Serif"/>
              </a:rPr>
              <a:t>CSEN102</a:t>
            </a:r>
            <a:endParaRPr sz="1100" dirty="0">
              <a:latin typeface="Microsoft Sans Serif"/>
              <a:cs typeface="Microsoft Sans Serif"/>
            </a:endParaRPr>
          </a:p>
          <a:p>
            <a:pPr marL="302260" indent="-139065">
              <a:lnSpc>
                <a:spcPct val="100000"/>
              </a:lnSpc>
              <a:spcBef>
                <a:spcPts val="330"/>
              </a:spcBef>
              <a:buClr>
                <a:srgbClr val="8C2054"/>
              </a:buClr>
              <a:buFont typeface="Arial"/>
              <a:buChar char="•"/>
              <a:tabLst>
                <a:tab pos="302895" algn="l"/>
              </a:tabLst>
            </a:pPr>
            <a:r>
              <a:rPr sz="1100" spc="-50" dirty="0">
                <a:latin typeface="Microsoft Sans Serif"/>
                <a:cs typeface="Microsoft Sans Serif"/>
              </a:rPr>
              <a:t>Easy-to-learn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and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highly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readable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language</a:t>
            </a:r>
            <a:endParaRPr sz="1100" dirty="0">
              <a:latin typeface="Microsoft Sans Serif"/>
              <a:cs typeface="Microsoft Sans Serif"/>
            </a:endParaRPr>
          </a:p>
          <a:p>
            <a:pPr marL="302260" indent="-139065">
              <a:lnSpc>
                <a:spcPct val="100000"/>
              </a:lnSpc>
              <a:spcBef>
                <a:spcPts val="335"/>
              </a:spcBef>
              <a:buClr>
                <a:srgbClr val="8C2054"/>
              </a:buClr>
              <a:buFont typeface="Arial"/>
              <a:buChar char="•"/>
              <a:tabLst>
                <a:tab pos="302895" algn="l"/>
              </a:tabLst>
            </a:pPr>
            <a:r>
              <a:rPr sz="1100" spc="-70" dirty="0">
                <a:latin typeface="Microsoft Sans Serif"/>
                <a:cs typeface="Microsoft Sans Serif"/>
              </a:rPr>
              <a:t>General-purpose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programming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language</a:t>
            </a:r>
            <a:endParaRPr sz="1100" dirty="0">
              <a:latin typeface="Microsoft Sans Serif"/>
              <a:cs typeface="Microsoft Sans Serif"/>
            </a:endParaRPr>
          </a:p>
          <a:p>
            <a:pPr marL="302260" marR="299720" indent="-139065">
              <a:lnSpc>
                <a:spcPct val="102600"/>
              </a:lnSpc>
              <a:spcBef>
                <a:spcPts val="300"/>
              </a:spcBef>
              <a:buClr>
                <a:srgbClr val="8C2054"/>
              </a:buClr>
              <a:buFont typeface="Arial"/>
              <a:buChar char="•"/>
              <a:tabLst>
                <a:tab pos="302895" algn="l"/>
              </a:tabLst>
            </a:pPr>
            <a:r>
              <a:rPr sz="1100" spc="-50" dirty="0">
                <a:latin typeface="Microsoft Sans Serif"/>
                <a:cs typeface="Microsoft Sans Serif"/>
              </a:rPr>
              <a:t>Rich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and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mature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library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ecosystem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for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data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80" dirty="0">
                <a:latin typeface="Microsoft Sans Serif"/>
                <a:cs typeface="Microsoft Sans Serif"/>
              </a:rPr>
              <a:t>science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tasks;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large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community</a:t>
            </a:r>
            <a:endParaRPr sz="1100" dirty="0">
              <a:latin typeface="Microsoft Sans Serif"/>
              <a:cs typeface="Microsoft Sans Serif"/>
            </a:endParaRPr>
          </a:p>
          <a:p>
            <a:pPr marL="302260" marR="231140" indent="-139065">
              <a:lnSpc>
                <a:spcPct val="102600"/>
              </a:lnSpc>
              <a:spcBef>
                <a:spcPts val="300"/>
              </a:spcBef>
              <a:buClr>
                <a:srgbClr val="8C2054"/>
              </a:buClr>
              <a:buFont typeface="Arial"/>
              <a:buChar char="•"/>
              <a:tabLst>
                <a:tab pos="302895" algn="l"/>
              </a:tabLst>
            </a:pPr>
            <a:r>
              <a:rPr sz="1100" spc="-45" dirty="0">
                <a:latin typeface="Microsoft Sans Serif"/>
                <a:cs typeface="Microsoft Sans Serif"/>
              </a:rPr>
              <a:t>Also:</a:t>
            </a:r>
            <a:r>
              <a:rPr sz="1100" spc="18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cutting-edge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45" dirty="0">
                <a:latin typeface="Microsoft Sans Serif"/>
                <a:cs typeface="Microsoft Sans Serif"/>
              </a:rPr>
              <a:t>ML/DL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models;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text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mining,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sentiment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analysis;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big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data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analytics,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85" dirty="0">
                <a:latin typeface="Microsoft Sans Serif"/>
                <a:cs typeface="Microsoft Sans Serif"/>
              </a:rPr>
              <a:t>process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mining</a:t>
            </a:r>
            <a:endParaRPr lang="en-US" sz="1100" spc="-35" dirty="0">
              <a:latin typeface="Microsoft Sans Serif"/>
              <a:cs typeface="Microsoft Sans Serif"/>
            </a:endParaRPr>
          </a:p>
          <a:p>
            <a:pPr marL="163195" marR="231140">
              <a:lnSpc>
                <a:spcPct val="102600"/>
              </a:lnSpc>
              <a:spcBef>
                <a:spcPts val="300"/>
              </a:spcBef>
              <a:buClr>
                <a:srgbClr val="8C2054"/>
              </a:buClr>
              <a:tabLst>
                <a:tab pos="302895" algn="l"/>
              </a:tabLst>
            </a:pPr>
            <a:endParaRPr sz="1100" dirty="0">
              <a:latin typeface="Microsoft Sans Serif"/>
              <a:cs typeface="Microsoft Sans Serif"/>
            </a:endParaRPr>
          </a:p>
          <a:p>
            <a:pPr marL="25400" marR="17780">
              <a:lnSpc>
                <a:spcPct val="102600"/>
              </a:lnSpc>
              <a:spcBef>
                <a:spcPts val="300"/>
              </a:spcBef>
            </a:pPr>
            <a:r>
              <a:rPr sz="1100" spc="5" dirty="0">
                <a:latin typeface="Microsoft Sans Serif"/>
                <a:cs typeface="Microsoft Sans Serif"/>
              </a:rPr>
              <a:t>That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said,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the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tool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is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just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90" dirty="0">
                <a:latin typeface="Microsoft Sans Serif"/>
                <a:cs typeface="Microsoft Sans Serif"/>
              </a:rPr>
              <a:t>a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90" dirty="0">
                <a:latin typeface="Microsoft Sans Serif"/>
                <a:cs typeface="Microsoft Sans Serif"/>
              </a:rPr>
              <a:t>means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10" dirty="0">
                <a:latin typeface="Microsoft Sans Serif"/>
                <a:cs typeface="Microsoft Sans Serif"/>
              </a:rPr>
              <a:t>to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an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end.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The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85" dirty="0">
                <a:latin typeface="Microsoft Sans Serif"/>
                <a:cs typeface="Microsoft Sans Serif"/>
              </a:rPr>
              <a:t>process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pipeline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is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much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more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important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than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the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5" dirty="0">
                <a:latin typeface="Microsoft Sans Serif"/>
                <a:cs typeface="Microsoft Sans Serif"/>
              </a:rPr>
              <a:t>tool!</a:t>
            </a:r>
            <a:endParaRPr sz="1100" dirty="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151991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151991" y="109639"/>
                  </a:lnTo>
                  <a:lnTo>
                    <a:pt x="2303996" y="109639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83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920024" y="109639"/>
                  </a:lnTo>
                  <a:lnTo>
                    <a:pt x="2303996" y="109639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947ED78A-0326-FE77-B91E-DECBC75E064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4ACDEEE6-D7F7-1EE9-D688-8FA6D61330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E08F27AE-6B48-8301-9CDF-795B7FDB25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15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09193" y="766724"/>
            <a:ext cx="3989704" cy="1601470"/>
            <a:chOff x="309193" y="766724"/>
            <a:chExt cx="3989704" cy="1601470"/>
          </a:xfrm>
        </p:grpSpPr>
        <p:sp>
          <p:nvSpPr>
            <p:cNvPr id="7" name="object 7"/>
            <p:cNvSpPr/>
            <p:nvPr/>
          </p:nvSpPr>
          <p:spPr>
            <a:xfrm>
              <a:off x="309193" y="766724"/>
              <a:ext cx="3989704" cy="187960"/>
            </a:xfrm>
            <a:custGeom>
              <a:avLst/>
              <a:gdLst/>
              <a:ahLst/>
              <a:cxnLst/>
              <a:rect l="l" t="t" r="r" b="b"/>
              <a:pathLst>
                <a:path w="3989704" h="187959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3989652" y="187823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6918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941895"/>
              <a:ext cx="3989651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9193" y="986165"/>
              <a:ext cx="3989704" cy="1382395"/>
            </a:xfrm>
            <a:custGeom>
              <a:avLst/>
              <a:gdLst/>
              <a:ahLst/>
              <a:cxnLst/>
              <a:rect l="l" t="t" r="r" b="b"/>
              <a:pathLst>
                <a:path w="3989704" h="1382395">
                  <a:moveTo>
                    <a:pt x="3989652" y="0"/>
                  </a:moveTo>
                  <a:lnTo>
                    <a:pt x="0" y="0"/>
                  </a:lnTo>
                  <a:lnTo>
                    <a:pt x="0" y="1331229"/>
                  </a:lnTo>
                  <a:lnTo>
                    <a:pt x="4008" y="1350953"/>
                  </a:lnTo>
                  <a:lnTo>
                    <a:pt x="14922" y="1367106"/>
                  </a:lnTo>
                  <a:lnTo>
                    <a:pt x="31075" y="1378021"/>
                  </a:lnTo>
                  <a:lnTo>
                    <a:pt x="50800" y="1382029"/>
                  </a:lnTo>
                  <a:lnTo>
                    <a:pt x="3938852" y="1382029"/>
                  </a:lnTo>
                  <a:lnTo>
                    <a:pt x="3958576" y="1378021"/>
                  </a:lnTo>
                  <a:lnTo>
                    <a:pt x="3974729" y="1367106"/>
                  </a:lnTo>
                  <a:lnTo>
                    <a:pt x="3985644" y="1350953"/>
                  </a:lnTo>
                  <a:lnTo>
                    <a:pt x="3989652" y="133122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0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7218" y="364347"/>
            <a:ext cx="4030979" cy="19888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Comparison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Java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 dirty="0">
              <a:latin typeface="Trebuchet MS"/>
              <a:cs typeface="Trebuchet MS"/>
            </a:endParaRPr>
          </a:p>
          <a:p>
            <a:pPr marL="162560">
              <a:lnSpc>
                <a:spcPct val="100000"/>
              </a:lnSpc>
            </a:pPr>
            <a:r>
              <a:rPr sz="1200" spc="-55" dirty="0">
                <a:solidFill>
                  <a:srgbClr val="FFFFFF"/>
                </a:solidFill>
                <a:latin typeface="Trebuchet MS"/>
                <a:cs typeface="Trebuchet MS"/>
              </a:rPr>
              <a:t>Java</a:t>
            </a:r>
            <a:endParaRPr sz="1200" dirty="0">
              <a:latin typeface="Trebuchet MS"/>
              <a:cs typeface="Trebuchet MS"/>
            </a:endParaRPr>
          </a:p>
          <a:p>
            <a:pPr marL="162560">
              <a:lnSpc>
                <a:spcPct val="100000"/>
              </a:lnSpc>
              <a:spcBef>
                <a:spcPts val="215"/>
              </a:spcBef>
            </a:pPr>
            <a:r>
              <a:rPr sz="1100" spc="20" dirty="0">
                <a:solidFill>
                  <a:srgbClr val="007F00"/>
                </a:solidFill>
                <a:latin typeface="SimSun"/>
                <a:cs typeface="SimSun"/>
              </a:rPr>
              <a:t>public</a:t>
            </a:r>
            <a:r>
              <a:rPr sz="1100" dirty="0">
                <a:solidFill>
                  <a:srgbClr val="007F00"/>
                </a:solidFill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007F00"/>
                </a:solidFill>
                <a:latin typeface="SimSun"/>
                <a:cs typeface="SimSun"/>
              </a:rPr>
              <a:t>class</a:t>
            </a:r>
            <a:r>
              <a:rPr sz="1100" spc="5" dirty="0">
                <a:solidFill>
                  <a:srgbClr val="007F00"/>
                </a:solidFill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0000FF"/>
                </a:solidFill>
                <a:latin typeface="SimSun"/>
                <a:cs typeface="SimSun"/>
              </a:rPr>
              <a:t>Test</a:t>
            </a:r>
            <a:r>
              <a:rPr sz="1100" spc="5" dirty="0">
                <a:solidFill>
                  <a:srgbClr val="0000FF"/>
                </a:solidFill>
                <a:latin typeface="SimSun"/>
                <a:cs typeface="SimSun"/>
              </a:rPr>
              <a:t> </a:t>
            </a:r>
            <a:r>
              <a:rPr sz="1100" spc="20" dirty="0">
                <a:latin typeface="SimSun"/>
                <a:cs typeface="SimSun"/>
              </a:rPr>
              <a:t>{</a:t>
            </a:r>
            <a:endParaRPr sz="1100" dirty="0">
              <a:latin typeface="SimSun"/>
              <a:cs typeface="SimSun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solidFill>
                  <a:srgbClr val="007F00"/>
                </a:solidFill>
                <a:latin typeface="SimSun"/>
                <a:cs typeface="SimSun"/>
              </a:rPr>
              <a:t>public</a:t>
            </a:r>
            <a:r>
              <a:rPr sz="1100" spc="15" dirty="0">
                <a:solidFill>
                  <a:srgbClr val="007F00"/>
                </a:solidFill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007F00"/>
                </a:solidFill>
                <a:latin typeface="SimSun"/>
                <a:cs typeface="SimSun"/>
              </a:rPr>
              <a:t>static </a:t>
            </a:r>
            <a:r>
              <a:rPr sz="1100" spc="20" dirty="0">
                <a:solidFill>
                  <a:srgbClr val="AF003F"/>
                </a:solidFill>
                <a:latin typeface="SimSun"/>
                <a:cs typeface="SimSun"/>
              </a:rPr>
              <a:t>void </a:t>
            </a:r>
            <a:r>
              <a:rPr sz="1100" spc="20" dirty="0">
                <a:solidFill>
                  <a:srgbClr val="0000FF"/>
                </a:solidFill>
                <a:latin typeface="SimSun"/>
                <a:cs typeface="SimSun"/>
              </a:rPr>
              <a:t>main</a:t>
            </a:r>
            <a:r>
              <a:rPr sz="1100" spc="20" dirty="0">
                <a:latin typeface="SimSun"/>
                <a:cs typeface="SimSun"/>
              </a:rPr>
              <a:t>(String args</a:t>
            </a:r>
            <a:r>
              <a:rPr sz="1100" spc="20" dirty="0">
                <a:solidFill>
                  <a:srgbClr val="666666"/>
                </a:solidFill>
                <a:latin typeface="SimSun"/>
                <a:cs typeface="SimSun"/>
              </a:rPr>
              <a:t>[]</a:t>
            </a:r>
            <a:r>
              <a:rPr sz="1100" spc="20" dirty="0">
                <a:latin typeface="SimSun"/>
                <a:cs typeface="SimSun"/>
              </a:rPr>
              <a:t>) {</a:t>
            </a:r>
            <a:endParaRPr sz="1100" dirty="0">
              <a:latin typeface="SimSun"/>
              <a:cs typeface="SimSun"/>
            </a:endParaRPr>
          </a:p>
          <a:p>
            <a:pPr marL="453390" marR="5080">
              <a:lnSpc>
                <a:spcPct val="102699"/>
              </a:lnSpc>
            </a:pPr>
            <a:r>
              <a:rPr sz="1100" spc="20" dirty="0">
                <a:latin typeface="SimSun"/>
                <a:cs typeface="SimSun"/>
              </a:rPr>
              <a:t>String planets</a:t>
            </a:r>
            <a:r>
              <a:rPr sz="1100" spc="20" dirty="0">
                <a:solidFill>
                  <a:srgbClr val="666666"/>
                </a:solidFill>
                <a:latin typeface="SimSun"/>
                <a:cs typeface="SimSun"/>
              </a:rPr>
              <a:t>[]</a:t>
            </a:r>
            <a:r>
              <a:rPr sz="1100" spc="25" dirty="0">
                <a:solidFill>
                  <a:srgbClr val="666666"/>
                </a:solidFill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SimSun"/>
                <a:cs typeface="SimSun"/>
              </a:rPr>
              <a:t>=</a:t>
            </a:r>
            <a:r>
              <a:rPr sz="1100" spc="25" dirty="0">
                <a:solidFill>
                  <a:srgbClr val="666666"/>
                </a:solidFill>
                <a:latin typeface="SimSun"/>
                <a:cs typeface="SimSun"/>
              </a:rPr>
              <a:t> </a:t>
            </a:r>
            <a:r>
              <a:rPr sz="1100" spc="20" dirty="0">
                <a:latin typeface="SimSun"/>
                <a:cs typeface="SimSun"/>
              </a:rPr>
              <a:t>{</a:t>
            </a:r>
            <a:r>
              <a:rPr sz="1100" spc="20" dirty="0">
                <a:solidFill>
                  <a:srgbClr val="BA2121"/>
                </a:solidFill>
                <a:latin typeface="SimSun"/>
                <a:cs typeface="SimSun"/>
              </a:rPr>
              <a:t>"Mercury"</a:t>
            </a:r>
            <a:r>
              <a:rPr sz="1100" spc="20" dirty="0">
                <a:latin typeface="SimSun"/>
                <a:cs typeface="SimSun"/>
              </a:rPr>
              <a:t>,</a:t>
            </a:r>
            <a:r>
              <a:rPr sz="1100" spc="25" dirty="0"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BA2121"/>
                </a:solidFill>
                <a:latin typeface="SimSun"/>
                <a:cs typeface="SimSun"/>
              </a:rPr>
              <a:t>"Venus"</a:t>
            </a:r>
            <a:r>
              <a:rPr sz="1100" spc="20" dirty="0">
                <a:latin typeface="SimSun"/>
                <a:cs typeface="SimSun"/>
              </a:rPr>
              <a:t>, </a:t>
            </a:r>
            <a:r>
              <a:rPr sz="1100" spc="20" dirty="0">
                <a:solidFill>
                  <a:srgbClr val="BA2121"/>
                </a:solidFill>
                <a:latin typeface="SimSun"/>
                <a:cs typeface="SimSun"/>
              </a:rPr>
              <a:t>"Earth"</a:t>
            </a:r>
            <a:r>
              <a:rPr sz="1100" spc="20" dirty="0">
                <a:latin typeface="SimSun"/>
                <a:cs typeface="SimSun"/>
              </a:rPr>
              <a:t>}; </a:t>
            </a:r>
            <a:r>
              <a:rPr sz="1100" spc="-535" dirty="0"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007F00"/>
                </a:solidFill>
                <a:latin typeface="SimSun"/>
                <a:cs typeface="SimSun"/>
              </a:rPr>
              <a:t>for</a:t>
            </a:r>
            <a:r>
              <a:rPr sz="1100" spc="15" dirty="0">
                <a:solidFill>
                  <a:srgbClr val="007F00"/>
                </a:solidFill>
                <a:latin typeface="SimSun"/>
                <a:cs typeface="SimSun"/>
              </a:rPr>
              <a:t> </a:t>
            </a:r>
            <a:r>
              <a:rPr sz="1100" spc="20" dirty="0">
                <a:latin typeface="SimSun"/>
                <a:cs typeface="SimSun"/>
              </a:rPr>
              <a:t>(String planet : planets)</a:t>
            </a:r>
            <a:r>
              <a:rPr sz="1100" spc="15" dirty="0">
                <a:latin typeface="SimSun"/>
                <a:cs typeface="SimSun"/>
              </a:rPr>
              <a:t> </a:t>
            </a:r>
            <a:r>
              <a:rPr sz="1100" spc="20" dirty="0">
                <a:latin typeface="SimSun"/>
                <a:cs typeface="SimSun"/>
              </a:rPr>
              <a:t>{</a:t>
            </a:r>
            <a:endParaRPr sz="1100" dirty="0">
              <a:latin typeface="SimSun"/>
              <a:cs typeface="SimSun"/>
            </a:endParaRPr>
          </a:p>
          <a:p>
            <a:pPr marL="598805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SimSun"/>
                <a:cs typeface="SimSun"/>
              </a:rPr>
              <a:t>System.</a:t>
            </a:r>
            <a:r>
              <a:rPr sz="1100" spc="20" dirty="0">
                <a:solidFill>
                  <a:srgbClr val="7C8E28"/>
                </a:solidFill>
                <a:latin typeface="SimSun"/>
                <a:cs typeface="SimSun"/>
              </a:rPr>
              <a:t>out</a:t>
            </a:r>
            <a:r>
              <a:rPr sz="1100" spc="20" dirty="0">
                <a:latin typeface="SimSun"/>
                <a:cs typeface="SimSun"/>
              </a:rPr>
              <a:t>.</a:t>
            </a:r>
            <a:r>
              <a:rPr sz="1100" spc="20" dirty="0">
                <a:solidFill>
                  <a:srgbClr val="7C8E28"/>
                </a:solidFill>
                <a:latin typeface="SimSun"/>
                <a:cs typeface="SimSun"/>
              </a:rPr>
              <a:t>println</a:t>
            </a:r>
            <a:r>
              <a:rPr sz="1100" spc="20" dirty="0">
                <a:latin typeface="SimSun"/>
                <a:cs typeface="SimSun"/>
              </a:rPr>
              <a:t>(planet);</a:t>
            </a:r>
            <a:endParaRPr sz="1100" dirty="0">
              <a:latin typeface="SimSun"/>
              <a:cs typeface="SimSun"/>
            </a:endParaRPr>
          </a:p>
          <a:p>
            <a:pPr marL="453390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SimSun"/>
                <a:cs typeface="SimSun"/>
              </a:rPr>
              <a:t>}</a:t>
            </a:r>
            <a:endParaRPr sz="1100" dirty="0">
              <a:latin typeface="SimSun"/>
              <a:cs typeface="SimSun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SimSun"/>
                <a:cs typeface="SimSun"/>
              </a:rPr>
              <a:t>}</a:t>
            </a:r>
            <a:endParaRPr sz="1100" dirty="0">
              <a:latin typeface="SimSun"/>
              <a:cs typeface="SimSun"/>
            </a:endParaRPr>
          </a:p>
          <a:p>
            <a:pPr marL="162560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SimSun"/>
                <a:cs typeface="SimSun"/>
              </a:rPr>
              <a:t>}</a:t>
            </a:r>
            <a:endParaRPr sz="1100" dirty="0">
              <a:latin typeface="SimSun"/>
              <a:cs typeface="SimSu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152004" y="109639"/>
                  </a:lnTo>
                  <a:lnTo>
                    <a:pt x="2304008" y="109639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920024" y="109639"/>
                  </a:lnTo>
                  <a:lnTo>
                    <a:pt x="2303996" y="109639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06B3B240-2CF5-C96A-2CFA-737D3B6E965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18" name="Footer Placeholder 10">
            <a:extLst>
              <a:ext uri="{FF2B5EF4-FFF2-40B4-BE49-F238E27FC236}">
                <a16:creationId xmlns:a16="http://schemas.microsoft.com/office/drawing/2014/main" id="{148FFA3C-88F4-92C4-AEB6-6C3F27FF69B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4" name="Slide Number Placeholder 14">
            <a:extLst>
              <a:ext uri="{FF2B5EF4-FFF2-40B4-BE49-F238E27FC236}">
                <a16:creationId xmlns:a16="http://schemas.microsoft.com/office/drawing/2014/main" id="{4207B55F-DBCD-1380-C379-08C19B64E4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16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09193" y="766724"/>
            <a:ext cx="3989704" cy="1601470"/>
            <a:chOff x="309193" y="766724"/>
            <a:chExt cx="3989704" cy="1601470"/>
          </a:xfrm>
        </p:grpSpPr>
        <p:sp>
          <p:nvSpPr>
            <p:cNvPr id="7" name="object 7"/>
            <p:cNvSpPr/>
            <p:nvPr/>
          </p:nvSpPr>
          <p:spPr>
            <a:xfrm>
              <a:off x="309193" y="766724"/>
              <a:ext cx="3989704" cy="187960"/>
            </a:xfrm>
            <a:custGeom>
              <a:avLst/>
              <a:gdLst/>
              <a:ahLst/>
              <a:cxnLst/>
              <a:rect l="l" t="t" r="r" b="b"/>
              <a:pathLst>
                <a:path w="3989704" h="187959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3989652" y="187823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6918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941895"/>
              <a:ext cx="3989651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9193" y="986165"/>
              <a:ext cx="3989704" cy="1382395"/>
            </a:xfrm>
            <a:custGeom>
              <a:avLst/>
              <a:gdLst/>
              <a:ahLst/>
              <a:cxnLst/>
              <a:rect l="l" t="t" r="r" b="b"/>
              <a:pathLst>
                <a:path w="3989704" h="1382395">
                  <a:moveTo>
                    <a:pt x="3989652" y="0"/>
                  </a:moveTo>
                  <a:lnTo>
                    <a:pt x="0" y="0"/>
                  </a:lnTo>
                  <a:lnTo>
                    <a:pt x="0" y="1331229"/>
                  </a:lnTo>
                  <a:lnTo>
                    <a:pt x="4008" y="1350953"/>
                  </a:lnTo>
                  <a:lnTo>
                    <a:pt x="14922" y="1367106"/>
                  </a:lnTo>
                  <a:lnTo>
                    <a:pt x="31075" y="1378021"/>
                  </a:lnTo>
                  <a:lnTo>
                    <a:pt x="50800" y="1382029"/>
                  </a:lnTo>
                  <a:lnTo>
                    <a:pt x="3938852" y="1382029"/>
                  </a:lnTo>
                  <a:lnTo>
                    <a:pt x="3958576" y="1378021"/>
                  </a:lnTo>
                  <a:lnTo>
                    <a:pt x="3974729" y="1367106"/>
                  </a:lnTo>
                  <a:lnTo>
                    <a:pt x="3985644" y="1350953"/>
                  </a:lnTo>
                  <a:lnTo>
                    <a:pt x="3989652" y="133122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0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09193" y="2494711"/>
            <a:ext cx="3989704" cy="770890"/>
            <a:chOff x="309193" y="2494711"/>
            <a:chExt cx="3989704" cy="770890"/>
          </a:xfrm>
        </p:grpSpPr>
        <p:sp>
          <p:nvSpPr>
            <p:cNvPr id="11" name="object 11"/>
            <p:cNvSpPr/>
            <p:nvPr/>
          </p:nvSpPr>
          <p:spPr>
            <a:xfrm>
              <a:off x="309193" y="2494711"/>
              <a:ext cx="3989704" cy="198755"/>
            </a:xfrm>
            <a:custGeom>
              <a:avLst/>
              <a:gdLst/>
              <a:ahLst/>
              <a:cxnLst/>
              <a:rect l="l" t="t" r="r" b="b"/>
              <a:pathLst>
                <a:path w="3989704" h="198755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3989652" y="19836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6918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2680423"/>
              <a:ext cx="3989651" cy="506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9193" y="2724701"/>
              <a:ext cx="3989704" cy="541020"/>
            </a:xfrm>
            <a:custGeom>
              <a:avLst/>
              <a:gdLst/>
              <a:ahLst/>
              <a:cxnLst/>
              <a:rect l="l" t="t" r="r" b="b"/>
              <a:pathLst>
                <a:path w="3989704" h="541020">
                  <a:moveTo>
                    <a:pt x="3989652" y="0"/>
                  </a:moveTo>
                  <a:lnTo>
                    <a:pt x="0" y="0"/>
                  </a:lnTo>
                  <a:lnTo>
                    <a:pt x="0" y="490087"/>
                  </a:lnTo>
                  <a:lnTo>
                    <a:pt x="4008" y="509812"/>
                  </a:lnTo>
                  <a:lnTo>
                    <a:pt x="14922" y="525964"/>
                  </a:lnTo>
                  <a:lnTo>
                    <a:pt x="31075" y="536879"/>
                  </a:lnTo>
                  <a:lnTo>
                    <a:pt x="50800" y="540887"/>
                  </a:lnTo>
                  <a:lnTo>
                    <a:pt x="3938852" y="540887"/>
                  </a:lnTo>
                  <a:lnTo>
                    <a:pt x="3958576" y="536879"/>
                  </a:lnTo>
                  <a:lnTo>
                    <a:pt x="3974729" y="525964"/>
                  </a:lnTo>
                  <a:lnTo>
                    <a:pt x="3985644" y="509812"/>
                  </a:lnTo>
                  <a:lnTo>
                    <a:pt x="3989652" y="490087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0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7218" y="364347"/>
            <a:ext cx="4030979" cy="28670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Comparison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Java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 dirty="0">
              <a:latin typeface="Trebuchet MS"/>
              <a:cs typeface="Trebuchet MS"/>
            </a:endParaRPr>
          </a:p>
          <a:p>
            <a:pPr marL="162560">
              <a:lnSpc>
                <a:spcPct val="100000"/>
              </a:lnSpc>
            </a:pPr>
            <a:r>
              <a:rPr sz="1200" spc="-55" dirty="0">
                <a:solidFill>
                  <a:srgbClr val="FFFFFF"/>
                </a:solidFill>
                <a:latin typeface="Trebuchet MS"/>
                <a:cs typeface="Trebuchet MS"/>
              </a:rPr>
              <a:t>Java</a:t>
            </a:r>
            <a:endParaRPr sz="1200" dirty="0">
              <a:latin typeface="Trebuchet MS"/>
              <a:cs typeface="Trebuchet MS"/>
            </a:endParaRPr>
          </a:p>
          <a:p>
            <a:pPr marL="162560">
              <a:lnSpc>
                <a:spcPct val="100000"/>
              </a:lnSpc>
              <a:spcBef>
                <a:spcPts val="215"/>
              </a:spcBef>
            </a:pPr>
            <a:r>
              <a:rPr sz="1100" spc="20" dirty="0">
                <a:solidFill>
                  <a:srgbClr val="007F00"/>
                </a:solidFill>
                <a:latin typeface="SimSun"/>
                <a:cs typeface="SimSun"/>
              </a:rPr>
              <a:t>public</a:t>
            </a:r>
            <a:r>
              <a:rPr sz="1100" dirty="0">
                <a:solidFill>
                  <a:srgbClr val="007F00"/>
                </a:solidFill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007F00"/>
                </a:solidFill>
                <a:latin typeface="SimSun"/>
                <a:cs typeface="SimSun"/>
              </a:rPr>
              <a:t>class</a:t>
            </a:r>
            <a:r>
              <a:rPr sz="1100" spc="5" dirty="0">
                <a:solidFill>
                  <a:srgbClr val="007F00"/>
                </a:solidFill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0000FF"/>
                </a:solidFill>
                <a:latin typeface="SimSun"/>
                <a:cs typeface="SimSun"/>
              </a:rPr>
              <a:t>Test</a:t>
            </a:r>
            <a:r>
              <a:rPr sz="1100" spc="5" dirty="0">
                <a:solidFill>
                  <a:srgbClr val="0000FF"/>
                </a:solidFill>
                <a:latin typeface="SimSun"/>
                <a:cs typeface="SimSun"/>
              </a:rPr>
              <a:t> </a:t>
            </a:r>
            <a:r>
              <a:rPr sz="1100" spc="20" dirty="0">
                <a:latin typeface="SimSun"/>
                <a:cs typeface="SimSun"/>
              </a:rPr>
              <a:t>{</a:t>
            </a:r>
            <a:endParaRPr sz="1100" dirty="0">
              <a:latin typeface="SimSun"/>
              <a:cs typeface="SimSun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solidFill>
                  <a:srgbClr val="007F00"/>
                </a:solidFill>
                <a:latin typeface="SimSun"/>
                <a:cs typeface="SimSun"/>
              </a:rPr>
              <a:t>public</a:t>
            </a:r>
            <a:r>
              <a:rPr sz="1100" spc="15" dirty="0">
                <a:solidFill>
                  <a:srgbClr val="007F00"/>
                </a:solidFill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007F00"/>
                </a:solidFill>
                <a:latin typeface="SimSun"/>
                <a:cs typeface="SimSun"/>
              </a:rPr>
              <a:t>static </a:t>
            </a:r>
            <a:r>
              <a:rPr sz="1100" spc="20" dirty="0">
                <a:solidFill>
                  <a:srgbClr val="AF003F"/>
                </a:solidFill>
                <a:latin typeface="SimSun"/>
                <a:cs typeface="SimSun"/>
              </a:rPr>
              <a:t>void </a:t>
            </a:r>
            <a:r>
              <a:rPr sz="1100" spc="20" dirty="0">
                <a:solidFill>
                  <a:srgbClr val="0000FF"/>
                </a:solidFill>
                <a:latin typeface="SimSun"/>
                <a:cs typeface="SimSun"/>
              </a:rPr>
              <a:t>main</a:t>
            </a:r>
            <a:r>
              <a:rPr sz="1100" spc="20" dirty="0">
                <a:latin typeface="SimSun"/>
                <a:cs typeface="SimSun"/>
              </a:rPr>
              <a:t>(String args</a:t>
            </a:r>
            <a:r>
              <a:rPr sz="1100" spc="20" dirty="0">
                <a:solidFill>
                  <a:srgbClr val="666666"/>
                </a:solidFill>
                <a:latin typeface="SimSun"/>
                <a:cs typeface="SimSun"/>
              </a:rPr>
              <a:t>[]</a:t>
            </a:r>
            <a:r>
              <a:rPr sz="1100" spc="20" dirty="0">
                <a:latin typeface="SimSun"/>
                <a:cs typeface="SimSun"/>
              </a:rPr>
              <a:t>) {</a:t>
            </a:r>
            <a:endParaRPr sz="1100" dirty="0">
              <a:latin typeface="SimSun"/>
              <a:cs typeface="SimSun"/>
            </a:endParaRPr>
          </a:p>
          <a:p>
            <a:pPr marL="453390" marR="5080">
              <a:lnSpc>
                <a:spcPct val="102699"/>
              </a:lnSpc>
            </a:pPr>
            <a:r>
              <a:rPr sz="1100" spc="20" dirty="0">
                <a:latin typeface="SimSun"/>
                <a:cs typeface="SimSun"/>
              </a:rPr>
              <a:t>String planets</a:t>
            </a:r>
            <a:r>
              <a:rPr sz="1100" spc="20" dirty="0">
                <a:solidFill>
                  <a:srgbClr val="666666"/>
                </a:solidFill>
                <a:latin typeface="SimSun"/>
                <a:cs typeface="SimSun"/>
              </a:rPr>
              <a:t>[]</a:t>
            </a:r>
            <a:r>
              <a:rPr sz="1100" spc="25" dirty="0">
                <a:solidFill>
                  <a:srgbClr val="666666"/>
                </a:solidFill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SimSun"/>
                <a:cs typeface="SimSun"/>
              </a:rPr>
              <a:t>=</a:t>
            </a:r>
            <a:r>
              <a:rPr sz="1100" spc="25" dirty="0">
                <a:solidFill>
                  <a:srgbClr val="666666"/>
                </a:solidFill>
                <a:latin typeface="SimSun"/>
                <a:cs typeface="SimSun"/>
              </a:rPr>
              <a:t> </a:t>
            </a:r>
            <a:r>
              <a:rPr sz="1100" spc="20" dirty="0">
                <a:latin typeface="SimSun"/>
                <a:cs typeface="SimSun"/>
              </a:rPr>
              <a:t>{</a:t>
            </a:r>
            <a:r>
              <a:rPr lang="en-US" sz="1100" spc="20" dirty="0">
                <a:solidFill>
                  <a:srgbClr val="BA2121"/>
                </a:solidFill>
                <a:latin typeface="SimSun"/>
                <a:cs typeface="SimSun"/>
              </a:rPr>
              <a:t>"</a:t>
            </a:r>
            <a:r>
              <a:rPr sz="1100" spc="20" dirty="0">
                <a:solidFill>
                  <a:srgbClr val="BA2121"/>
                </a:solidFill>
                <a:latin typeface="SimSun"/>
                <a:cs typeface="SimSun"/>
              </a:rPr>
              <a:t>Mercury"</a:t>
            </a:r>
            <a:r>
              <a:rPr sz="1100" spc="20" dirty="0">
                <a:latin typeface="SimSun"/>
                <a:cs typeface="SimSun"/>
              </a:rPr>
              <a:t>,</a:t>
            </a:r>
            <a:r>
              <a:rPr sz="1100" spc="25" dirty="0"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BA2121"/>
                </a:solidFill>
                <a:latin typeface="SimSun"/>
                <a:cs typeface="SimSun"/>
              </a:rPr>
              <a:t>"Venus"</a:t>
            </a:r>
            <a:r>
              <a:rPr sz="1100" spc="20" dirty="0">
                <a:latin typeface="SimSun"/>
                <a:cs typeface="SimSun"/>
              </a:rPr>
              <a:t>, </a:t>
            </a:r>
            <a:r>
              <a:rPr sz="1100" spc="20" dirty="0">
                <a:solidFill>
                  <a:srgbClr val="BA2121"/>
                </a:solidFill>
                <a:latin typeface="SimSun"/>
                <a:cs typeface="SimSun"/>
              </a:rPr>
              <a:t>"Earth"</a:t>
            </a:r>
            <a:r>
              <a:rPr sz="1100" spc="20" dirty="0">
                <a:latin typeface="SimSun"/>
                <a:cs typeface="SimSun"/>
              </a:rPr>
              <a:t>}; </a:t>
            </a:r>
            <a:r>
              <a:rPr sz="1100" spc="-535" dirty="0"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007F00"/>
                </a:solidFill>
                <a:latin typeface="SimSun"/>
                <a:cs typeface="SimSun"/>
              </a:rPr>
              <a:t>for</a:t>
            </a:r>
            <a:r>
              <a:rPr sz="1100" spc="15" dirty="0">
                <a:solidFill>
                  <a:srgbClr val="007F00"/>
                </a:solidFill>
                <a:latin typeface="SimSun"/>
                <a:cs typeface="SimSun"/>
              </a:rPr>
              <a:t> </a:t>
            </a:r>
            <a:r>
              <a:rPr sz="1100" spc="20" dirty="0">
                <a:latin typeface="SimSun"/>
                <a:cs typeface="SimSun"/>
              </a:rPr>
              <a:t>(String planet : planets)</a:t>
            </a:r>
            <a:r>
              <a:rPr sz="1100" spc="15" dirty="0">
                <a:latin typeface="SimSun"/>
                <a:cs typeface="SimSun"/>
              </a:rPr>
              <a:t> </a:t>
            </a:r>
            <a:r>
              <a:rPr sz="1100" spc="20" dirty="0">
                <a:latin typeface="SimSun"/>
                <a:cs typeface="SimSun"/>
              </a:rPr>
              <a:t>{</a:t>
            </a:r>
            <a:endParaRPr sz="1100" dirty="0">
              <a:latin typeface="SimSun"/>
              <a:cs typeface="SimSun"/>
            </a:endParaRPr>
          </a:p>
          <a:p>
            <a:pPr marL="598805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SimSun"/>
                <a:cs typeface="SimSun"/>
              </a:rPr>
              <a:t>System.</a:t>
            </a:r>
            <a:r>
              <a:rPr sz="1100" spc="20" dirty="0">
                <a:solidFill>
                  <a:srgbClr val="7C8E28"/>
                </a:solidFill>
                <a:latin typeface="SimSun"/>
                <a:cs typeface="SimSun"/>
              </a:rPr>
              <a:t>out</a:t>
            </a:r>
            <a:r>
              <a:rPr sz="1100" spc="20" dirty="0">
                <a:latin typeface="SimSun"/>
                <a:cs typeface="SimSun"/>
              </a:rPr>
              <a:t>.</a:t>
            </a:r>
            <a:r>
              <a:rPr sz="1100" spc="20" dirty="0">
                <a:solidFill>
                  <a:srgbClr val="7C8E28"/>
                </a:solidFill>
                <a:latin typeface="SimSun"/>
                <a:cs typeface="SimSun"/>
              </a:rPr>
              <a:t>println</a:t>
            </a:r>
            <a:r>
              <a:rPr sz="1100" spc="20" dirty="0">
                <a:latin typeface="SimSun"/>
                <a:cs typeface="SimSun"/>
              </a:rPr>
              <a:t>(planet);</a:t>
            </a:r>
            <a:endParaRPr sz="1100" dirty="0">
              <a:latin typeface="SimSun"/>
              <a:cs typeface="SimSun"/>
            </a:endParaRPr>
          </a:p>
          <a:p>
            <a:pPr marL="453390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SimSun"/>
                <a:cs typeface="SimSun"/>
              </a:rPr>
              <a:t>}</a:t>
            </a:r>
            <a:endParaRPr sz="1100" dirty="0">
              <a:latin typeface="SimSun"/>
              <a:cs typeface="SimSun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SimSun"/>
                <a:cs typeface="SimSun"/>
              </a:rPr>
              <a:t>}</a:t>
            </a:r>
            <a:endParaRPr sz="1100" dirty="0">
              <a:latin typeface="SimSun"/>
              <a:cs typeface="SimSun"/>
            </a:endParaRPr>
          </a:p>
          <a:p>
            <a:pPr marL="162560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SimSun"/>
                <a:cs typeface="SimSun"/>
              </a:rPr>
              <a:t>}</a:t>
            </a:r>
            <a:endParaRPr sz="110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 dirty="0">
              <a:latin typeface="SimSun"/>
              <a:cs typeface="SimSun"/>
            </a:endParaRPr>
          </a:p>
          <a:p>
            <a:pPr marL="162560">
              <a:lnSpc>
                <a:spcPct val="100000"/>
              </a:lnSpc>
            </a:pPr>
            <a:r>
              <a:rPr sz="1200" spc="-35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1200" dirty="0">
              <a:latin typeface="Trebuchet MS"/>
              <a:cs typeface="Trebuchet MS"/>
            </a:endParaRPr>
          </a:p>
          <a:p>
            <a:pPr marL="162560" marR="1022985">
              <a:lnSpc>
                <a:spcPct val="102699"/>
              </a:lnSpc>
              <a:spcBef>
                <a:spcPts val="265"/>
              </a:spcBef>
            </a:pPr>
            <a:r>
              <a:rPr sz="1100" spc="20" dirty="0">
                <a:latin typeface="SimSun"/>
                <a:cs typeface="SimSun"/>
              </a:rPr>
              <a:t>planets </a:t>
            </a:r>
            <a:r>
              <a:rPr sz="1100" spc="20" dirty="0">
                <a:solidFill>
                  <a:srgbClr val="666666"/>
                </a:solidFill>
                <a:latin typeface="SimSun"/>
                <a:cs typeface="SimSun"/>
              </a:rPr>
              <a:t>= </a:t>
            </a:r>
            <a:r>
              <a:rPr sz="1100" spc="20" dirty="0">
                <a:latin typeface="SimSun"/>
                <a:cs typeface="SimSun"/>
              </a:rPr>
              <a:t>[</a:t>
            </a:r>
            <a:r>
              <a:rPr sz="1100" spc="20" dirty="0">
                <a:solidFill>
                  <a:srgbClr val="BA2121"/>
                </a:solidFill>
                <a:latin typeface="SimSun"/>
                <a:cs typeface="SimSun"/>
              </a:rPr>
              <a:t>"Mercury"</a:t>
            </a:r>
            <a:r>
              <a:rPr sz="1100" spc="20" dirty="0">
                <a:latin typeface="SimSun"/>
                <a:cs typeface="SimSun"/>
              </a:rPr>
              <a:t>, </a:t>
            </a:r>
            <a:r>
              <a:rPr sz="1100" spc="20" dirty="0">
                <a:solidFill>
                  <a:srgbClr val="BA2121"/>
                </a:solidFill>
                <a:latin typeface="SimSun"/>
                <a:cs typeface="SimSun"/>
              </a:rPr>
              <a:t>"Venus"</a:t>
            </a:r>
            <a:r>
              <a:rPr sz="1100" spc="20" dirty="0">
                <a:latin typeface="SimSun"/>
                <a:cs typeface="SimSun"/>
              </a:rPr>
              <a:t>, </a:t>
            </a:r>
            <a:r>
              <a:rPr sz="1100" spc="20" dirty="0">
                <a:solidFill>
                  <a:srgbClr val="BA2121"/>
                </a:solidFill>
                <a:latin typeface="SimSun"/>
                <a:cs typeface="SimSun"/>
              </a:rPr>
              <a:t>"Earth"</a:t>
            </a:r>
            <a:r>
              <a:rPr sz="1100" spc="20" dirty="0">
                <a:latin typeface="SimSun"/>
                <a:cs typeface="SimSun"/>
              </a:rPr>
              <a:t>] </a:t>
            </a:r>
            <a:r>
              <a:rPr sz="1100" spc="-535" dirty="0"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007F00"/>
                </a:solidFill>
                <a:latin typeface="SimSun"/>
                <a:cs typeface="SimSun"/>
              </a:rPr>
              <a:t>for</a:t>
            </a:r>
            <a:r>
              <a:rPr sz="1100" spc="15" dirty="0">
                <a:solidFill>
                  <a:srgbClr val="007F00"/>
                </a:solidFill>
                <a:latin typeface="SimSun"/>
                <a:cs typeface="SimSun"/>
              </a:rPr>
              <a:t> </a:t>
            </a:r>
            <a:r>
              <a:rPr sz="1100" spc="20" dirty="0">
                <a:latin typeface="SimSun"/>
                <a:cs typeface="SimSun"/>
              </a:rPr>
              <a:t>planet </a:t>
            </a:r>
            <a:r>
              <a:rPr sz="1100" spc="20" dirty="0">
                <a:solidFill>
                  <a:srgbClr val="AA21FF"/>
                </a:solidFill>
                <a:latin typeface="SimSun"/>
                <a:cs typeface="SimSun"/>
              </a:rPr>
              <a:t>in</a:t>
            </a:r>
            <a:r>
              <a:rPr sz="1100" spc="15" dirty="0">
                <a:solidFill>
                  <a:srgbClr val="AA21FF"/>
                </a:solidFill>
                <a:latin typeface="SimSun"/>
                <a:cs typeface="SimSun"/>
              </a:rPr>
              <a:t> </a:t>
            </a:r>
            <a:r>
              <a:rPr sz="1100" spc="20" dirty="0">
                <a:latin typeface="SimSun"/>
                <a:cs typeface="SimSun"/>
              </a:rPr>
              <a:t>planets:</a:t>
            </a:r>
            <a:endParaRPr sz="1100" dirty="0">
              <a:latin typeface="SimSun"/>
              <a:cs typeface="SimSun"/>
            </a:endParaRPr>
          </a:p>
          <a:p>
            <a:pPr marL="453390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solidFill>
                  <a:srgbClr val="007F00"/>
                </a:solidFill>
                <a:latin typeface="SimSun"/>
                <a:cs typeface="SimSun"/>
              </a:rPr>
              <a:t>print</a:t>
            </a:r>
            <a:r>
              <a:rPr sz="1100" spc="20" dirty="0">
                <a:latin typeface="SimSun"/>
                <a:cs typeface="SimSun"/>
              </a:rPr>
              <a:t>(planet)</a:t>
            </a:r>
            <a:endParaRPr sz="1100" dirty="0">
              <a:latin typeface="SimSun"/>
              <a:cs typeface="SimSu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/>
            <p:cNvSpPr/>
            <p:nvPr/>
          </p:nvSpPr>
          <p:spPr>
            <a:xfrm>
              <a:off x="0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152004" y="109639"/>
                  </a:lnTo>
                  <a:lnTo>
                    <a:pt x="2304008" y="109639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03995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920024" y="109639"/>
                  </a:lnTo>
                  <a:lnTo>
                    <a:pt x="2303996" y="109639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6F6C0A98-D494-7F19-BAC7-71835F3C49B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22" name="Footer Placeholder 10">
            <a:extLst>
              <a:ext uri="{FF2B5EF4-FFF2-40B4-BE49-F238E27FC236}">
                <a16:creationId xmlns:a16="http://schemas.microsoft.com/office/drawing/2014/main" id="{F1E3F440-6021-7986-452C-4202859B503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8" name="Slide Number Placeholder 14">
            <a:extLst>
              <a:ext uri="{FF2B5EF4-FFF2-40B4-BE49-F238E27FC236}">
                <a16:creationId xmlns:a16="http://schemas.microsoft.com/office/drawing/2014/main" id="{544AE83A-C3B2-4426-7432-FD57D9FA1F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1784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17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849" y="1905809"/>
            <a:ext cx="107969" cy="1079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849" y="1382782"/>
            <a:ext cx="107969" cy="10796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24326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Interacting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lab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>material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294" y="1323901"/>
            <a:ext cx="3786504" cy="1490088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289560" indent="-141605"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SzPct val="72727"/>
              <a:buAutoNum type="arabicPlain"/>
              <a:tabLst>
                <a:tab pos="290195" algn="l"/>
              </a:tabLst>
            </a:pPr>
            <a:r>
              <a:rPr sz="1100" spc="-100" dirty="0">
                <a:latin typeface="Microsoft Sans Serif"/>
                <a:cs typeface="Microsoft Sans Serif"/>
              </a:rPr>
              <a:t>Go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10" dirty="0">
                <a:latin typeface="Microsoft Sans Serif"/>
                <a:cs typeface="Microsoft Sans Serif"/>
              </a:rPr>
              <a:t>to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the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Data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Mining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lang="en-US" sz="1100" spc="-15" dirty="0">
                <a:latin typeface="Microsoft Sans Serif"/>
                <a:cs typeface="Microsoft Sans Serif"/>
              </a:rPr>
              <a:t>Summer 2026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repository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on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GitHub:</a:t>
            </a:r>
            <a:endParaRPr sz="1100" dirty="0">
              <a:latin typeface="Microsoft Sans Serif"/>
              <a:cs typeface="Microsoft Sans Serif"/>
            </a:endParaRPr>
          </a:p>
          <a:p>
            <a:pPr marL="289560">
              <a:spcBef>
                <a:spcPts val="35"/>
              </a:spcBef>
            </a:pPr>
            <a:r>
              <a:rPr lang="en-US" sz="1100" dirty="0">
                <a:latin typeface="SimSun"/>
                <a:cs typeface="SimSun"/>
                <a:hlinkClick r:id="rId6"/>
              </a:rPr>
              <a:t>https://github.com/GUC-DM/Summer2026</a:t>
            </a:r>
            <a:endParaRPr lang="en-US" sz="1100" dirty="0">
              <a:latin typeface="SimSun"/>
              <a:ea typeface="SimSun"/>
              <a:cs typeface="SimSun"/>
              <a:hlinkClick r:id="rId6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endParaRPr lang="en-US" sz="1100" dirty="0">
              <a:latin typeface="SimSun"/>
              <a:ea typeface="SimSun"/>
              <a:cs typeface="SimSun"/>
            </a:endParaRPr>
          </a:p>
          <a:p>
            <a:pPr marL="289560" indent="-141605">
              <a:lnSpc>
                <a:spcPct val="100000"/>
              </a:lnSpc>
              <a:spcBef>
                <a:spcPts val="175"/>
              </a:spcBef>
              <a:buClr>
                <a:srgbClr val="FFFFFF"/>
              </a:buClr>
              <a:buSzPct val="72727"/>
              <a:buAutoNum type="arabicPlain" startAt="2"/>
              <a:tabLst>
                <a:tab pos="290195" algn="l"/>
              </a:tabLst>
            </a:pPr>
            <a:r>
              <a:rPr sz="1100" spc="-30" dirty="0">
                <a:latin typeface="Microsoft Sans Serif"/>
                <a:cs typeface="Microsoft Sans Serif"/>
              </a:rPr>
              <a:t>Interactively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running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the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lab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material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can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be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done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either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by:</a:t>
            </a:r>
            <a:endParaRPr sz="1100" dirty="0">
              <a:latin typeface="Microsoft Sans Serif"/>
              <a:cs typeface="Microsoft Sans Serif"/>
            </a:endParaRPr>
          </a:p>
          <a:p>
            <a:pPr marL="192405">
              <a:lnSpc>
                <a:spcPts val="1200"/>
              </a:lnSpc>
              <a:spcBef>
                <a:spcPts val="175"/>
              </a:spcBef>
            </a:pPr>
            <a:r>
              <a:rPr sz="1000" spc="-50" dirty="0">
                <a:solidFill>
                  <a:srgbClr val="8C2054"/>
                </a:solidFill>
                <a:latin typeface="Microsoft Sans Serif"/>
                <a:cs typeface="Microsoft Sans Serif"/>
              </a:rPr>
              <a:t>Cloud</a:t>
            </a:r>
            <a:r>
              <a:rPr sz="1000" spc="60" dirty="0">
                <a:solidFill>
                  <a:srgbClr val="8C2054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latin typeface="Microsoft Sans Serif"/>
                <a:cs typeface="Microsoft Sans Serif"/>
              </a:rPr>
              <a:t>Opening</a:t>
            </a:r>
            <a:r>
              <a:rPr sz="1000" spc="60" dirty="0">
                <a:latin typeface="Microsoft Sans Serif"/>
                <a:cs typeface="Microsoft Sans Serif"/>
              </a:rPr>
              <a:t> </a:t>
            </a:r>
            <a:r>
              <a:rPr sz="1000" spc="-30" dirty="0">
                <a:latin typeface="Microsoft Sans Serif"/>
                <a:cs typeface="Microsoft Sans Serif"/>
              </a:rPr>
              <a:t>them</a:t>
            </a:r>
            <a:r>
              <a:rPr sz="1000" spc="60" dirty="0">
                <a:latin typeface="Microsoft Sans Serif"/>
                <a:cs typeface="Microsoft Sans Serif"/>
              </a:rPr>
              <a:t> </a:t>
            </a:r>
            <a:r>
              <a:rPr sz="1000" spc="-20" dirty="0">
                <a:latin typeface="Microsoft Sans Serif"/>
                <a:cs typeface="Microsoft Sans Serif"/>
              </a:rPr>
              <a:t>in</a:t>
            </a:r>
            <a:r>
              <a:rPr sz="1000" spc="60" dirty="0">
                <a:latin typeface="Microsoft Sans Serif"/>
                <a:cs typeface="Microsoft Sans Serif"/>
              </a:rPr>
              <a:t> </a:t>
            </a:r>
            <a:r>
              <a:rPr sz="1000" spc="-65" dirty="0">
                <a:latin typeface="Microsoft Sans Serif"/>
                <a:cs typeface="Microsoft Sans Serif"/>
              </a:rPr>
              <a:t>Google</a:t>
            </a:r>
            <a:r>
              <a:rPr sz="1000" spc="65" dirty="0">
                <a:latin typeface="Microsoft Sans Serif"/>
                <a:cs typeface="Microsoft Sans Serif"/>
              </a:rPr>
              <a:t> </a:t>
            </a:r>
            <a:r>
              <a:rPr sz="1000" spc="-50" dirty="0">
                <a:latin typeface="Microsoft Sans Serif"/>
                <a:cs typeface="Microsoft Sans Serif"/>
              </a:rPr>
              <a:t>Colab;</a:t>
            </a:r>
            <a:r>
              <a:rPr sz="1000" spc="60" dirty="0">
                <a:latin typeface="Microsoft Sans Serif"/>
                <a:cs typeface="Microsoft Sans Serif"/>
              </a:rPr>
              <a:t> </a:t>
            </a:r>
            <a:r>
              <a:rPr sz="1000" spc="-45" dirty="0">
                <a:latin typeface="Microsoft Sans Serif"/>
                <a:cs typeface="Microsoft Sans Serif"/>
              </a:rPr>
              <a:t>or</a:t>
            </a:r>
            <a:endParaRPr sz="1000" dirty="0">
              <a:latin typeface="Microsoft Sans Serif"/>
              <a:cs typeface="Microsoft Sans Serif"/>
            </a:endParaRPr>
          </a:p>
          <a:p>
            <a:pPr marL="213995">
              <a:lnSpc>
                <a:spcPts val="1200"/>
              </a:lnSpc>
            </a:pPr>
            <a:r>
              <a:rPr sz="1000" spc="-40" dirty="0">
                <a:solidFill>
                  <a:srgbClr val="8C2054"/>
                </a:solidFill>
                <a:latin typeface="Microsoft Sans Serif"/>
                <a:cs typeface="Microsoft Sans Serif"/>
              </a:rPr>
              <a:t>Local</a:t>
            </a:r>
            <a:r>
              <a:rPr sz="1000" spc="290" dirty="0">
                <a:solidFill>
                  <a:srgbClr val="8C2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latin typeface="Microsoft Sans Serif"/>
                <a:cs typeface="Microsoft Sans Serif"/>
              </a:rPr>
              <a:t>Install</a:t>
            </a:r>
            <a:r>
              <a:rPr lang="en-US" sz="1000" spc="-25" dirty="0">
                <a:latin typeface="Microsoft Sans Serif"/>
                <a:cs typeface="Microsoft Sans Serif"/>
              </a:rPr>
              <a:t>ing</a:t>
            </a:r>
            <a:r>
              <a:rPr sz="1000" spc="75" dirty="0">
                <a:latin typeface="Microsoft Sans Serif"/>
                <a:cs typeface="Microsoft Sans Serif"/>
              </a:rPr>
              <a:t> </a:t>
            </a:r>
            <a:r>
              <a:rPr sz="1000" spc="-55" dirty="0">
                <a:latin typeface="Microsoft Sans Serif"/>
                <a:cs typeface="Microsoft Sans Serif"/>
              </a:rPr>
              <a:t>Anaconda</a:t>
            </a:r>
            <a:r>
              <a:rPr sz="1000" spc="75" dirty="0">
                <a:latin typeface="Microsoft Sans Serif"/>
                <a:cs typeface="Microsoft Sans Serif"/>
              </a:rPr>
              <a:t> </a:t>
            </a:r>
            <a:r>
              <a:rPr sz="1000" spc="-55" dirty="0">
                <a:latin typeface="Microsoft Sans Serif"/>
                <a:cs typeface="Microsoft Sans Serif"/>
              </a:rPr>
              <a:t>and</a:t>
            </a:r>
            <a:r>
              <a:rPr sz="1000" spc="80" dirty="0">
                <a:latin typeface="Microsoft Sans Serif"/>
                <a:cs typeface="Microsoft Sans Serif"/>
              </a:rPr>
              <a:t> </a:t>
            </a:r>
            <a:r>
              <a:rPr sz="1000" spc="-35" dirty="0">
                <a:latin typeface="Microsoft Sans Serif"/>
                <a:cs typeface="Microsoft Sans Serif"/>
              </a:rPr>
              <a:t>running</a:t>
            </a:r>
            <a:r>
              <a:rPr sz="1000" spc="75" dirty="0">
                <a:latin typeface="Microsoft Sans Serif"/>
                <a:cs typeface="Microsoft Sans Serif"/>
              </a:rPr>
              <a:t> </a:t>
            </a:r>
            <a:r>
              <a:rPr sz="1000" spc="-25" dirty="0">
                <a:latin typeface="Microsoft Sans Serif"/>
                <a:cs typeface="Microsoft Sans Serif"/>
              </a:rPr>
              <a:t>jupyter</a:t>
            </a:r>
            <a:r>
              <a:rPr sz="1000" spc="75" dirty="0">
                <a:latin typeface="Microsoft Sans Serif"/>
                <a:cs typeface="Microsoft Sans Serif"/>
              </a:rPr>
              <a:t> </a:t>
            </a:r>
            <a:r>
              <a:rPr sz="1000" spc="-40" dirty="0">
                <a:latin typeface="Microsoft Sans Serif"/>
                <a:cs typeface="Microsoft Sans Serif"/>
              </a:rPr>
              <a:t>lab</a:t>
            </a:r>
            <a:r>
              <a:rPr sz="1000" spc="75" dirty="0">
                <a:latin typeface="Microsoft Sans Serif"/>
                <a:cs typeface="Microsoft Sans Serif"/>
              </a:rPr>
              <a:t> </a:t>
            </a:r>
            <a:r>
              <a:rPr sz="1000" spc="-30" dirty="0">
                <a:latin typeface="Microsoft Sans Serif"/>
                <a:cs typeface="Microsoft Sans Serif"/>
              </a:rPr>
              <a:t>locally</a:t>
            </a:r>
            <a:endParaRPr sz="1000" dirty="0">
              <a:latin typeface="Microsoft Sans Serif"/>
              <a:ea typeface="Microsoft Sans Serif"/>
              <a:cs typeface="Microsoft Sans Serif"/>
            </a:endParaRPr>
          </a:p>
          <a:p>
            <a:pPr marL="12700">
              <a:lnSpc>
                <a:spcPct val="150000"/>
              </a:lnSpc>
              <a:spcBef>
                <a:spcPts val="350"/>
              </a:spcBef>
            </a:pPr>
            <a:r>
              <a:rPr sz="1100" spc="-30" dirty="0">
                <a:latin typeface="Microsoft Sans Serif"/>
                <a:cs typeface="Microsoft Sans Serif"/>
              </a:rPr>
              <a:t>Instructions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and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links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80" dirty="0">
                <a:latin typeface="Microsoft Sans Serif"/>
                <a:cs typeface="Microsoft Sans Serif"/>
              </a:rPr>
              <a:t>are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provided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in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the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repository’s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readme</a:t>
            </a:r>
            <a:r>
              <a:rPr lang="en-US" sz="1100" spc="-75" dirty="0">
                <a:latin typeface="Microsoft Sans Serif"/>
                <a:cs typeface="Microsoft Sans Serif"/>
              </a:rPr>
              <a:t>.</a:t>
            </a:r>
            <a:endParaRPr sz="1100" dirty="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151991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151991" y="109639"/>
                  </a:lnTo>
                  <a:lnTo>
                    <a:pt x="2303996" y="109639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83" y="3346361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39"/>
                  </a:lnTo>
                  <a:lnTo>
                    <a:pt x="1920024" y="109639"/>
                  </a:lnTo>
                  <a:lnTo>
                    <a:pt x="2303996" y="109639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98025F16-7193-8C23-8AC3-5979C184A71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6697C92B-1BA2-27F9-F1AA-1B6B677FE6F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3" name="Slide Number Placeholder 14">
            <a:extLst>
              <a:ext uri="{FF2B5EF4-FFF2-40B4-BE49-F238E27FC236}">
                <a16:creationId xmlns:a16="http://schemas.microsoft.com/office/drawing/2014/main" id="{508D8B9C-B4A5-08B8-0FEE-F08331B47A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6177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18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39350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Overview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Tools</a:t>
            </a:r>
            <a:r>
              <a:rPr sz="14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Libraries</a:t>
            </a:r>
            <a:r>
              <a:rPr sz="14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14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0102" y="822647"/>
            <a:ext cx="1015709" cy="2700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24939" y="941411"/>
            <a:ext cx="2461895" cy="2121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4775" indent="-92710">
              <a:lnSpc>
                <a:spcPct val="100000"/>
              </a:lnSpc>
              <a:spcBef>
                <a:spcPts val="90"/>
              </a:spcBef>
              <a:buChar char="-"/>
              <a:tabLst>
                <a:tab pos="105410" algn="l"/>
              </a:tabLst>
            </a:pPr>
            <a:r>
              <a:rPr sz="1100" spc="-30" dirty="0">
                <a:latin typeface="Microsoft Sans Serif"/>
                <a:cs typeface="Microsoft Sans Serif"/>
              </a:rPr>
              <a:t>interactive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development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environment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Microsoft Sans Serif"/>
              <a:buChar char="-"/>
            </a:pPr>
            <a:endParaRPr sz="1050" dirty="0">
              <a:latin typeface="Microsoft Sans Serif"/>
              <a:cs typeface="Microsoft Sans Serif"/>
            </a:endParaRPr>
          </a:p>
          <a:p>
            <a:pPr marL="104775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sz="1100" spc="-35" dirty="0">
                <a:latin typeface="Microsoft Sans Serif"/>
                <a:cs typeface="Microsoft Sans Serif"/>
              </a:rPr>
              <a:t>data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analysis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and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manipulation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Microsoft Sans Serif"/>
              <a:buChar char="-"/>
            </a:pPr>
            <a:endParaRPr sz="1050" dirty="0">
              <a:latin typeface="Microsoft Sans Serif"/>
              <a:cs typeface="Microsoft Sans Serif"/>
            </a:endParaRPr>
          </a:p>
          <a:p>
            <a:pPr marL="104775" indent="-92710">
              <a:lnSpc>
                <a:spcPct val="100000"/>
              </a:lnSpc>
              <a:spcBef>
                <a:spcPts val="5"/>
              </a:spcBef>
              <a:buChar char="-"/>
              <a:tabLst>
                <a:tab pos="105410" algn="l"/>
              </a:tabLst>
            </a:pPr>
            <a:r>
              <a:rPr sz="1100" spc="-50" dirty="0">
                <a:latin typeface="Microsoft Sans Serif"/>
                <a:cs typeface="Microsoft Sans Serif"/>
              </a:rPr>
              <a:t>numerical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computations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Microsoft Sans Serif"/>
              <a:buChar char="-"/>
            </a:pPr>
            <a:endParaRPr sz="1050" dirty="0">
              <a:latin typeface="Microsoft Sans Serif"/>
              <a:cs typeface="Microsoft Sans Serif"/>
            </a:endParaRPr>
          </a:p>
          <a:p>
            <a:pPr marL="104775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sz="1100" spc="-35" dirty="0">
                <a:latin typeface="Microsoft Sans Serif"/>
                <a:cs typeface="Microsoft Sans Serif"/>
              </a:rPr>
              <a:t>data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visualization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and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plotting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Microsoft Sans Serif"/>
              <a:buChar char="-"/>
            </a:pPr>
            <a:endParaRPr sz="1050" dirty="0">
              <a:latin typeface="Microsoft Sans Serif"/>
              <a:cs typeface="Microsoft Sans Serif"/>
            </a:endParaRPr>
          </a:p>
          <a:p>
            <a:pPr marL="104775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sz="1100" spc="-40" dirty="0">
                <a:latin typeface="Microsoft Sans Serif"/>
                <a:cs typeface="Microsoft Sans Serif"/>
              </a:rPr>
              <a:t>modelling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and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prediction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Microsoft Sans Serif"/>
              <a:buChar char="-"/>
            </a:pPr>
            <a:endParaRPr sz="1050" dirty="0">
              <a:latin typeface="Microsoft Sans Serif"/>
              <a:cs typeface="Microsoft Sans Serif"/>
            </a:endParaRPr>
          </a:p>
          <a:p>
            <a:pPr marL="104775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sz="1100" spc="-25" dirty="0">
                <a:latin typeface="Microsoft Sans Serif"/>
                <a:cs typeface="Microsoft Sans Serif"/>
              </a:rPr>
              <a:t>natural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language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processing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using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NLTK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Microsoft Sans Serif"/>
              <a:buChar char="-"/>
            </a:pPr>
            <a:endParaRPr sz="1050" dirty="0">
              <a:latin typeface="Microsoft Sans Serif"/>
              <a:cs typeface="Microsoft Sans Serif"/>
            </a:endParaRPr>
          </a:p>
          <a:p>
            <a:pPr marL="104775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sz="1100" spc="-90" dirty="0">
                <a:latin typeface="Microsoft Sans Serif"/>
                <a:cs typeface="Microsoft Sans Serif"/>
              </a:rPr>
              <a:t>deep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learning</a:t>
            </a:r>
            <a:endParaRPr sz="1100" dirty="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1448" y="1144325"/>
            <a:ext cx="914350" cy="26995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7701" y="1465956"/>
            <a:ext cx="768102" cy="2699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4126" y="1787529"/>
            <a:ext cx="1131691" cy="26999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4452" y="2109236"/>
            <a:ext cx="501395" cy="2699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4865" y="2430764"/>
            <a:ext cx="1310945" cy="27000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5914" y="2752424"/>
            <a:ext cx="1349862" cy="269972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/>
            <p:cNvSpPr/>
            <p:nvPr/>
          </p:nvSpPr>
          <p:spPr>
            <a:xfrm>
              <a:off x="0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152004" y="109651"/>
                  </a:lnTo>
                  <a:lnTo>
                    <a:pt x="2304008" y="109651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303995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920024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4860D309-3B25-AD1D-E68D-B2383E93F56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66302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23" name="Footer Placeholder 10">
            <a:extLst>
              <a:ext uri="{FF2B5EF4-FFF2-40B4-BE49-F238E27FC236}">
                <a16:creationId xmlns:a16="http://schemas.microsoft.com/office/drawing/2014/main" id="{0B698714-11C7-16B8-05AB-F8CA51E296E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25" name="Slide Number Placeholder 14">
            <a:extLst>
              <a:ext uri="{FF2B5EF4-FFF2-40B4-BE49-F238E27FC236}">
                <a16:creationId xmlns:a16="http://schemas.microsoft.com/office/drawing/2014/main" id="{38DC3AD0-8573-4CEA-D070-5B755686D10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6994" y="3356177"/>
            <a:ext cx="344804" cy="89768"/>
          </a:xfrm>
        </p:spPr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19</a:t>
            </a:fld>
            <a:r>
              <a:rPr lang="en-US" spc="20" dirty="0"/>
              <a:t> </a:t>
            </a:r>
            <a:r>
              <a:rPr lang="en-US" spc="150" dirty="0"/>
              <a:t>/</a:t>
            </a:r>
            <a:r>
              <a:rPr lang="en-US" spc="20" dirty="0"/>
              <a:t> </a:t>
            </a:r>
            <a:r>
              <a:rPr lang="en-US" spc="-20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450" y="0"/>
            <a:ext cx="94043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1325" marR="5080" indent="73025" algn="r">
              <a:lnSpc>
                <a:spcPts val="700"/>
              </a:lnSpc>
              <a:spcBef>
                <a:spcPts val="135"/>
              </a:spcBef>
            </a:pP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Intr</a:t>
            </a:r>
            <a:r>
              <a:rPr sz="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o</a:t>
            </a:r>
            <a:r>
              <a:rPr sz="600" dirty="0">
                <a:solidFill>
                  <a:srgbClr val="7F7F7F"/>
                </a:solidFill>
                <a:latin typeface="Microsoft Sans Serif"/>
                <a:cs typeface="Microsoft Sans Serif"/>
              </a:rPr>
              <a:t>duction  </a:t>
            </a:r>
            <a:r>
              <a:rPr sz="6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Cours</a:t>
            </a:r>
            <a:r>
              <a:rPr sz="6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Details  </a:t>
            </a:r>
            <a:r>
              <a:rPr sz="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Motivation</a:t>
            </a:r>
            <a:endParaRPr sz="600" dirty="0">
              <a:latin typeface="Microsoft Sans Serif"/>
              <a:cs typeface="Microsoft Sans Serif"/>
            </a:endParaRPr>
          </a:p>
          <a:p>
            <a:pPr marR="5080" algn="r">
              <a:lnSpc>
                <a:spcPts val="670"/>
              </a:lnSpc>
            </a:pPr>
            <a:r>
              <a:rPr sz="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Accessing</a:t>
            </a:r>
            <a:r>
              <a:rPr sz="6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6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Lab</a:t>
            </a:r>
            <a:r>
              <a:rPr sz="6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Material</a:t>
            </a:r>
            <a:endParaRPr sz="6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3995" y="0"/>
            <a:ext cx="2304008" cy="3669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9966" y="129636"/>
            <a:ext cx="1438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FFFFFF"/>
                </a:solidFill>
                <a:latin typeface="Trebuchet MS"/>
                <a:cs typeface="Trebuchet MS"/>
              </a:rPr>
              <a:t>German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Trebuchet MS"/>
                <a:cs typeface="Trebuchet MS"/>
              </a:rPr>
              <a:t>University</a:t>
            </a:r>
            <a:r>
              <a:rPr sz="9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Cairo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66911"/>
            <a:ext cx="4604410" cy="260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218" y="364347"/>
            <a:ext cx="12731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Useful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Resources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251" y="982686"/>
            <a:ext cx="3624579" cy="1892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2729" marR="179070" indent="-139065">
              <a:lnSpc>
                <a:spcPct val="102600"/>
              </a:lnSpc>
              <a:spcBef>
                <a:spcPts val="55"/>
              </a:spcBef>
              <a:buClr>
                <a:srgbClr val="8C2054"/>
              </a:buClr>
              <a:buFont typeface="Arial"/>
              <a:buChar char="•"/>
              <a:tabLst>
                <a:tab pos="253365" algn="l"/>
              </a:tabLst>
            </a:pPr>
            <a:r>
              <a:rPr sz="1100" spc="-55" dirty="0">
                <a:latin typeface="Microsoft Sans Serif"/>
                <a:cs typeface="Microsoft Sans Serif"/>
              </a:rPr>
              <a:t>Beginner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Python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Cheat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Sheets: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20" dirty="0">
                <a:latin typeface="SimSun"/>
                <a:cs typeface="SimSun"/>
                <a:hlinkClick r:id="rId5"/>
              </a:rPr>
              <a:t>https://ehmatthes. </a:t>
            </a:r>
            <a:r>
              <a:rPr sz="1100" spc="-535" dirty="0">
                <a:latin typeface="SimSun"/>
                <a:cs typeface="SimSun"/>
              </a:rPr>
              <a:t> </a:t>
            </a:r>
            <a:r>
              <a:rPr sz="1100" spc="20" dirty="0">
                <a:latin typeface="SimSun"/>
                <a:cs typeface="SimSun"/>
                <a:hlinkClick r:id="rId5"/>
              </a:rPr>
              <a:t>github.io/pcc_2e/cheat_sheets/cheat_sheets/</a:t>
            </a:r>
            <a:endParaRPr sz="1100" dirty="0">
              <a:latin typeface="SimSun"/>
              <a:cs typeface="SimSun"/>
            </a:endParaRPr>
          </a:p>
          <a:p>
            <a:pPr marL="252729" indent="-139065">
              <a:lnSpc>
                <a:spcPct val="100000"/>
              </a:lnSpc>
              <a:spcBef>
                <a:spcPts val="335"/>
              </a:spcBef>
              <a:buClr>
                <a:srgbClr val="8C2054"/>
              </a:buClr>
              <a:buFont typeface="Arial"/>
              <a:buChar char="•"/>
              <a:tabLst>
                <a:tab pos="253365" algn="l"/>
              </a:tabLst>
            </a:pPr>
            <a:r>
              <a:rPr sz="1100" spc="-75" dirty="0">
                <a:latin typeface="Microsoft Sans Serif"/>
                <a:cs typeface="Microsoft Sans Serif"/>
              </a:rPr>
              <a:t>Comprehensive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Python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Cheat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Sheet:</a:t>
            </a:r>
            <a:endParaRPr sz="1100" dirty="0">
              <a:latin typeface="Microsoft Sans Serif"/>
              <a:cs typeface="Microsoft Sans Serif"/>
            </a:endParaRPr>
          </a:p>
          <a:p>
            <a:pPr marL="252729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SimSun"/>
                <a:cs typeface="SimSun"/>
                <a:hlinkClick r:id="rId6"/>
              </a:rPr>
              <a:t>https://gto76.github.io/python-cheatsheet/</a:t>
            </a:r>
            <a:endParaRPr sz="1100" dirty="0">
              <a:latin typeface="SimSun"/>
              <a:cs typeface="SimSun"/>
            </a:endParaRPr>
          </a:p>
          <a:p>
            <a:pPr marL="252729" indent="-139065">
              <a:lnSpc>
                <a:spcPct val="100000"/>
              </a:lnSpc>
              <a:spcBef>
                <a:spcPts val="334"/>
              </a:spcBef>
              <a:buClr>
                <a:srgbClr val="8C2054"/>
              </a:buClr>
              <a:buFont typeface="Arial"/>
              <a:buChar char="•"/>
              <a:tabLst>
                <a:tab pos="253365" algn="l"/>
              </a:tabLst>
            </a:pPr>
            <a:r>
              <a:rPr sz="1100" spc="-30" dirty="0">
                <a:latin typeface="Microsoft Sans Serif"/>
                <a:cs typeface="Microsoft Sans Serif"/>
              </a:rPr>
              <a:t>Python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API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Quick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Reference:</a:t>
            </a:r>
            <a:endParaRPr sz="1100" dirty="0">
              <a:latin typeface="Microsoft Sans Serif"/>
              <a:cs typeface="Microsoft Sans Serif"/>
            </a:endParaRPr>
          </a:p>
          <a:p>
            <a:pPr marL="252729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SimSun"/>
                <a:cs typeface="SimSun"/>
                <a:hlinkClick r:id="rId7"/>
              </a:rPr>
              <a:t>https://overapi.com/python</a:t>
            </a:r>
            <a:endParaRPr sz="1100" dirty="0">
              <a:latin typeface="SimSun"/>
              <a:cs typeface="SimSun"/>
            </a:endParaRPr>
          </a:p>
          <a:p>
            <a:pPr marL="252729" indent="-139065">
              <a:lnSpc>
                <a:spcPct val="100000"/>
              </a:lnSpc>
              <a:spcBef>
                <a:spcPts val="330"/>
              </a:spcBef>
              <a:buClr>
                <a:srgbClr val="8C2054"/>
              </a:buClr>
              <a:buFont typeface="Arial"/>
              <a:buChar char="•"/>
              <a:tabLst>
                <a:tab pos="253365" algn="l"/>
              </a:tabLst>
            </a:pPr>
            <a:r>
              <a:rPr sz="1100" spc="-65" dirty="0">
                <a:latin typeface="Microsoft Sans Serif"/>
                <a:cs typeface="Microsoft Sans Serif"/>
              </a:rPr>
              <a:t>Learn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X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in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Y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Minutes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-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Python:</a:t>
            </a:r>
            <a:endParaRPr sz="1100" dirty="0">
              <a:latin typeface="Microsoft Sans Serif"/>
              <a:cs typeface="Microsoft Sans Serif"/>
            </a:endParaRPr>
          </a:p>
          <a:p>
            <a:pPr marL="252729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SimSun"/>
                <a:cs typeface="SimSun"/>
                <a:hlinkClick r:id="rId8"/>
              </a:rPr>
              <a:t>https://learnxinyminutes.com/docs/python/</a:t>
            </a:r>
            <a:endParaRPr sz="1100" dirty="0">
              <a:latin typeface="SimSun"/>
              <a:cs typeface="SimSun"/>
            </a:endParaRPr>
          </a:p>
          <a:p>
            <a:pPr marL="252729" indent="-139065">
              <a:lnSpc>
                <a:spcPct val="100000"/>
              </a:lnSpc>
              <a:spcBef>
                <a:spcPts val="335"/>
              </a:spcBef>
              <a:buClr>
                <a:srgbClr val="8C2054"/>
              </a:buClr>
              <a:buFont typeface="Arial"/>
              <a:buChar char="•"/>
              <a:tabLst>
                <a:tab pos="253365" algn="l"/>
              </a:tabLst>
            </a:pPr>
            <a:r>
              <a:rPr sz="1100" spc="-30" dirty="0">
                <a:latin typeface="Microsoft Sans Serif"/>
                <a:cs typeface="Microsoft Sans Serif"/>
              </a:rPr>
              <a:t>Python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Data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80" dirty="0">
                <a:latin typeface="Microsoft Sans Serif"/>
                <a:cs typeface="Microsoft Sans Serif"/>
              </a:rPr>
              <a:t>Science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Handbook:</a:t>
            </a:r>
            <a:r>
              <a:rPr sz="1100" spc="180" dirty="0">
                <a:latin typeface="Microsoft Sans Serif"/>
                <a:cs typeface="Microsoft Sans Serif"/>
              </a:rPr>
              <a:t> </a:t>
            </a:r>
            <a:r>
              <a:rPr sz="1100" spc="20" dirty="0">
                <a:latin typeface="SimSun"/>
                <a:cs typeface="SimSun"/>
                <a:hlinkClick r:id="rId9"/>
              </a:rPr>
              <a:t>https:</a:t>
            </a:r>
            <a:endParaRPr sz="1100" dirty="0">
              <a:latin typeface="SimSun"/>
              <a:cs typeface="SimSun"/>
            </a:endParaRPr>
          </a:p>
          <a:p>
            <a:pPr marL="252729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SimSun"/>
                <a:cs typeface="SimSun"/>
                <a:hlinkClick r:id="rId9"/>
              </a:rPr>
              <a:t>//github.com/jakevdp/PythonDataScienceHandbook</a:t>
            </a:r>
            <a:endParaRPr sz="1100" dirty="0">
              <a:latin typeface="SimSun"/>
              <a:cs typeface="SimSu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4008" y="0"/>
                  </a:moveTo>
                  <a:lnTo>
                    <a:pt x="115200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152004" y="109651"/>
                  </a:lnTo>
                  <a:lnTo>
                    <a:pt x="2304008" y="109651"/>
                  </a:lnTo>
                  <a:lnTo>
                    <a:pt x="230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6348"/>
              <a:ext cx="2304415" cy="109855"/>
            </a:xfrm>
            <a:custGeom>
              <a:avLst/>
              <a:gdLst/>
              <a:ahLst/>
              <a:cxnLst/>
              <a:rect l="l" t="t" r="r" b="b"/>
              <a:pathLst>
                <a:path w="2304415" h="109854">
                  <a:moveTo>
                    <a:pt x="2303996" y="0"/>
                  </a:moveTo>
                  <a:lnTo>
                    <a:pt x="1920024" y="0"/>
                  </a:lnTo>
                  <a:lnTo>
                    <a:pt x="0" y="0"/>
                  </a:lnTo>
                  <a:lnTo>
                    <a:pt x="0" y="109651"/>
                  </a:lnTo>
                  <a:lnTo>
                    <a:pt x="1920024" y="109651"/>
                  </a:lnTo>
                  <a:lnTo>
                    <a:pt x="2303996" y="109651"/>
                  </a:lnTo>
                  <a:lnTo>
                    <a:pt x="2303996" y="0"/>
                  </a:lnTo>
                  <a:close/>
                </a:path>
              </a:pathLst>
            </a:custGeom>
            <a:solidFill>
              <a:srgbClr val="8C2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86696" y="3351784"/>
            <a:ext cx="3549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Tutorial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98DC8FA8-4F03-6088-5F7F-7D18CCA78CD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06396" y="3351784"/>
            <a:ext cx="57005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pc="10" dirty="0"/>
              <a:t>Summer 2026</a:t>
            </a:r>
            <a:endParaRPr spc="-20" dirty="0"/>
          </a:p>
        </p:txBody>
      </p:sp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E56A5C1C-BFBD-CE5F-5FF4-FCA27039E0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6620" y="3351783"/>
            <a:ext cx="663029" cy="207391"/>
          </a:xfrm>
        </p:spPr>
        <p:txBody>
          <a:bodyPr/>
          <a:lstStyle/>
          <a:p>
            <a:pPr marL="12700">
              <a:lnSpc>
                <a:spcPts val="675"/>
              </a:lnSpc>
            </a:pPr>
            <a:r>
              <a:rPr lang="en-US" spc="-20" dirty="0"/>
              <a:t>By Hazem</a:t>
            </a:r>
            <a:r>
              <a:rPr lang="en-US" spc="-5" dirty="0"/>
              <a:t> </a:t>
            </a:r>
            <a:r>
              <a:rPr lang="en-US" dirty="0"/>
              <a:t>Nabil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20</a:t>
            </a:fld>
            <a:r>
              <a:rPr lang="en-US" spc="20"/>
              <a:t> </a:t>
            </a:r>
            <a:r>
              <a:rPr lang="en-US" spc="150"/>
              <a:t>/</a:t>
            </a:r>
            <a:r>
              <a:rPr lang="en-US" spc="20"/>
              <a:t> </a:t>
            </a:r>
            <a:r>
              <a:rPr lang="en-US" spc="-20"/>
              <a:t>19</a:t>
            </a:r>
            <a:endParaRPr lang="en-US" spc="-2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988</TotalTime>
  <Words>1205</Words>
  <Application>Microsoft Macintosh PowerPoint</Application>
  <PresentationFormat>Custom</PresentationFormat>
  <Paragraphs>329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SimSun</vt:lpstr>
      <vt:lpstr>Arial</vt:lpstr>
      <vt:lpstr>Calibri</vt:lpstr>
      <vt:lpstr>Microsoft Sans Serif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German University in Cairo</vt:lpstr>
      <vt:lpstr>PowerPoint Presentation</vt:lpstr>
      <vt:lpstr>PowerPoint Presentation</vt:lpstr>
      <vt:lpstr>German University in Cairo</vt:lpstr>
      <vt:lpstr>German University in Cairo</vt:lpstr>
      <vt:lpstr>German University in Cairo</vt:lpstr>
      <vt:lpstr>German University in Cairo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Course Instructor: Ayman Alserafi</dc:creator>
  <cp:lastModifiedBy>Microsoft Office User</cp:lastModifiedBy>
  <cp:revision>137</cp:revision>
  <dcterms:created xsi:type="dcterms:W3CDTF">2022-09-27T10:57:53Z</dcterms:created>
  <dcterms:modified xsi:type="dcterms:W3CDTF">2026-06-26T08:47:10Z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2021-10-11T00:00:00Z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2022-09-27T00:00:00Z</vt:filetime>
  </property>
</Properties>
</file>